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456" r:id="rId2"/>
    <p:sldId id="427" r:id="rId3"/>
    <p:sldId id="428" r:id="rId4"/>
    <p:sldId id="429" r:id="rId5"/>
    <p:sldId id="530" r:id="rId6"/>
    <p:sldId id="457" r:id="rId7"/>
    <p:sldId id="458" r:id="rId8"/>
    <p:sldId id="431" r:id="rId9"/>
    <p:sldId id="432" r:id="rId10"/>
    <p:sldId id="533" r:id="rId11"/>
    <p:sldId id="433" r:id="rId12"/>
    <p:sldId id="434" r:id="rId13"/>
    <p:sldId id="459" r:id="rId14"/>
    <p:sldId id="436" r:id="rId15"/>
    <p:sldId id="437" r:id="rId16"/>
    <p:sldId id="475" r:id="rId17"/>
    <p:sldId id="320" r:id="rId18"/>
    <p:sldId id="321" r:id="rId19"/>
    <p:sldId id="322" r:id="rId20"/>
    <p:sldId id="504" r:id="rId21"/>
    <p:sldId id="534" r:id="rId22"/>
    <p:sldId id="485" r:id="rId23"/>
    <p:sldId id="503" r:id="rId24"/>
    <p:sldId id="378" r:id="rId25"/>
    <p:sldId id="379" r:id="rId26"/>
    <p:sldId id="381" r:id="rId27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DDDD"/>
    <a:srgbClr val="FFCCFF"/>
    <a:srgbClr val="FF99CC"/>
    <a:srgbClr val="000099"/>
    <a:srgbClr val="CC0000"/>
    <a:srgbClr val="FF66FF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79571" autoAdjust="0"/>
  </p:normalViewPr>
  <p:slideViewPr>
    <p:cSldViewPr snapToGrid="0">
      <p:cViewPr varScale="1">
        <p:scale>
          <a:sx n="76" d="100"/>
          <a:sy n="76" d="100"/>
        </p:scale>
        <p:origin x="153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0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9AB551BB-4164-43B2-90FD-DCEA7140C1F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>
            <a:lvl1pPr algn="l" defTabSz="966027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3E1FD2B9-374C-42AF-8D3D-54539288839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>
            <a:lvl1pPr algn="r" defTabSz="966027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8548" name="Rectangle 4">
            <a:extLst>
              <a:ext uri="{FF2B5EF4-FFF2-40B4-BE49-F238E27FC236}">
                <a16:creationId xmlns:a16="http://schemas.microsoft.com/office/drawing/2014/main" id="{1481F787-015F-4676-A828-F2861726523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b" anchorCtr="0" compatLnSpc="1">
            <a:prstTxWarp prst="textNoShape">
              <a:avLst/>
            </a:prstTxWarp>
          </a:bodyPr>
          <a:lstStyle>
            <a:lvl1pPr algn="l" defTabSz="966027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8549" name="Rectangle 5">
            <a:extLst>
              <a:ext uri="{FF2B5EF4-FFF2-40B4-BE49-F238E27FC236}">
                <a16:creationId xmlns:a16="http://schemas.microsoft.com/office/drawing/2014/main" id="{178786F9-C57D-4090-9796-20666EB781F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5450FEF-39CB-4BF0-8754-95D66555528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8C2447E-AADD-4A40-851D-6080687426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>
            <a:lvl1pPr algn="l" defTabSz="966027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6C2E43A-4F88-4CAF-A615-6A9B4860A8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>
            <a:lvl1pPr algn="r" defTabSz="966027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9407439A-7438-48A8-B9FA-CAED984D260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C2C970B6-DBF9-4BD6-AE9A-D7B2C0DFBD4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BE04509-1377-4BF9-BBDB-479066C5A9B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b" anchorCtr="0" compatLnSpc="1">
            <a:prstTxWarp prst="textNoShape">
              <a:avLst/>
            </a:prstTxWarp>
          </a:bodyPr>
          <a:lstStyle>
            <a:lvl1pPr algn="l" defTabSz="966027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5DECF450-F19E-4B1E-BC3B-3FD93E8D0E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BCD7AD9-03E5-4EFA-9FB5-DCD0222A649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8455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81236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78346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67031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22709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73760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>
            <a:extLst>
              <a:ext uri="{FF2B5EF4-FFF2-40B4-BE49-F238E27FC236}">
                <a16:creationId xmlns:a16="http://schemas.microsoft.com/office/drawing/2014/main" id="{4881EE2F-1D9F-4677-B994-298FB46A14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>
            <a:extLst>
              <a:ext uri="{FF2B5EF4-FFF2-40B4-BE49-F238E27FC236}">
                <a16:creationId xmlns:a16="http://schemas.microsoft.com/office/drawing/2014/main" id="{59639B84-67AD-4397-9A5A-10FB6E2C27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28650" lvl="1" indent="-171450">
              <a:buFontTx/>
              <a:buChar char="•"/>
            </a:pPr>
            <a:endParaRPr lang="en-US" altLang="zh-HK" dirty="0"/>
          </a:p>
        </p:txBody>
      </p:sp>
      <p:sp>
        <p:nvSpPr>
          <p:cNvPr id="102404" name="Slide Number Placeholder 3">
            <a:extLst>
              <a:ext uri="{FF2B5EF4-FFF2-40B4-BE49-F238E27FC236}">
                <a16:creationId xmlns:a16="http://schemas.microsoft.com/office/drawing/2014/main" id="{C2E8438E-0003-4CD6-84BC-FC30A4E3D4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84EBA57-028D-47CA-B27E-1722D11A7AC3}" type="slidenum">
              <a:rPr lang="en-US" altLang="zh-TW" sz="1200" smtClean="0">
                <a:latin typeface="Times New Roman" panose="02020603050405020304" pitchFamily="18" charset="0"/>
              </a:rPr>
              <a:pPr/>
              <a:t>7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99696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219142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>
            <a:extLst>
              <a:ext uri="{FF2B5EF4-FFF2-40B4-BE49-F238E27FC236}">
                <a16:creationId xmlns:a16="http://schemas.microsoft.com/office/drawing/2014/main" id="{CB8488CB-CCBD-43B5-8B5A-4546D3AFB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Notes Placeholder 2">
            <a:extLst>
              <a:ext uri="{FF2B5EF4-FFF2-40B4-BE49-F238E27FC236}">
                <a16:creationId xmlns:a16="http://schemas.microsoft.com/office/drawing/2014/main" id="{3101ACE8-A416-4CC5-BCF6-31D754AF99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106500" name="Slide Number Placeholder 3">
            <a:extLst>
              <a:ext uri="{FF2B5EF4-FFF2-40B4-BE49-F238E27FC236}">
                <a16:creationId xmlns:a16="http://schemas.microsoft.com/office/drawing/2014/main" id="{B9F48EC4-86BA-46F0-9162-B7B1DCF9B0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6DAD403-8806-4FFD-A7E9-C250B6CD7D97}" type="slidenum">
              <a:rPr lang="en-US" altLang="zh-TW" sz="1200" smtClean="0">
                <a:latin typeface="Times New Roman" panose="02020603050405020304" pitchFamily="18" charset="0"/>
              </a:rPr>
              <a:pPr/>
              <a:t>10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>
            <a:extLst>
              <a:ext uri="{FF2B5EF4-FFF2-40B4-BE49-F238E27FC236}">
                <a16:creationId xmlns:a16="http://schemas.microsoft.com/office/drawing/2014/main" id="{C1D470D9-AA87-437F-A681-2829D25000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>
            <a:extLst>
              <a:ext uri="{FF2B5EF4-FFF2-40B4-BE49-F238E27FC236}">
                <a16:creationId xmlns:a16="http://schemas.microsoft.com/office/drawing/2014/main" id="{78E70F89-B471-492B-A0B8-45ED98850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108548" name="Slide Number Placeholder 3">
            <a:extLst>
              <a:ext uri="{FF2B5EF4-FFF2-40B4-BE49-F238E27FC236}">
                <a16:creationId xmlns:a16="http://schemas.microsoft.com/office/drawing/2014/main" id="{5D8F5B14-C97A-42BF-BDC4-C0AC5088C6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5B02A27-B10B-4720-B021-F6B4D3703042}" type="slidenum">
              <a:rPr lang="en-US" altLang="zh-TW" sz="1200" smtClean="0">
                <a:latin typeface="Times New Roman" panose="02020603050405020304" pitchFamily="18" charset="0"/>
              </a:rPr>
              <a:pPr/>
              <a:t>11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67679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>
            <a:extLst>
              <a:ext uri="{FF2B5EF4-FFF2-40B4-BE49-F238E27FC236}">
                <a16:creationId xmlns:a16="http://schemas.microsoft.com/office/drawing/2014/main" id="{E8509621-C373-4CED-B0C3-40BE623212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Notes Placeholder 2">
            <a:extLst>
              <a:ext uri="{FF2B5EF4-FFF2-40B4-BE49-F238E27FC236}">
                <a16:creationId xmlns:a16="http://schemas.microsoft.com/office/drawing/2014/main" id="{665CB533-E3A1-47B4-9E3A-177E2B5CB0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HK" altLang="en-US" dirty="0"/>
          </a:p>
        </p:txBody>
      </p:sp>
      <p:sp>
        <p:nvSpPr>
          <p:cNvPr id="111620" name="Slide Number Placeholder 3">
            <a:extLst>
              <a:ext uri="{FF2B5EF4-FFF2-40B4-BE49-F238E27FC236}">
                <a16:creationId xmlns:a16="http://schemas.microsoft.com/office/drawing/2014/main" id="{3A58E18E-1341-45D9-AFE9-9BB07E63BA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B6E5123-6AF5-4166-A203-EB4D0CDE496F}" type="slidenum">
              <a:rPr lang="en-US" altLang="zh-TW" sz="1200" smtClean="0">
                <a:latin typeface="Times New Roman" panose="02020603050405020304" pitchFamily="18" charset="0"/>
              </a:rPr>
              <a:pPr/>
              <a:t>13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>
            <a:extLst>
              <a:ext uri="{FF2B5EF4-FFF2-40B4-BE49-F238E27FC236}">
                <a16:creationId xmlns:a16="http://schemas.microsoft.com/office/drawing/2014/main" id="{55BAF174-4ACF-4A64-A77B-2D7B4B73EE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Notes Placeholder 2">
            <a:extLst>
              <a:ext uri="{FF2B5EF4-FFF2-40B4-BE49-F238E27FC236}">
                <a16:creationId xmlns:a16="http://schemas.microsoft.com/office/drawing/2014/main" id="{91D00CBF-1F20-43F5-B9A9-CE300887F3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113668" name="Slide Number Placeholder 3">
            <a:extLst>
              <a:ext uri="{FF2B5EF4-FFF2-40B4-BE49-F238E27FC236}">
                <a16:creationId xmlns:a16="http://schemas.microsoft.com/office/drawing/2014/main" id="{42A98BA5-3DE6-459B-BA47-75C39504DC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84F1053-EF31-4434-8688-CD22185FE659}" type="slidenum">
              <a:rPr lang="en-US" altLang="zh-TW" sz="1200" smtClean="0">
                <a:latin typeface="Times New Roman" panose="02020603050405020304" pitchFamily="18" charset="0"/>
              </a:rPr>
              <a:pPr/>
              <a:t>14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854799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05569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10594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>
            <a:extLst>
              <a:ext uri="{FF2B5EF4-FFF2-40B4-BE49-F238E27FC236}">
                <a16:creationId xmlns:a16="http://schemas.microsoft.com/office/drawing/2014/main" id="{DB91968B-6ED4-4DCC-9B4B-05AAFC36A5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Notes Placeholder 2">
            <a:extLst>
              <a:ext uri="{FF2B5EF4-FFF2-40B4-BE49-F238E27FC236}">
                <a16:creationId xmlns:a16="http://schemas.microsoft.com/office/drawing/2014/main" id="{CADEA162-28B9-4D77-BA74-6E238E4A4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120836" name="Slide Number Placeholder 3">
            <a:extLst>
              <a:ext uri="{FF2B5EF4-FFF2-40B4-BE49-F238E27FC236}">
                <a16:creationId xmlns:a16="http://schemas.microsoft.com/office/drawing/2014/main" id="{AD26DDE3-CA79-4A88-B84C-EAE5E7DF50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C89B9EF-7D77-444B-A064-363DA73679C6}" type="slidenum">
              <a:rPr lang="en-US" altLang="zh-TW" sz="1200" smtClean="0">
                <a:latin typeface="Times New Roman" panose="02020603050405020304" pitchFamily="18" charset="0"/>
              </a:rPr>
              <a:pPr/>
              <a:t>18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>
            <a:extLst>
              <a:ext uri="{FF2B5EF4-FFF2-40B4-BE49-F238E27FC236}">
                <a16:creationId xmlns:a16="http://schemas.microsoft.com/office/drawing/2014/main" id="{CC031DB5-F7A9-4969-B699-C9BE7AF359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F04BD4-802D-4B96-9215-3EC146593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zh-HK" altLang="en-US" dirty="0"/>
          </a:p>
        </p:txBody>
      </p:sp>
      <p:sp>
        <p:nvSpPr>
          <p:cNvPr id="122884" name="Slide Number Placeholder 3">
            <a:extLst>
              <a:ext uri="{FF2B5EF4-FFF2-40B4-BE49-F238E27FC236}">
                <a16:creationId xmlns:a16="http://schemas.microsoft.com/office/drawing/2014/main" id="{95C73A9E-C3D0-4D51-A697-08E3F849C1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A19021F-DD7D-4C51-BE2F-C0B0054CCD8A}" type="slidenum">
              <a:rPr lang="en-US" altLang="zh-TW" sz="1200" smtClean="0">
                <a:latin typeface="Times New Roman" panose="02020603050405020304" pitchFamily="18" charset="0"/>
              </a:rPr>
              <a:pPr/>
              <a:t>19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>
            <a:extLst>
              <a:ext uri="{FF2B5EF4-FFF2-40B4-BE49-F238E27FC236}">
                <a16:creationId xmlns:a16="http://schemas.microsoft.com/office/drawing/2014/main" id="{1830D6AD-0EBB-49CE-BCCC-E27D982417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41CE9-4042-4C07-8422-2B2368CEB0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endParaRPr lang="zh-HK" altLang="en-US" dirty="0"/>
          </a:p>
        </p:txBody>
      </p:sp>
      <p:sp>
        <p:nvSpPr>
          <p:cNvPr id="124932" name="Slide Number Placeholder 3">
            <a:extLst>
              <a:ext uri="{FF2B5EF4-FFF2-40B4-BE49-F238E27FC236}">
                <a16:creationId xmlns:a16="http://schemas.microsoft.com/office/drawing/2014/main" id="{3F9767A4-382E-4FF3-BF76-939F2C7037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7EBAEE2-5E51-4F97-9D2D-6BBBA417C550}" type="slidenum">
              <a:rPr lang="en-US" altLang="zh-TW" sz="1200" smtClean="0">
                <a:latin typeface="Times New Roman" panose="02020603050405020304" pitchFamily="18" charset="0"/>
              </a:rPr>
              <a:pPr/>
              <a:t>20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21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620615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投影片圖像版面配置區 1">
            <a:extLst>
              <a:ext uri="{FF2B5EF4-FFF2-40B4-BE49-F238E27FC236}">
                <a16:creationId xmlns:a16="http://schemas.microsoft.com/office/drawing/2014/main" id="{1656CD25-0B15-49DF-B9BC-AF40A58F3B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備忘稿版面配置區 2">
            <a:extLst>
              <a:ext uri="{FF2B5EF4-FFF2-40B4-BE49-F238E27FC236}">
                <a16:creationId xmlns:a16="http://schemas.microsoft.com/office/drawing/2014/main" id="{CC1145A1-7146-4797-BB70-3784C6AE0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128004" name="投影片編號版面配置區 3">
            <a:extLst>
              <a:ext uri="{FF2B5EF4-FFF2-40B4-BE49-F238E27FC236}">
                <a16:creationId xmlns:a16="http://schemas.microsoft.com/office/drawing/2014/main" id="{0B2079A3-086C-4A4C-BDD4-625E1F9036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ACF2FB2-B778-46A1-9B44-83CBDC246B98}" type="slidenum">
              <a:rPr lang="en-US" altLang="zh-TW" sz="1200" smtClean="0">
                <a:latin typeface="Times New Roman" panose="02020603050405020304" pitchFamily="18" charset="0"/>
              </a:rPr>
              <a:pPr/>
              <a:t>22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投影片圖像版面配置區 1">
            <a:extLst>
              <a:ext uri="{FF2B5EF4-FFF2-40B4-BE49-F238E27FC236}">
                <a16:creationId xmlns:a16="http://schemas.microsoft.com/office/drawing/2014/main" id="{754C8C5F-E9EB-4A6A-86D0-0F4479DAA8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備忘稿版面配置區 2">
            <a:extLst>
              <a:ext uri="{FF2B5EF4-FFF2-40B4-BE49-F238E27FC236}">
                <a16:creationId xmlns:a16="http://schemas.microsoft.com/office/drawing/2014/main" id="{EC50C5AC-4E9F-4737-88B1-E2A693940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130052" name="投影片編號版面配置區 3">
            <a:extLst>
              <a:ext uri="{FF2B5EF4-FFF2-40B4-BE49-F238E27FC236}">
                <a16:creationId xmlns:a16="http://schemas.microsoft.com/office/drawing/2014/main" id="{2AFA12FD-EA55-4E78-95F8-A92FECA36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6FF8747-9175-4198-ABA6-B8E069CD0EF8}" type="slidenum">
              <a:rPr lang="en-US" altLang="zh-TW" sz="1200" smtClean="0">
                <a:latin typeface="Times New Roman" panose="02020603050405020304" pitchFamily="18" charset="0"/>
              </a:rPr>
              <a:pPr/>
              <a:t>23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>
            <a:extLst>
              <a:ext uri="{FF2B5EF4-FFF2-40B4-BE49-F238E27FC236}">
                <a16:creationId xmlns:a16="http://schemas.microsoft.com/office/drawing/2014/main" id="{7FB36BB7-2712-4651-8D7B-B710BDEC8F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Notes Placeholder 2">
            <a:extLst>
              <a:ext uri="{FF2B5EF4-FFF2-40B4-BE49-F238E27FC236}">
                <a16:creationId xmlns:a16="http://schemas.microsoft.com/office/drawing/2014/main" id="{5B705D36-FA8D-4E82-8F45-88ED5683FB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132100" name="Slide Number Placeholder 3">
            <a:extLst>
              <a:ext uri="{FF2B5EF4-FFF2-40B4-BE49-F238E27FC236}">
                <a16:creationId xmlns:a16="http://schemas.microsoft.com/office/drawing/2014/main" id="{BE9D614F-48F6-4B50-9DF8-72068BFD04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CFEBD11-7D5A-41E1-8401-76D057F26A8F}" type="slidenum">
              <a:rPr lang="en-US" altLang="zh-TW" sz="1200" smtClean="0">
                <a:latin typeface="Times New Roman" panose="02020603050405020304" pitchFamily="18" charset="0"/>
              </a:rPr>
              <a:pPr/>
              <a:t>24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>
            <a:extLst>
              <a:ext uri="{FF2B5EF4-FFF2-40B4-BE49-F238E27FC236}">
                <a16:creationId xmlns:a16="http://schemas.microsoft.com/office/drawing/2014/main" id="{3D182E44-FDA4-4171-A916-A87651A2D4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Notes Placeholder 2">
            <a:extLst>
              <a:ext uri="{FF2B5EF4-FFF2-40B4-BE49-F238E27FC236}">
                <a16:creationId xmlns:a16="http://schemas.microsoft.com/office/drawing/2014/main" id="{BD22189D-51A5-452B-8B0B-7CBF359AFB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134148" name="Slide Number Placeholder 3">
            <a:extLst>
              <a:ext uri="{FF2B5EF4-FFF2-40B4-BE49-F238E27FC236}">
                <a16:creationId xmlns:a16="http://schemas.microsoft.com/office/drawing/2014/main" id="{6906A4BF-B33E-4628-A52B-D74FA940CA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78F4F9B-E28E-4C1D-8055-6D984E2702C7}" type="slidenum">
              <a:rPr lang="en-US" altLang="zh-TW" sz="1200" smtClean="0">
                <a:latin typeface="Times New Roman" panose="02020603050405020304" pitchFamily="18" charset="0"/>
              </a:rPr>
              <a:pPr/>
              <a:t>25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26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07944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740F07-0138-43DE-BE38-CBF819A26B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27FFB9C-18E7-4CA5-BE93-7F6117393A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EF08FF-3586-4CD8-B1A5-933DEB0969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5F5C2C7C-1ECB-4716-9952-2A792C73507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14078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51993F-71A7-4993-A14B-B54DA3C5D6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DE85E8-8A48-4A8A-A8F7-56E4FD76D6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91D3ED-FECD-40E5-94A0-C0848E0506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5798DB4A-FD53-4AF4-98DC-EDF3BEB8E001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10200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4822EB-529A-4AD1-AB30-9BE43B888F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09C7D7-237E-4792-A449-A2BFD9EE35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2272FD6-9A16-4F73-85B6-66E21AFA21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67A5DE27-D496-4916-B5A4-478D7148C4D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3272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E24A2-B2B4-4169-B0AB-0DDDFB5FDD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07EFCD-325C-4A06-BEA8-8FC7E32A01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7D0EC4-1CFC-4DA5-9697-D16B7B32B3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4D25E474-CBE0-4FEB-91CC-59DB198151B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52156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8C93F54-8764-4536-949E-F3671A610B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4EC87FB-FD45-49A1-B3AA-BE3B0DF0D6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8761B90-B9D4-499D-A903-086CE9109E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ABFEBDF9-B6B5-4BC3-BFA1-056B847114F3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5281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32338AF-15CD-4269-801A-7059C18116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14B90C4-846B-4322-91FD-491CDBF5F0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8004E43-BC78-4332-8617-A587EE5D9B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213ED3E9-2D54-4C79-9114-0A47A600B5B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64276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D9126BC-60F9-4A68-B0E7-58F9FA524A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8EDCDB3-BF35-4695-A1F5-8EB4707DF1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1E44963-B10D-4EBA-BDD8-56528D9FA7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CA810AB5-3F19-4736-A479-EE978D12B37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19889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FC151E-8EDF-40DC-94B0-C1C638011F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98838F-384A-468A-95AD-9688F49B17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374995-0028-4CB3-9F2D-4926F67981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DAE2EFAC-2B85-4B27-BC6C-127F1540E03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21521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C42B4F-2396-4331-A73D-00BD63297D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18E4D0-F7E5-4410-93DD-2CCAA9CFF9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1B1A0F-F8EF-4B50-860E-6015B13828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E42DBEF0-A785-4F9D-A5C1-880A164877CF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63251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60A4CB-94A9-49D0-8295-265F8ABC5A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83F53C-7B6D-4F95-8588-9E120A625D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7F4609-C75A-459A-B5AD-D32B0739C6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05C175F8-BA2E-4CFB-8C0A-0783005C5B4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1719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FF94943-BB6F-4D2A-98BF-7CCB8F97AE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E26A0C9-24E3-447C-952C-6ED7061E99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644231-7168-411B-8235-A93434BA38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DA80584E-6B12-426F-96E7-BB7BE0B9A7C0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8080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B0A99D7-24BA-4B61-AEBF-DF51145FF8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8A096E8-EDF6-42AA-9545-F0926DD579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CB6930F-F1FC-4979-B6EA-3808EBBDED8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DBE47C2-E790-4A1F-8917-DCB92BE5474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45250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88CB566-46E7-4964-830C-66CDC602D76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r>
              <a:rPr lang="en-US" altLang="zh-TW"/>
              <a:t>3-</a:t>
            </a:r>
            <a:fld id="{000A6F55-3B54-4FD7-90E6-34CC92D80401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71" r:id="rId1"/>
    <p:sldLayoutId id="2147484972" r:id="rId2"/>
    <p:sldLayoutId id="2147484973" r:id="rId3"/>
    <p:sldLayoutId id="2147484974" r:id="rId4"/>
    <p:sldLayoutId id="2147484975" r:id="rId5"/>
    <p:sldLayoutId id="2147484976" r:id="rId6"/>
    <p:sldLayoutId id="2147484977" r:id="rId7"/>
    <p:sldLayoutId id="2147484978" r:id="rId8"/>
    <p:sldLayoutId id="2147484979" r:id="rId9"/>
    <p:sldLayoutId id="2147484980" r:id="rId10"/>
    <p:sldLayoutId id="2147484981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ＭＳ Ｐゴシック" pitchFamily="34" charset="-128"/>
          <a:cs typeface="ＭＳ Ｐゴシック" charset="0"/>
        </a:defRPr>
      </a:lvl1pPr>
      <a:lvl2pPr marL="688975" indent="-231775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ＭＳ Ｐゴシック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Footer Placeholder 5">
            <a:extLst>
              <a:ext uri="{FF2B5EF4-FFF2-40B4-BE49-F238E27FC236}">
                <a16:creationId xmlns:a16="http://schemas.microsoft.com/office/drawing/2014/main" id="{4334D0C8-B671-431F-8342-987D1218F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95235" name="Slide Number Placeholder 6">
            <a:extLst>
              <a:ext uri="{FF2B5EF4-FFF2-40B4-BE49-F238E27FC236}">
                <a16:creationId xmlns:a16="http://schemas.microsoft.com/office/drawing/2014/main" id="{BDF3EC25-D6BF-4E00-966E-1ACF9B087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AC7D5FDB-DCDA-40C8-9C69-0AF76D4F9A0A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95236" name="Rectangle 2">
            <a:extLst>
              <a:ext uri="{FF2B5EF4-FFF2-40B4-BE49-F238E27FC236}">
                <a16:creationId xmlns:a16="http://schemas.microsoft.com/office/drawing/2014/main" id="{005D654F-2BDA-4953-975B-570C424363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/>
              <a:t>Performance of rdt3.0</a:t>
            </a:r>
            <a:endParaRPr lang="en-US" altLang="zh-TW"/>
          </a:p>
        </p:txBody>
      </p:sp>
      <p:sp>
        <p:nvSpPr>
          <p:cNvPr id="95237" name="Rectangle 3">
            <a:extLst>
              <a:ext uri="{FF2B5EF4-FFF2-40B4-BE49-F238E27FC236}">
                <a16:creationId xmlns:a16="http://schemas.microsoft.com/office/drawing/2014/main" id="{676582AF-98C2-417B-BD88-50803A2FDCA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8738" y="1455738"/>
            <a:ext cx="9085262" cy="990600"/>
          </a:xfrm>
        </p:spPr>
        <p:txBody>
          <a:bodyPr/>
          <a:lstStyle/>
          <a:p>
            <a:r>
              <a:rPr lang="en-US" altLang="zh-TW">
                <a:solidFill>
                  <a:srgbClr val="FF0000"/>
                </a:solidFill>
              </a:rPr>
              <a:t>rdt 3.0 is correct, but performance stinks</a:t>
            </a:r>
          </a:p>
          <a:p>
            <a:r>
              <a:rPr lang="en-US" altLang="zh-TW"/>
              <a:t>e.g.: 1 Gbps link, 15 ms prop. delay, 1KB = 8000 bit packet:</a:t>
            </a:r>
          </a:p>
          <a:p>
            <a:endParaRPr lang="en-US" altLang="zh-TW"/>
          </a:p>
        </p:txBody>
      </p:sp>
      <p:sp>
        <p:nvSpPr>
          <p:cNvPr id="95238" name="Rectangle 4">
            <a:extLst>
              <a:ext uri="{FF2B5EF4-FFF2-40B4-BE49-F238E27FC236}">
                <a16:creationId xmlns:a16="http://schemas.microsoft.com/office/drawing/2014/main" id="{33C752AB-F2C5-4771-A04F-268EB5B8A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502025"/>
            <a:ext cx="83724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6889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r>
              <a:rPr lang="en-US" altLang="zh-TW" sz="2400" dirty="0"/>
              <a:t>RTT = </a:t>
            </a:r>
            <a:r>
              <a:rPr lang="en-US" altLang="zh-TW" sz="2400" dirty="0">
                <a:latin typeface="Tahoma" panose="020B0604030504040204" pitchFamily="34" charset="0"/>
              </a:rPr>
              <a:t>15 </a:t>
            </a:r>
            <a:r>
              <a:rPr lang="en-US" altLang="zh-TW" sz="2400" dirty="0" err="1">
                <a:latin typeface="Tahoma" panose="020B0604030504040204" pitchFamily="34" charset="0"/>
              </a:rPr>
              <a:t>ms</a:t>
            </a:r>
            <a:r>
              <a:rPr lang="en-US" altLang="zh-TW" sz="2400" dirty="0">
                <a:latin typeface="Tahoma" panose="020B0604030504040204" pitchFamily="34" charset="0"/>
              </a:rPr>
              <a:t> * 2 = </a:t>
            </a:r>
            <a:r>
              <a:rPr lang="en-US" altLang="zh-TW" sz="2400" dirty="0"/>
              <a:t>30 msec</a:t>
            </a:r>
          </a:p>
        </p:txBody>
      </p:sp>
      <p:pic>
        <p:nvPicPr>
          <p:cNvPr id="95239" name="Picture 9" descr="underline_base">
            <a:extLst>
              <a:ext uri="{FF2B5EF4-FFF2-40B4-BE49-F238E27FC236}">
                <a16:creationId xmlns:a16="http://schemas.microsoft.com/office/drawing/2014/main" id="{E900F28A-488A-4FEF-A3BF-77F24AE1E29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006475"/>
            <a:ext cx="5027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5240" name="Group 24">
            <a:extLst>
              <a:ext uri="{FF2B5EF4-FFF2-40B4-BE49-F238E27FC236}">
                <a16:creationId xmlns:a16="http://schemas.microsoft.com/office/drawing/2014/main" id="{53C8276F-1835-48B3-BD65-011E5A3D4CCE}"/>
              </a:ext>
            </a:extLst>
          </p:cNvPr>
          <p:cNvGrpSpPr>
            <a:grpSpLocks/>
          </p:cNvGrpSpPr>
          <p:nvPr/>
        </p:nvGrpSpPr>
        <p:grpSpPr bwMode="auto">
          <a:xfrm>
            <a:off x="1789113" y="2438400"/>
            <a:ext cx="5903912" cy="812800"/>
            <a:chOff x="137" y="1675"/>
            <a:chExt cx="3719" cy="512"/>
          </a:xfrm>
        </p:grpSpPr>
        <p:sp>
          <p:nvSpPr>
            <p:cNvPr id="95241" name="Text Box 10">
              <a:extLst>
                <a:ext uri="{FF2B5EF4-FFF2-40B4-BE49-F238E27FC236}">
                  <a16:creationId xmlns:a16="http://schemas.microsoft.com/office/drawing/2014/main" id="{599905F7-A511-470C-829D-4344ACCF7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" y="1795"/>
              <a:ext cx="7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i="1">
                  <a:latin typeface="Arial" panose="020B0604020202020204" pitchFamily="34" charset="0"/>
                </a:rPr>
                <a:t>D</a:t>
              </a:r>
              <a:r>
                <a:rPr lang="en-US" altLang="zh-TW" sz="2400" i="1" baseline="-25000">
                  <a:latin typeface="Arial" panose="020B0604020202020204" pitchFamily="34" charset="0"/>
                </a:rPr>
                <a:t>trans</a:t>
              </a:r>
              <a:r>
                <a:rPr lang="en-US" altLang="zh-TW" sz="2400" i="1">
                  <a:latin typeface="Arial" panose="020B0604020202020204" pitchFamily="34" charset="0"/>
                </a:rPr>
                <a:t> =</a:t>
              </a:r>
            </a:p>
          </p:txBody>
        </p:sp>
        <p:grpSp>
          <p:nvGrpSpPr>
            <p:cNvPr id="95242" name="Group 14">
              <a:extLst>
                <a:ext uri="{FF2B5EF4-FFF2-40B4-BE49-F238E27FC236}">
                  <a16:creationId xmlns:a16="http://schemas.microsoft.com/office/drawing/2014/main" id="{29A742CF-0A34-4558-A088-763D0231E5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7" y="1677"/>
              <a:ext cx="255" cy="496"/>
              <a:chOff x="155" y="2937"/>
              <a:chExt cx="255" cy="496"/>
            </a:xfrm>
          </p:grpSpPr>
          <p:sp>
            <p:nvSpPr>
              <p:cNvPr id="95251" name="Text Box 11">
                <a:extLst>
                  <a:ext uri="{FF2B5EF4-FFF2-40B4-BE49-F238E27FC236}">
                    <a16:creationId xmlns:a16="http://schemas.microsoft.com/office/drawing/2014/main" id="{43F59F18-812C-447A-946F-43504E7831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6" y="2937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400" i="1">
                    <a:latin typeface="Tahoma" panose="020B0604030504040204" pitchFamily="34" charset="0"/>
                  </a:rPr>
                  <a:t>L</a:t>
                </a:r>
              </a:p>
            </p:txBody>
          </p:sp>
          <p:sp>
            <p:nvSpPr>
              <p:cNvPr id="95252" name="Text Box 12">
                <a:extLst>
                  <a:ext uri="{FF2B5EF4-FFF2-40B4-BE49-F238E27FC236}">
                    <a16:creationId xmlns:a16="http://schemas.microsoft.com/office/drawing/2014/main" id="{6EE19FA7-C29C-4C99-B8D7-5E8B5599BD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5" y="3145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400" i="1">
                    <a:latin typeface="Arial" panose="020B0604020202020204" pitchFamily="34" charset="0"/>
                  </a:rPr>
                  <a:t>R</a:t>
                </a:r>
              </a:p>
            </p:txBody>
          </p:sp>
          <p:sp>
            <p:nvSpPr>
              <p:cNvPr id="95253" name="Line 13">
                <a:extLst>
                  <a:ext uri="{FF2B5EF4-FFF2-40B4-BE49-F238E27FC236}">
                    <a16:creationId xmlns:a16="http://schemas.microsoft.com/office/drawing/2014/main" id="{1559675D-5603-4FDE-8DA0-956CC43819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" y="3192"/>
                <a:ext cx="18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95243" name="Group 19">
              <a:extLst>
                <a:ext uri="{FF2B5EF4-FFF2-40B4-BE49-F238E27FC236}">
                  <a16:creationId xmlns:a16="http://schemas.microsoft.com/office/drawing/2014/main" id="{53EDE039-DBC9-45E9-8409-79401B2781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3" y="1675"/>
              <a:ext cx="1225" cy="512"/>
              <a:chOff x="1401" y="1693"/>
              <a:chExt cx="1225" cy="512"/>
            </a:xfrm>
          </p:grpSpPr>
          <p:sp>
            <p:nvSpPr>
              <p:cNvPr id="95247" name="Text Box 6">
                <a:extLst>
                  <a:ext uri="{FF2B5EF4-FFF2-40B4-BE49-F238E27FC236}">
                    <a16:creationId xmlns:a16="http://schemas.microsoft.com/office/drawing/2014/main" id="{8069E565-5013-4961-AACD-D95A16827E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5" y="1748"/>
                <a:ext cx="16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000">
                    <a:latin typeface="Comic Sans MS" panose="030F0702030302020204" pitchFamily="66" charset="0"/>
                  </a:rPr>
                  <a:t> </a:t>
                </a:r>
                <a:endParaRPr lang="en-US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5248" name="Text Box 16">
                <a:extLst>
                  <a:ext uri="{FF2B5EF4-FFF2-40B4-BE49-F238E27FC236}">
                    <a16:creationId xmlns:a16="http://schemas.microsoft.com/office/drawing/2014/main" id="{424622A9-54A0-4C1F-9259-5138ACC00A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3" y="1693"/>
                <a:ext cx="89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400" i="1">
                    <a:latin typeface="Arial" panose="020B0604020202020204" pitchFamily="34" charset="0"/>
                  </a:rPr>
                  <a:t>8000 bits</a:t>
                </a:r>
              </a:p>
            </p:txBody>
          </p:sp>
          <p:sp>
            <p:nvSpPr>
              <p:cNvPr id="95249" name="Text Box 17">
                <a:extLst>
                  <a:ext uri="{FF2B5EF4-FFF2-40B4-BE49-F238E27FC236}">
                    <a16:creationId xmlns:a16="http://schemas.microsoft.com/office/drawing/2014/main" id="{38694543-0403-4348-BA53-7195D101C2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1" y="1917"/>
                <a:ext cx="122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400" i="1">
                    <a:latin typeface="Tahoma" panose="020B0604030504040204" pitchFamily="34" charset="0"/>
                  </a:rPr>
                  <a:t>10</a:t>
                </a:r>
                <a:r>
                  <a:rPr lang="en-US" altLang="zh-TW" sz="2400" i="1" baseline="30000">
                    <a:latin typeface="Tahoma" panose="020B0604030504040204" pitchFamily="34" charset="0"/>
                  </a:rPr>
                  <a:t>9 </a:t>
                </a:r>
                <a:r>
                  <a:rPr lang="en-US" altLang="zh-TW" sz="2400" i="1">
                    <a:latin typeface="Tahoma" panose="020B0604030504040204" pitchFamily="34" charset="0"/>
                  </a:rPr>
                  <a:t>bits/sec</a:t>
                </a:r>
              </a:p>
            </p:txBody>
          </p:sp>
          <p:sp>
            <p:nvSpPr>
              <p:cNvPr id="95250" name="Line 18">
                <a:extLst>
                  <a:ext uri="{FF2B5EF4-FFF2-40B4-BE49-F238E27FC236}">
                    <a16:creationId xmlns:a16="http://schemas.microsoft.com/office/drawing/2014/main" id="{F7A1CAF3-852D-468C-9FC7-9376693F4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4" y="1950"/>
                <a:ext cx="9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sp>
          <p:nvSpPr>
            <p:cNvPr id="95244" name="Text Box 20">
              <a:extLst>
                <a:ext uri="{FF2B5EF4-FFF2-40B4-BE49-F238E27FC236}">
                  <a16:creationId xmlns:a16="http://schemas.microsoft.com/office/drawing/2014/main" id="{CA800169-3834-4AA1-AA35-6CF47B7ED8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3" y="1789"/>
              <a:ext cx="2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latin typeface="Arial" panose="020B0604020202020204" pitchFamily="34" charset="0"/>
                </a:rPr>
                <a:t>=</a:t>
              </a:r>
            </a:p>
          </p:txBody>
        </p:sp>
        <p:sp>
          <p:nvSpPr>
            <p:cNvPr id="95245" name="Text Box 22">
              <a:extLst>
                <a:ext uri="{FF2B5EF4-FFF2-40B4-BE49-F238E27FC236}">
                  <a16:creationId xmlns:a16="http://schemas.microsoft.com/office/drawing/2014/main" id="{184F3071-1520-432A-9EEF-679E0B0648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9" y="1789"/>
              <a:ext cx="2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latin typeface="Arial" panose="020B0604020202020204" pitchFamily="34" charset="0"/>
                </a:rPr>
                <a:t>=</a:t>
              </a:r>
            </a:p>
          </p:txBody>
        </p:sp>
        <p:sp>
          <p:nvSpPr>
            <p:cNvPr id="95246" name="Text Box 23">
              <a:extLst>
                <a:ext uri="{FF2B5EF4-FFF2-40B4-BE49-F238E27FC236}">
                  <a16:creationId xmlns:a16="http://schemas.microsoft.com/office/drawing/2014/main" id="{1E247E24-4FCF-4C80-999E-B949531F86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5" y="1777"/>
              <a:ext cx="11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i="1">
                  <a:latin typeface="Arial" panose="020B0604020202020204" pitchFamily="34" charset="0"/>
                </a:rPr>
                <a:t>8 microsecs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Footer Placeholder 4">
            <a:extLst>
              <a:ext uri="{FF2B5EF4-FFF2-40B4-BE49-F238E27FC236}">
                <a16:creationId xmlns:a16="http://schemas.microsoft.com/office/drawing/2014/main" id="{05A05985-47ED-45AC-834E-2287E11D1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463" y="6243637"/>
            <a:ext cx="2895600" cy="287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latin typeface="Tahoma" panose="020B0604030504040204" pitchFamily="34" charset="0"/>
              </a:rPr>
              <a:t>Transport</a:t>
            </a:r>
            <a:r>
              <a:rPr lang="en-US" altLang="zh-TW" sz="1400" dirty="0">
                <a:latin typeface="Tahoma" panose="020B0604030504040204" pitchFamily="34" charset="0"/>
              </a:rPr>
              <a:t> </a:t>
            </a:r>
            <a:r>
              <a:rPr lang="en-US" altLang="zh-TW" sz="1200" dirty="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96259" name="Slide Number Placeholder 5">
            <a:extLst>
              <a:ext uri="{FF2B5EF4-FFF2-40B4-BE49-F238E27FC236}">
                <a16:creationId xmlns:a16="http://schemas.microsoft.com/office/drawing/2014/main" id="{3B5D5791-7F1A-483F-BC2D-A67D45400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4850" y="6265939"/>
            <a:ext cx="676275" cy="276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latin typeface="Tahoma" panose="020B0604030504040204" pitchFamily="34" charset="0"/>
              </a:rPr>
              <a:t>3-</a:t>
            </a:r>
            <a:fld id="{E731121E-73F4-4435-B0F2-9197B30A88B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TW" sz="1200" dirty="0">
              <a:latin typeface="Tahoma" panose="020B0604030504040204" pitchFamily="34" charset="0"/>
            </a:endParaRPr>
          </a:p>
        </p:txBody>
      </p:sp>
      <p:pic>
        <p:nvPicPr>
          <p:cNvPr id="96260" name="Picture 32" descr="underline_base">
            <a:extLst>
              <a:ext uri="{FF2B5EF4-FFF2-40B4-BE49-F238E27FC236}">
                <a16:creationId xmlns:a16="http://schemas.microsoft.com/office/drawing/2014/main" id="{1F03EF02-A7A9-4A68-A403-9A073565ABC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960438"/>
            <a:ext cx="667226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7" name="Rectangle 2">
            <a:extLst>
              <a:ext uri="{FF2B5EF4-FFF2-40B4-BE49-F238E27FC236}">
                <a16:creationId xmlns:a16="http://schemas.microsoft.com/office/drawing/2014/main" id="{59EBB37D-E4C5-47FF-B9C1-F13ACA7675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63525"/>
            <a:ext cx="7772400" cy="1008063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ea typeface="ＭＳ Ｐゴシック" charset="0"/>
                <a:cs typeface="+mj-cs"/>
              </a:rPr>
              <a:t>rdt3.0: stop-and-wait operation</a:t>
            </a:r>
          </a:p>
        </p:txBody>
      </p:sp>
      <p:grpSp>
        <p:nvGrpSpPr>
          <p:cNvPr id="96262" name="Group 2">
            <a:extLst>
              <a:ext uri="{FF2B5EF4-FFF2-40B4-BE49-F238E27FC236}">
                <a16:creationId xmlns:a16="http://schemas.microsoft.com/office/drawing/2014/main" id="{9FA6A369-93A6-4C0F-8214-EFE0231E228D}"/>
              </a:ext>
            </a:extLst>
          </p:cNvPr>
          <p:cNvGrpSpPr>
            <a:grpSpLocks/>
          </p:cNvGrpSpPr>
          <p:nvPr/>
        </p:nvGrpSpPr>
        <p:grpSpPr bwMode="auto">
          <a:xfrm>
            <a:off x="90488" y="1311275"/>
            <a:ext cx="8963025" cy="3249613"/>
            <a:chOff x="0" y="1446213"/>
            <a:chExt cx="8963025" cy="3249612"/>
          </a:xfrm>
        </p:grpSpPr>
        <p:sp>
          <p:nvSpPr>
            <p:cNvPr id="96266" name="Line 3">
              <a:extLst>
                <a:ext uri="{FF2B5EF4-FFF2-40B4-BE49-F238E27FC236}">
                  <a16:creationId xmlns:a16="http://schemas.microsoft.com/office/drawing/2014/main" id="{35CD99B3-8CF2-440E-80BB-C473159255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7588" y="2001838"/>
              <a:ext cx="2227262" cy="9223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6267" name="Text Box 4">
              <a:extLst>
                <a:ext uri="{FF2B5EF4-FFF2-40B4-BE49-F238E27FC236}">
                  <a16:creationId xmlns:a16="http://schemas.microsoft.com/office/drawing/2014/main" id="{17225C4E-CE92-48AB-8D31-E961182574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363" y="1797050"/>
              <a:ext cx="3232150" cy="352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first packet bit transmitted, t = 0</a:t>
              </a:r>
            </a:p>
          </p:txBody>
        </p:sp>
        <p:sp>
          <p:nvSpPr>
            <p:cNvPr id="96268" name="Line 5">
              <a:extLst>
                <a:ext uri="{FF2B5EF4-FFF2-40B4-BE49-F238E27FC236}">
                  <a16:creationId xmlns:a16="http://schemas.microsoft.com/office/drawing/2014/main" id="{EBE47517-FB32-4441-B355-5C01F75FDC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6475" y="1782763"/>
              <a:ext cx="23813" cy="29130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6269" name="Line 6">
              <a:extLst>
                <a:ext uri="{FF2B5EF4-FFF2-40B4-BE49-F238E27FC236}">
                  <a16:creationId xmlns:a16="http://schemas.microsoft.com/office/drawing/2014/main" id="{3F8DFC4F-BAEE-4478-9179-EBA77AAC15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3738" y="1795463"/>
              <a:ext cx="22225" cy="28908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6270" name="Text Box 7">
              <a:extLst>
                <a:ext uri="{FF2B5EF4-FFF2-40B4-BE49-F238E27FC236}">
                  <a16:creationId xmlns:a16="http://schemas.microsoft.com/office/drawing/2014/main" id="{211A7870-A165-4929-A3DF-51E0353FC5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7838" y="1446213"/>
              <a:ext cx="885825" cy="3508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sender</a:t>
              </a:r>
              <a:endParaRPr lang="en-US" altLang="zh-TW" sz="1600">
                <a:latin typeface="Times New Roman" panose="02020603050405020304" pitchFamily="18" charset="0"/>
              </a:endParaRPr>
            </a:p>
          </p:txBody>
        </p:sp>
        <p:sp>
          <p:nvSpPr>
            <p:cNvPr id="96271" name="Text Box 8">
              <a:extLst>
                <a:ext uri="{FF2B5EF4-FFF2-40B4-BE49-F238E27FC236}">
                  <a16:creationId xmlns:a16="http://schemas.microsoft.com/office/drawing/2014/main" id="{C259A513-755E-4ABD-8947-5C1237703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5888" y="1446213"/>
              <a:ext cx="946150" cy="3508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receiver</a:t>
              </a:r>
              <a:endParaRPr lang="en-US" altLang="zh-TW" sz="1600">
                <a:latin typeface="Times New Roman" panose="02020603050405020304" pitchFamily="18" charset="0"/>
              </a:endParaRPr>
            </a:p>
          </p:txBody>
        </p:sp>
        <p:sp>
          <p:nvSpPr>
            <p:cNvPr id="96272" name="Line 9">
              <a:extLst>
                <a:ext uri="{FF2B5EF4-FFF2-40B4-BE49-F238E27FC236}">
                  <a16:creationId xmlns:a16="http://schemas.microsoft.com/office/drawing/2014/main" id="{4E941949-38B6-47DF-9E05-91FE89EE17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0288" y="1997075"/>
              <a:ext cx="2190750" cy="31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6273" name="Line 10">
              <a:extLst>
                <a:ext uri="{FF2B5EF4-FFF2-40B4-BE49-F238E27FC236}">
                  <a16:creationId xmlns:a16="http://schemas.microsoft.com/office/drawing/2014/main" id="{11CBE754-A2D9-4A75-B1FD-A4E1247035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5050" y="4108450"/>
              <a:ext cx="21923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6274" name="Line 11">
              <a:extLst>
                <a:ext uri="{FF2B5EF4-FFF2-40B4-BE49-F238E27FC236}">
                  <a16:creationId xmlns:a16="http://schemas.microsoft.com/office/drawing/2014/main" id="{8400D1AF-3337-495E-BDD0-4459B49B8B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5050" y="3165475"/>
              <a:ext cx="2209800" cy="9223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6275" name="Freeform 12">
              <a:extLst>
                <a:ext uri="{FF2B5EF4-FFF2-40B4-BE49-F238E27FC236}">
                  <a16:creationId xmlns:a16="http://schemas.microsoft.com/office/drawing/2014/main" id="{C8936982-2412-4EAA-86DF-EDFCF11D4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5" y="1995488"/>
              <a:ext cx="2232025" cy="1155700"/>
            </a:xfrm>
            <a:custGeom>
              <a:avLst/>
              <a:gdLst>
                <a:gd name="T0" fmla="*/ 0 w 2902"/>
                <a:gd name="T1" fmla="*/ 0 h 1185"/>
                <a:gd name="T2" fmla="*/ 2147483646 w 2902"/>
                <a:gd name="T3" fmla="*/ 2147483646 h 1185"/>
                <a:gd name="T4" fmla="*/ 2147483646 w 2902"/>
                <a:gd name="T5" fmla="*/ 2147483646 h 1185"/>
                <a:gd name="T6" fmla="*/ 0 w 2902"/>
                <a:gd name="T7" fmla="*/ 2147483646 h 1185"/>
                <a:gd name="T8" fmla="*/ 0 w 2902"/>
                <a:gd name="T9" fmla="*/ 0 h 11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02"/>
                <a:gd name="T16" fmla="*/ 0 h 1185"/>
                <a:gd name="T17" fmla="*/ 2902 w 2902"/>
                <a:gd name="T18" fmla="*/ 1185 h 11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02" h="1185">
                  <a:moveTo>
                    <a:pt x="0" y="0"/>
                  </a:moveTo>
                  <a:lnTo>
                    <a:pt x="2895" y="937"/>
                  </a:lnTo>
                  <a:lnTo>
                    <a:pt x="2902" y="1185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6276" name="Line 13">
              <a:extLst>
                <a:ext uri="{FF2B5EF4-FFF2-40B4-BE49-F238E27FC236}">
                  <a16:creationId xmlns:a16="http://schemas.microsoft.com/office/drawing/2014/main" id="{23AC8D9B-DB86-4895-B775-7D8E075197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8363" y="1995488"/>
              <a:ext cx="1317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6277" name="Line 14">
              <a:extLst>
                <a:ext uri="{FF2B5EF4-FFF2-40B4-BE49-F238E27FC236}">
                  <a16:creationId xmlns:a16="http://schemas.microsoft.com/office/drawing/2014/main" id="{F60924DA-BE3C-4809-848F-171CCAEA18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8363" y="2236788"/>
              <a:ext cx="1317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6278" name="Line 15">
              <a:extLst>
                <a:ext uri="{FF2B5EF4-FFF2-40B4-BE49-F238E27FC236}">
                  <a16:creationId xmlns:a16="http://schemas.microsoft.com/office/drawing/2014/main" id="{6261EB27-C21B-4B83-9AB7-3630FF134A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9475" y="4095750"/>
              <a:ext cx="1333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6279" name="Text Box 16">
              <a:extLst>
                <a:ext uri="{FF2B5EF4-FFF2-40B4-BE49-F238E27FC236}">
                  <a16:creationId xmlns:a16="http://schemas.microsoft.com/office/drawing/2014/main" id="{EAB56D3E-A932-48FA-9E30-C2E84F0019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5900" y="2968625"/>
              <a:ext cx="8477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CC0000"/>
                  </a:solidFill>
                  <a:latin typeface="Arial" panose="020B0604020202020204" pitchFamily="34" charset="0"/>
                </a:rPr>
                <a:t>RTT</a:t>
              </a:r>
              <a:r>
                <a:rPr lang="en-US" altLang="zh-TW" sz="1000">
                  <a:latin typeface="Arial" panose="020B0604020202020204" pitchFamily="34" charset="0"/>
                </a:rPr>
                <a:t> </a:t>
              </a:r>
              <a:endParaRPr lang="en-US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96280" name="Line 17">
              <a:extLst>
                <a:ext uri="{FF2B5EF4-FFF2-40B4-BE49-F238E27FC236}">
                  <a16:creationId xmlns:a16="http://schemas.microsoft.com/office/drawing/2014/main" id="{8FF7E94E-C4C5-4E8D-8BC7-EDC1F0D4E9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3288" y="3276600"/>
              <a:ext cx="11112" cy="8112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6281" name="Line 18">
              <a:extLst>
                <a:ext uri="{FF2B5EF4-FFF2-40B4-BE49-F238E27FC236}">
                  <a16:creationId xmlns:a16="http://schemas.microsoft.com/office/drawing/2014/main" id="{025892B1-8479-4539-BE15-DBA2F72953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8050" y="2259013"/>
              <a:ext cx="3175" cy="7683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6282" name="Text Box 19">
              <a:extLst>
                <a:ext uri="{FF2B5EF4-FFF2-40B4-BE49-F238E27FC236}">
                  <a16:creationId xmlns:a16="http://schemas.microsoft.com/office/drawing/2014/main" id="{20278520-8B74-47DE-9C99-8FDA52B329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074863"/>
              <a:ext cx="3465513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last packet bit transmitted, </a:t>
              </a:r>
              <a:r>
                <a:rPr lang="en-US" altLang="zh-TW" sz="1600">
                  <a:solidFill>
                    <a:srgbClr val="CC0000"/>
                  </a:solidFill>
                  <a:latin typeface="Arial" panose="020B0604020202020204" pitchFamily="34" charset="0"/>
                </a:rPr>
                <a:t>t = L / R</a:t>
              </a:r>
              <a:endParaRPr lang="en-US" altLang="zh-TW" sz="160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83" name="Line 20">
              <a:extLst>
                <a:ext uri="{FF2B5EF4-FFF2-40B4-BE49-F238E27FC236}">
                  <a16:creationId xmlns:a16="http://schemas.microsoft.com/office/drawing/2014/main" id="{9DFCFBED-ECAE-47F5-88B4-FC55420B62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61038" y="2909888"/>
              <a:ext cx="1333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6284" name="Text Box 21">
              <a:extLst>
                <a:ext uri="{FF2B5EF4-FFF2-40B4-BE49-F238E27FC236}">
                  <a16:creationId xmlns:a16="http://schemas.microsoft.com/office/drawing/2014/main" id="{AF0C8C4E-2A81-4C81-9435-28BBCACE4A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2000" y="2733675"/>
              <a:ext cx="2425700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first packet bit arrives</a:t>
              </a:r>
              <a:endParaRPr lang="en-US" altLang="zh-TW" sz="1600">
                <a:latin typeface="Times New Roman" panose="02020603050405020304" pitchFamily="18" charset="0"/>
              </a:endParaRPr>
            </a:p>
          </p:txBody>
        </p:sp>
        <p:sp>
          <p:nvSpPr>
            <p:cNvPr id="96285" name="Line 22">
              <a:extLst>
                <a:ext uri="{FF2B5EF4-FFF2-40B4-BE49-F238E27FC236}">
                  <a16:creationId xmlns:a16="http://schemas.microsoft.com/office/drawing/2014/main" id="{B4B46012-E8A6-4A32-B307-51C61EA237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84850" y="3159125"/>
              <a:ext cx="1270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6286" name="Text Box 23">
              <a:extLst>
                <a:ext uri="{FF2B5EF4-FFF2-40B4-BE49-F238E27FC236}">
                  <a16:creationId xmlns:a16="http://schemas.microsoft.com/office/drawing/2014/main" id="{EBFE8C9C-F0F2-4364-9D01-15AA735C2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8350" y="2986088"/>
              <a:ext cx="3114675" cy="569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last packet bit arrives, send ACK</a:t>
              </a:r>
              <a:endParaRPr lang="en-US" altLang="zh-TW" sz="1600">
                <a:latin typeface="Times New Roman" panose="02020603050405020304" pitchFamily="18" charset="0"/>
              </a:endParaRPr>
            </a:p>
          </p:txBody>
        </p:sp>
        <p:sp>
          <p:nvSpPr>
            <p:cNvPr id="96287" name="Text Box 24">
              <a:extLst>
                <a:ext uri="{FF2B5EF4-FFF2-40B4-BE49-F238E27FC236}">
                  <a16:creationId xmlns:a16="http://schemas.microsoft.com/office/drawing/2014/main" id="{517CE808-5D06-4F5A-A42C-C65BEA45C1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5500" y="3768725"/>
              <a:ext cx="268605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dirty="0">
                  <a:latin typeface="Arial" panose="020B0604020202020204" pitchFamily="34" charset="0"/>
                </a:rPr>
                <a:t>ACK arrives, send next 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dirty="0">
                  <a:latin typeface="Arial" panose="020B0604020202020204" pitchFamily="34" charset="0"/>
                </a:rPr>
                <a:t>packet, </a:t>
              </a:r>
              <a:r>
                <a:rPr lang="en-US" altLang="zh-TW" sz="1600" dirty="0">
                  <a:solidFill>
                    <a:srgbClr val="CC0000"/>
                  </a:solidFill>
                  <a:latin typeface="Arial" panose="020B0604020202020204" pitchFamily="34" charset="0"/>
                </a:rPr>
                <a:t>t = RTT + L / R</a:t>
              </a:r>
              <a:endParaRPr lang="en-US" altLang="zh-TW" sz="16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88" name="Freeform 25">
              <a:extLst>
                <a:ext uri="{FF2B5EF4-FFF2-40B4-BE49-F238E27FC236}">
                  <a16:creationId xmlns:a16="http://schemas.microsoft.com/office/drawing/2014/main" id="{A87A0406-ACD7-4FBB-B98C-D3C803E82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288" y="4103688"/>
              <a:ext cx="1419225" cy="577850"/>
            </a:xfrm>
            <a:custGeom>
              <a:avLst/>
              <a:gdLst>
                <a:gd name="T0" fmla="*/ 0 w 1845"/>
                <a:gd name="T1" fmla="*/ 0 h 592"/>
                <a:gd name="T2" fmla="*/ 2147483646 w 1845"/>
                <a:gd name="T3" fmla="*/ 2147483646 h 592"/>
                <a:gd name="T4" fmla="*/ 2147483646 w 1845"/>
                <a:gd name="T5" fmla="*/ 2147483646 h 592"/>
                <a:gd name="T6" fmla="*/ 0 w 1845"/>
                <a:gd name="T7" fmla="*/ 2147483646 h 592"/>
                <a:gd name="T8" fmla="*/ 0 w 1845"/>
                <a:gd name="T9" fmla="*/ 0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45"/>
                <a:gd name="T16" fmla="*/ 0 h 592"/>
                <a:gd name="T17" fmla="*/ 1845 w 1845"/>
                <a:gd name="T18" fmla="*/ 592 h 5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96289" name="Group 26">
              <a:extLst>
                <a:ext uri="{FF2B5EF4-FFF2-40B4-BE49-F238E27FC236}">
                  <a16:creationId xmlns:a16="http://schemas.microsoft.com/office/drawing/2014/main" id="{4B993F63-B89C-4FBB-AF9F-89AD675FF0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3938" y="4095750"/>
              <a:ext cx="1281112" cy="534988"/>
              <a:chOff x="12315" y="13225"/>
              <a:chExt cx="2775" cy="913"/>
            </a:xfrm>
          </p:grpSpPr>
          <p:sp>
            <p:nvSpPr>
              <p:cNvPr id="96292" name="Line 27">
                <a:extLst>
                  <a:ext uri="{FF2B5EF4-FFF2-40B4-BE49-F238E27FC236}">
                    <a16:creationId xmlns:a16="http://schemas.microsoft.com/office/drawing/2014/main" id="{12530EF5-31A3-4162-A5BA-E45BD54829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15" y="13225"/>
                <a:ext cx="1587" cy="5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6293" name="Line 28">
                <a:extLst>
                  <a:ext uri="{FF2B5EF4-FFF2-40B4-BE49-F238E27FC236}">
                    <a16:creationId xmlns:a16="http://schemas.microsoft.com/office/drawing/2014/main" id="{6F7AC6F9-7652-4377-ABB7-8F434CAA2E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15" y="13737"/>
                <a:ext cx="1175" cy="4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96290" name="Line 29">
              <a:extLst>
                <a:ext uri="{FF2B5EF4-FFF2-40B4-BE49-F238E27FC236}">
                  <a16:creationId xmlns:a16="http://schemas.microsoft.com/office/drawing/2014/main" id="{55EDCF52-665B-47CB-9E10-3F1384BD72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3938" y="4337050"/>
              <a:ext cx="317500" cy="123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6291" name="Line 30">
              <a:extLst>
                <a:ext uri="{FF2B5EF4-FFF2-40B4-BE49-F238E27FC236}">
                  <a16:creationId xmlns:a16="http://schemas.microsoft.com/office/drawing/2014/main" id="{4C60056B-94F0-4776-9980-77EF7F7542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7788" y="4460875"/>
              <a:ext cx="541337" cy="2349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aphicFrame>
        <p:nvGraphicFramePr>
          <p:cNvPr id="96263" name="Object 35">
            <a:extLst>
              <a:ext uri="{FF2B5EF4-FFF2-40B4-BE49-F238E27FC236}">
                <a16:creationId xmlns:a16="http://schemas.microsoft.com/office/drawing/2014/main" id="{16F5DF7E-DD6D-478B-9001-8F7B586887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5713" y="4919663"/>
          <a:ext cx="6748462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3581400" imgH="495300" progId="Word.Picture.8">
                  <p:embed/>
                </p:oleObj>
              </mc:Choice>
              <mc:Fallback>
                <p:oleObj name="Picture" r:id="rId4" imgW="3581400" imgH="495300" progId="Word.Picture.8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5713" y="4919663"/>
                        <a:ext cx="6748462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4" name="Rectangle 4">
            <a:extLst>
              <a:ext uri="{FF2B5EF4-FFF2-40B4-BE49-F238E27FC236}">
                <a16:creationId xmlns:a16="http://schemas.microsoft.com/office/drawing/2014/main" id="{09B796D3-828E-4944-B078-B7780D38E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716463"/>
            <a:ext cx="83724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6889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r>
              <a:rPr lang="en-US" altLang="zh-TW" sz="2400"/>
              <a:t>U </a:t>
            </a:r>
            <a:r>
              <a:rPr lang="en-US" altLang="zh-TW" sz="2400" baseline="-25000"/>
              <a:t>sender</a:t>
            </a:r>
            <a:r>
              <a:rPr lang="en-US" altLang="zh-TW" sz="2400"/>
              <a:t>: </a:t>
            </a:r>
            <a:r>
              <a:rPr lang="en-US" altLang="zh-TW" sz="2400" i="1">
                <a:solidFill>
                  <a:srgbClr val="CC0000"/>
                </a:solidFill>
              </a:rPr>
              <a:t>utilization</a:t>
            </a:r>
            <a:r>
              <a:rPr lang="en-US" altLang="zh-TW" sz="2400"/>
              <a:t>, i.e., fraction of time sender busy sending</a:t>
            </a:r>
          </a:p>
        </p:txBody>
      </p:sp>
      <p:sp>
        <p:nvSpPr>
          <p:cNvPr id="96265" name="Rectangle 7">
            <a:extLst>
              <a:ext uri="{FF2B5EF4-FFF2-40B4-BE49-F238E27FC236}">
                <a16:creationId xmlns:a16="http://schemas.microsoft.com/office/drawing/2014/main" id="{0C16F7BF-9774-49CF-8E68-EEA88D16B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249863"/>
            <a:ext cx="83724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6889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endParaRPr lang="en-US" altLang="zh-TW" sz="2400" dirty="0"/>
          </a:p>
          <a:p>
            <a:pPr lvl="1"/>
            <a:r>
              <a:rPr lang="en-US" altLang="zh-TW" sz="2400" dirty="0"/>
              <a:t>Throughput =1KB / 30.008 </a:t>
            </a:r>
            <a:r>
              <a:rPr lang="en-US" altLang="zh-TW" sz="2400" dirty="0" err="1"/>
              <a:t>msec</a:t>
            </a:r>
            <a:r>
              <a:rPr lang="en-US" altLang="zh-TW" sz="2400" dirty="0"/>
              <a:t> = 267 kbps </a:t>
            </a:r>
          </a:p>
          <a:p>
            <a:pPr lvl="1">
              <a:buFontTx/>
              <a:buNone/>
            </a:pPr>
            <a:r>
              <a:rPr lang="en-US" altLang="zh-TW" sz="2400" dirty="0"/>
              <a:t>	given 1 Gbps link!</a:t>
            </a:r>
          </a:p>
          <a:p>
            <a:r>
              <a:rPr lang="en-US" altLang="zh-TW" sz="2800" dirty="0">
                <a:solidFill>
                  <a:srgbClr val="0070C0"/>
                </a:solidFill>
              </a:rPr>
              <a:t>network protocol</a:t>
            </a:r>
            <a:r>
              <a:rPr lang="en-US" altLang="zh-TW" sz="2800" dirty="0"/>
              <a:t> limits use of </a:t>
            </a:r>
            <a:r>
              <a:rPr lang="en-US" altLang="zh-TW" sz="2800" dirty="0">
                <a:solidFill>
                  <a:srgbClr val="0070C0"/>
                </a:solidFill>
              </a:rPr>
              <a:t>physical resources</a:t>
            </a:r>
            <a:r>
              <a:rPr lang="en-US" altLang="zh-TW" sz="2800" dirty="0"/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ooter Placeholder 5">
            <a:extLst>
              <a:ext uri="{FF2B5EF4-FFF2-40B4-BE49-F238E27FC236}">
                <a16:creationId xmlns:a16="http://schemas.microsoft.com/office/drawing/2014/main" id="{F6920F97-7FC3-430A-B9B5-0D3724C3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97283" name="Slide Number Placeholder 6">
            <a:extLst>
              <a:ext uri="{FF2B5EF4-FFF2-40B4-BE49-F238E27FC236}">
                <a16:creationId xmlns:a16="http://schemas.microsoft.com/office/drawing/2014/main" id="{EA4193ED-27DA-465A-9ABE-8B612D426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EAC6910D-2065-4BB9-9734-945695F21F2B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97284" name="Picture 6" descr="underline_base">
            <a:extLst>
              <a:ext uri="{FF2B5EF4-FFF2-40B4-BE49-F238E27FC236}">
                <a16:creationId xmlns:a16="http://schemas.microsoft.com/office/drawing/2014/main" id="{EF92AF2E-A3A1-4400-B153-61CB464FEE4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8032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5" name="Rectangle 2">
            <a:extLst>
              <a:ext uri="{FF2B5EF4-FFF2-40B4-BE49-F238E27FC236}">
                <a16:creationId xmlns:a16="http://schemas.microsoft.com/office/drawing/2014/main" id="{EB8C25A9-2C2D-447B-9922-A8D0F1D1FF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85725"/>
            <a:ext cx="7772400" cy="1008063"/>
          </a:xfrm>
        </p:spPr>
        <p:txBody>
          <a:bodyPr/>
          <a:lstStyle/>
          <a:p>
            <a:r>
              <a:rPr lang="en-US" altLang="zh-TW" sz="4000" dirty="0"/>
              <a:t>Pipelined protocols</a:t>
            </a:r>
            <a:endParaRPr lang="en-US" altLang="zh-TW" dirty="0"/>
          </a:p>
        </p:txBody>
      </p:sp>
      <p:sp>
        <p:nvSpPr>
          <p:cNvPr id="97286" name="Rectangle 3">
            <a:extLst>
              <a:ext uri="{FF2B5EF4-FFF2-40B4-BE49-F238E27FC236}">
                <a16:creationId xmlns:a16="http://schemas.microsoft.com/office/drawing/2014/main" id="{5BE53EA5-18E7-40D3-9100-F8F4C6F5929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23875" y="1304925"/>
            <a:ext cx="7591425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CC0000"/>
                </a:solidFill>
              </a:rPr>
              <a:t>pipelining: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sender allows multiple, </a:t>
            </a:r>
            <a:r>
              <a:rPr lang="ja-JP" altLang="en-US" dirty="0">
                <a:solidFill>
                  <a:srgbClr val="FF0000"/>
                </a:solidFill>
              </a:rPr>
              <a:t>“</a:t>
            </a:r>
            <a:r>
              <a:rPr lang="en-US" altLang="ja-JP" dirty="0">
                <a:solidFill>
                  <a:srgbClr val="FF0000"/>
                </a:solidFill>
              </a:rPr>
              <a:t>in-flight</a:t>
            </a:r>
            <a:r>
              <a:rPr lang="ja-JP" altLang="en-US" dirty="0">
                <a:solidFill>
                  <a:srgbClr val="FF0000"/>
                </a:solidFill>
              </a:rPr>
              <a:t>”</a:t>
            </a:r>
            <a:r>
              <a:rPr lang="en-US" altLang="ja-JP" dirty="0">
                <a:solidFill>
                  <a:srgbClr val="FF0000"/>
                </a:solidFill>
              </a:rPr>
              <a:t>, yet-to-be-acknowledged packets</a:t>
            </a:r>
          </a:p>
          <a:p>
            <a:pPr lvl="1"/>
            <a:r>
              <a:rPr lang="en-US" altLang="zh-TW" dirty="0">
                <a:solidFill>
                  <a:srgbClr val="0070C0"/>
                </a:solidFill>
              </a:rPr>
              <a:t>range of sequence numbers</a:t>
            </a:r>
            <a:r>
              <a:rPr lang="en-US" altLang="zh-TW" dirty="0"/>
              <a:t> must be increased</a:t>
            </a:r>
          </a:p>
          <a:p>
            <a:pPr lvl="1"/>
            <a:r>
              <a:rPr lang="en-US" altLang="zh-TW" dirty="0">
                <a:solidFill>
                  <a:srgbClr val="0070C0"/>
                </a:solidFill>
              </a:rPr>
              <a:t>buffering</a:t>
            </a:r>
            <a:r>
              <a:rPr lang="en-US" altLang="zh-TW" dirty="0"/>
              <a:t> at sender and/or receiver</a:t>
            </a:r>
          </a:p>
        </p:txBody>
      </p:sp>
      <p:sp>
        <p:nvSpPr>
          <p:cNvPr id="45063" name="Rectangle 4">
            <a:extLst>
              <a:ext uri="{FF2B5EF4-FFF2-40B4-BE49-F238E27FC236}">
                <a16:creationId xmlns:a16="http://schemas.microsoft.com/office/drawing/2014/main" id="{4BDC9AD2-4152-4C5E-B89A-6B8DA047D8B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90550" y="5419725"/>
            <a:ext cx="8286750" cy="1076325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two generic forms of pipelined protocols: </a:t>
            </a:r>
            <a:r>
              <a:rPr lang="en-US" i="1" dirty="0">
                <a:solidFill>
                  <a:srgbClr val="CC0000"/>
                </a:solidFill>
                <a:ea typeface="ＭＳ Ｐゴシック" charset="0"/>
                <a:cs typeface="+mn-cs"/>
              </a:rPr>
              <a:t>go-Back-N, selective repeat</a:t>
            </a:r>
          </a:p>
        </p:txBody>
      </p:sp>
      <p:pic>
        <p:nvPicPr>
          <p:cNvPr id="97288" name="Picture 5" descr="rdt_pipelined1">
            <a:extLst>
              <a:ext uri="{FF2B5EF4-FFF2-40B4-BE49-F238E27FC236}">
                <a16:creationId xmlns:a16="http://schemas.microsoft.com/office/drawing/2014/main" id="{9D997FA7-ED57-48A3-8141-7583BD926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588" y="2946400"/>
            <a:ext cx="6105525" cy="237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7289" name="Group 44">
            <a:extLst>
              <a:ext uri="{FF2B5EF4-FFF2-40B4-BE49-F238E27FC236}">
                <a16:creationId xmlns:a16="http://schemas.microsoft.com/office/drawing/2014/main" id="{4469934D-F1A5-474C-9ADC-DB4385C225C5}"/>
              </a:ext>
            </a:extLst>
          </p:cNvPr>
          <p:cNvGrpSpPr>
            <a:grpSpLocks/>
          </p:cNvGrpSpPr>
          <p:nvPr/>
        </p:nvGrpSpPr>
        <p:grpSpPr bwMode="auto">
          <a:xfrm>
            <a:off x="1398588" y="3624263"/>
            <a:ext cx="469900" cy="465137"/>
            <a:chOff x="881" y="2283"/>
            <a:chExt cx="296" cy="293"/>
          </a:xfrm>
        </p:grpSpPr>
        <p:sp>
          <p:nvSpPr>
            <p:cNvPr id="97362" name="Rectangle 43">
              <a:extLst>
                <a:ext uri="{FF2B5EF4-FFF2-40B4-BE49-F238E27FC236}">
                  <a16:creationId xmlns:a16="http://schemas.microsoft.com/office/drawing/2014/main" id="{497D2508-7C91-4437-A6F4-46544665C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2283"/>
              <a:ext cx="122" cy="2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grpSp>
          <p:nvGrpSpPr>
            <p:cNvPr id="97363" name="Group 36">
              <a:extLst>
                <a:ext uri="{FF2B5EF4-FFF2-40B4-BE49-F238E27FC236}">
                  <a16:creationId xmlns:a16="http://schemas.microsoft.com/office/drawing/2014/main" id="{00D057CD-17A5-4E90-87A7-B4EB7C1250C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81" y="2283"/>
              <a:ext cx="296" cy="293"/>
              <a:chOff x="2839" y="3501"/>
              <a:chExt cx="755" cy="803"/>
            </a:xfrm>
          </p:grpSpPr>
          <p:pic>
            <p:nvPicPr>
              <p:cNvPr id="97364" name="Picture 37" descr="desktop_computer_stylized_medium">
                <a:extLst>
                  <a:ext uri="{FF2B5EF4-FFF2-40B4-BE49-F238E27FC236}">
                    <a16:creationId xmlns:a16="http://schemas.microsoft.com/office/drawing/2014/main" id="{F6FD8B12-EEE0-4FAE-857D-5DB0C11501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7365" name="Freeform 38">
                <a:extLst>
                  <a:ext uri="{FF2B5EF4-FFF2-40B4-BE49-F238E27FC236}">
                    <a16:creationId xmlns:a16="http://schemas.microsoft.com/office/drawing/2014/main" id="{B0F8A8E2-98D3-4444-90F0-28B9731A4A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</p:grpSp>
      <p:sp>
        <p:nvSpPr>
          <p:cNvPr id="97290" name="Freeform 48">
            <a:extLst>
              <a:ext uri="{FF2B5EF4-FFF2-40B4-BE49-F238E27FC236}">
                <a16:creationId xmlns:a16="http://schemas.microsoft.com/office/drawing/2014/main" id="{11541199-AE2C-402B-84BB-35008F286656}"/>
              </a:ext>
            </a:extLst>
          </p:cNvPr>
          <p:cNvSpPr>
            <a:spLocks/>
          </p:cNvSpPr>
          <p:nvPr/>
        </p:nvSpPr>
        <p:spPr bwMode="auto">
          <a:xfrm>
            <a:off x="7339013" y="3636963"/>
            <a:ext cx="185737" cy="431800"/>
          </a:xfrm>
          <a:custGeom>
            <a:avLst/>
            <a:gdLst>
              <a:gd name="T0" fmla="*/ 2147483646 w 117"/>
              <a:gd name="T1" fmla="*/ 2147483646 h 272"/>
              <a:gd name="T2" fmla="*/ 2147483646 w 117"/>
              <a:gd name="T3" fmla="*/ 2147483646 h 272"/>
              <a:gd name="T4" fmla="*/ 2147483646 w 117"/>
              <a:gd name="T5" fmla="*/ 2147483646 h 272"/>
              <a:gd name="T6" fmla="*/ 0 w 117"/>
              <a:gd name="T7" fmla="*/ 2147483646 h 272"/>
              <a:gd name="T8" fmla="*/ 2147483646 w 117"/>
              <a:gd name="T9" fmla="*/ 2147483646 h 272"/>
              <a:gd name="T10" fmla="*/ 2147483646 w 117"/>
              <a:gd name="T11" fmla="*/ 2147483646 h 272"/>
              <a:gd name="T12" fmla="*/ 2147483646 w 117"/>
              <a:gd name="T13" fmla="*/ 0 h 272"/>
              <a:gd name="T14" fmla="*/ 2147483646 w 117"/>
              <a:gd name="T15" fmla="*/ 2147483646 h 27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7"/>
              <a:gd name="T25" fmla="*/ 0 h 272"/>
              <a:gd name="T26" fmla="*/ 117 w 117"/>
              <a:gd name="T27" fmla="*/ 272 h 27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7" h="272">
                <a:moveTo>
                  <a:pt x="6" y="6"/>
                </a:moveTo>
                <a:lnTo>
                  <a:pt x="3" y="77"/>
                </a:lnTo>
                <a:lnTo>
                  <a:pt x="59" y="120"/>
                </a:lnTo>
                <a:lnTo>
                  <a:pt x="0" y="146"/>
                </a:lnTo>
                <a:lnTo>
                  <a:pt x="3" y="270"/>
                </a:lnTo>
                <a:lnTo>
                  <a:pt x="117" y="272"/>
                </a:lnTo>
                <a:lnTo>
                  <a:pt x="114" y="0"/>
                </a:lnTo>
                <a:lnTo>
                  <a:pt x="6" y="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endParaRPr lang="zh-HK" altLang="en-US"/>
          </a:p>
        </p:txBody>
      </p:sp>
      <p:grpSp>
        <p:nvGrpSpPr>
          <p:cNvPr id="97291" name="Group 50">
            <a:extLst>
              <a:ext uri="{FF2B5EF4-FFF2-40B4-BE49-F238E27FC236}">
                <a16:creationId xmlns:a16="http://schemas.microsoft.com/office/drawing/2014/main" id="{BCE43044-6CA7-4B9E-B07F-24590964DF0C}"/>
              </a:ext>
            </a:extLst>
          </p:cNvPr>
          <p:cNvGrpSpPr>
            <a:grpSpLocks/>
          </p:cNvGrpSpPr>
          <p:nvPr/>
        </p:nvGrpSpPr>
        <p:grpSpPr bwMode="auto">
          <a:xfrm>
            <a:off x="4510088" y="3641725"/>
            <a:ext cx="469900" cy="465138"/>
            <a:chOff x="881" y="2283"/>
            <a:chExt cx="296" cy="293"/>
          </a:xfrm>
        </p:grpSpPr>
        <p:sp>
          <p:nvSpPr>
            <p:cNvPr id="97358" name="Rectangle 51">
              <a:extLst>
                <a:ext uri="{FF2B5EF4-FFF2-40B4-BE49-F238E27FC236}">
                  <a16:creationId xmlns:a16="http://schemas.microsoft.com/office/drawing/2014/main" id="{62683B2F-8B08-4CD4-8CC6-6519DA7C6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2283"/>
              <a:ext cx="122" cy="2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grpSp>
          <p:nvGrpSpPr>
            <p:cNvPr id="97359" name="Group 52">
              <a:extLst>
                <a:ext uri="{FF2B5EF4-FFF2-40B4-BE49-F238E27FC236}">
                  <a16:creationId xmlns:a16="http://schemas.microsoft.com/office/drawing/2014/main" id="{FFA193B1-FD1E-4632-BBDE-4E66C757A6F1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81" y="2283"/>
              <a:ext cx="296" cy="293"/>
              <a:chOff x="2839" y="3501"/>
              <a:chExt cx="755" cy="803"/>
            </a:xfrm>
          </p:grpSpPr>
          <p:pic>
            <p:nvPicPr>
              <p:cNvPr id="97360" name="Picture 53" descr="desktop_computer_stylized_medium">
                <a:extLst>
                  <a:ext uri="{FF2B5EF4-FFF2-40B4-BE49-F238E27FC236}">
                    <a16:creationId xmlns:a16="http://schemas.microsoft.com/office/drawing/2014/main" id="{CE1DCE5A-4CAF-4622-A53A-01FB750419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7361" name="Freeform 54">
                <a:extLst>
                  <a:ext uri="{FF2B5EF4-FFF2-40B4-BE49-F238E27FC236}">
                    <a16:creationId xmlns:a16="http://schemas.microsoft.com/office/drawing/2014/main" id="{B512EC2C-3379-42BB-BB7C-C490A9E8C7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</p:grpSp>
      <p:grpSp>
        <p:nvGrpSpPr>
          <p:cNvPr id="97292" name="Group 55">
            <a:extLst>
              <a:ext uri="{FF2B5EF4-FFF2-40B4-BE49-F238E27FC236}">
                <a16:creationId xmlns:a16="http://schemas.microsoft.com/office/drawing/2014/main" id="{8BA84451-5842-4AFD-AAB5-098257273947}"/>
              </a:ext>
            </a:extLst>
          </p:cNvPr>
          <p:cNvGrpSpPr>
            <a:grpSpLocks/>
          </p:cNvGrpSpPr>
          <p:nvPr/>
        </p:nvGrpSpPr>
        <p:grpSpPr bwMode="auto">
          <a:xfrm>
            <a:off x="4321175" y="3508375"/>
            <a:ext cx="223838" cy="501650"/>
            <a:chOff x="4140" y="429"/>
            <a:chExt cx="1425" cy="2396"/>
          </a:xfrm>
        </p:grpSpPr>
        <p:sp>
          <p:nvSpPr>
            <p:cNvPr id="97326" name="Freeform 56">
              <a:extLst>
                <a:ext uri="{FF2B5EF4-FFF2-40B4-BE49-F238E27FC236}">
                  <a16:creationId xmlns:a16="http://schemas.microsoft.com/office/drawing/2014/main" id="{7B6043CB-BE8C-4505-A5C8-3E9C9FC56B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7327" name="Rectangle 57">
              <a:extLst>
                <a:ext uri="{FF2B5EF4-FFF2-40B4-BE49-F238E27FC236}">
                  <a16:creationId xmlns:a16="http://schemas.microsoft.com/office/drawing/2014/main" id="{C3EA81B8-9D97-470C-B5A7-DF70F40B6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429"/>
              <a:ext cx="1041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97328" name="Freeform 58">
              <a:extLst>
                <a:ext uri="{FF2B5EF4-FFF2-40B4-BE49-F238E27FC236}">
                  <a16:creationId xmlns:a16="http://schemas.microsoft.com/office/drawing/2014/main" id="{93C6760D-BACA-4159-92C7-5DA75CD9D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7329" name="Freeform 59">
              <a:extLst>
                <a:ext uri="{FF2B5EF4-FFF2-40B4-BE49-F238E27FC236}">
                  <a16:creationId xmlns:a16="http://schemas.microsoft.com/office/drawing/2014/main" id="{ED3ACAAB-F4C5-4B9D-9F52-A0F6606E7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7330" name="Rectangle 60">
              <a:extLst>
                <a:ext uri="{FF2B5EF4-FFF2-40B4-BE49-F238E27FC236}">
                  <a16:creationId xmlns:a16="http://schemas.microsoft.com/office/drawing/2014/main" id="{02380843-75DA-4D2C-A877-2BB4A89E8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6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grpSp>
          <p:nvGrpSpPr>
            <p:cNvPr id="97331" name="Group 61">
              <a:extLst>
                <a:ext uri="{FF2B5EF4-FFF2-40B4-BE49-F238E27FC236}">
                  <a16:creationId xmlns:a16="http://schemas.microsoft.com/office/drawing/2014/main" id="{0DC5AF3E-9DA6-4B86-A48C-5581024E5E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7356" name="AutoShape 62">
                <a:extLst>
                  <a:ext uri="{FF2B5EF4-FFF2-40B4-BE49-F238E27FC236}">
                    <a16:creationId xmlns:a16="http://schemas.microsoft.com/office/drawing/2014/main" id="{D701435A-68C4-468C-BDAE-5F65FFE594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97357" name="AutoShape 63">
                <a:extLst>
                  <a:ext uri="{FF2B5EF4-FFF2-40B4-BE49-F238E27FC236}">
                    <a16:creationId xmlns:a16="http://schemas.microsoft.com/office/drawing/2014/main" id="{B7D87988-285B-40C7-BC88-B629FDE26D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" y="2586"/>
                <a:ext cx="706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97332" name="Rectangle 64">
              <a:extLst>
                <a:ext uri="{FF2B5EF4-FFF2-40B4-BE49-F238E27FC236}">
                  <a16:creationId xmlns:a16="http://schemas.microsoft.com/office/drawing/2014/main" id="{154E8AD5-078D-4A7E-9093-D4674E8B0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0"/>
              <a:ext cx="596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grpSp>
          <p:nvGrpSpPr>
            <p:cNvPr id="97333" name="Group 65">
              <a:extLst>
                <a:ext uri="{FF2B5EF4-FFF2-40B4-BE49-F238E27FC236}">
                  <a16:creationId xmlns:a16="http://schemas.microsoft.com/office/drawing/2014/main" id="{84A51E81-3982-4D68-A048-CA20E733F6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7354" name="AutoShape 66">
                <a:extLst>
                  <a:ext uri="{FF2B5EF4-FFF2-40B4-BE49-F238E27FC236}">
                    <a16:creationId xmlns:a16="http://schemas.microsoft.com/office/drawing/2014/main" id="{7A1FB9A3-3030-4531-8B5F-7BDB1D2F5C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97355" name="AutoShape 67">
                <a:extLst>
                  <a:ext uri="{FF2B5EF4-FFF2-40B4-BE49-F238E27FC236}">
                    <a16:creationId xmlns:a16="http://schemas.microsoft.com/office/drawing/2014/main" id="{B0BA55D7-1726-4F5D-B985-6BB0DF428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8"/>
                <a:ext cx="706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97334" name="Rectangle 68">
              <a:extLst>
                <a:ext uri="{FF2B5EF4-FFF2-40B4-BE49-F238E27FC236}">
                  <a16:creationId xmlns:a16="http://schemas.microsoft.com/office/drawing/2014/main" id="{E5C58F05-44D6-461D-924C-DCCC72AC9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362"/>
              <a:ext cx="596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97335" name="Rectangle 69">
              <a:extLst>
                <a:ext uri="{FF2B5EF4-FFF2-40B4-BE49-F238E27FC236}">
                  <a16:creationId xmlns:a16="http://schemas.microsoft.com/office/drawing/2014/main" id="{0717D0EC-6E87-487B-A0B7-A97BBE42B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1" y="1657"/>
              <a:ext cx="596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grpSp>
          <p:nvGrpSpPr>
            <p:cNvPr id="97336" name="Group 70">
              <a:extLst>
                <a:ext uri="{FF2B5EF4-FFF2-40B4-BE49-F238E27FC236}">
                  <a16:creationId xmlns:a16="http://schemas.microsoft.com/office/drawing/2014/main" id="{CE707622-8FCF-4BA4-B87C-210AA36841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7352" name="AutoShape 71">
                <a:extLst>
                  <a:ext uri="{FF2B5EF4-FFF2-40B4-BE49-F238E27FC236}">
                    <a16:creationId xmlns:a16="http://schemas.microsoft.com/office/drawing/2014/main" id="{57F90021-2838-45AF-958B-8B401EB622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18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97353" name="AutoShape 72">
                <a:extLst>
                  <a:ext uri="{FF2B5EF4-FFF2-40B4-BE49-F238E27FC236}">
                    <a16:creationId xmlns:a16="http://schemas.microsoft.com/office/drawing/2014/main" id="{6703AE4A-D9F5-4D10-9076-22A92775BF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2" cy="11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97337" name="Freeform 73">
              <a:extLst>
                <a:ext uri="{FF2B5EF4-FFF2-40B4-BE49-F238E27FC236}">
                  <a16:creationId xmlns:a16="http://schemas.microsoft.com/office/drawing/2014/main" id="{D875A5FB-5A48-482D-95E2-39A2568D0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97338" name="Group 74">
              <a:extLst>
                <a:ext uri="{FF2B5EF4-FFF2-40B4-BE49-F238E27FC236}">
                  <a16:creationId xmlns:a16="http://schemas.microsoft.com/office/drawing/2014/main" id="{C999F95C-1DA2-46D6-A80E-D4A9E7702F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7350" name="AutoShape 75">
                <a:extLst>
                  <a:ext uri="{FF2B5EF4-FFF2-40B4-BE49-F238E27FC236}">
                    <a16:creationId xmlns:a16="http://schemas.microsoft.com/office/drawing/2014/main" id="{A8E8DBF1-09C2-4788-99A6-7748D75EAF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5"/>
                <a:ext cx="730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97351" name="AutoShape 76">
                <a:extLst>
                  <a:ext uri="{FF2B5EF4-FFF2-40B4-BE49-F238E27FC236}">
                    <a16:creationId xmlns:a16="http://schemas.microsoft.com/office/drawing/2014/main" id="{D61510AE-432B-4B55-B895-F82A3E465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" y="2580"/>
                <a:ext cx="705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97339" name="Rectangle 77">
              <a:extLst>
                <a:ext uri="{FF2B5EF4-FFF2-40B4-BE49-F238E27FC236}">
                  <a16:creationId xmlns:a16="http://schemas.microsoft.com/office/drawing/2014/main" id="{0BCA2A5A-B031-45E0-B840-4E09E73C6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97340" name="Freeform 78">
              <a:extLst>
                <a:ext uri="{FF2B5EF4-FFF2-40B4-BE49-F238E27FC236}">
                  <a16:creationId xmlns:a16="http://schemas.microsoft.com/office/drawing/2014/main" id="{AD246749-84B4-41ED-9A9D-D5FAF67EF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7341" name="Freeform 79">
              <a:extLst>
                <a:ext uri="{FF2B5EF4-FFF2-40B4-BE49-F238E27FC236}">
                  <a16:creationId xmlns:a16="http://schemas.microsoft.com/office/drawing/2014/main" id="{D5B1109E-1C22-437E-B7EB-CA687F411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7342" name="Oval 80">
              <a:extLst>
                <a:ext uri="{FF2B5EF4-FFF2-40B4-BE49-F238E27FC236}">
                  <a16:creationId xmlns:a16="http://schemas.microsoft.com/office/drawing/2014/main" id="{E5A6DEE5-AE6F-4312-9A8C-E9185DC2E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" y="2613"/>
              <a:ext cx="51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97343" name="Freeform 81">
              <a:extLst>
                <a:ext uri="{FF2B5EF4-FFF2-40B4-BE49-F238E27FC236}">
                  <a16:creationId xmlns:a16="http://schemas.microsoft.com/office/drawing/2014/main" id="{D4481135-D986-4089-A5E5-34CF9FB3D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7344" name="AutoShape 82">
              <a:extLst>
                <a:ext uri="{FF2B5EF4-FFF2-40B4-BE49-F238E27FC236}">
                  <a16:creationId xmlns:a16="http://schemas.microsoft.com/office/drawing/2014/main" id="{3471297C-0A3A-493D-8731-987134CDC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203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97345" name="AutoShape 83">
              <a:extLst>
                <a:ext uri="{FF2B5EF4-FFF2-40B4-BE49-F238E27FC236}">
                  <a16:creationId xmlns:a16="http://schemas.microsoft.com/office/drawing/2014/main" id="{2AA32166-F94D-4FD5-B863-EDB5A96A8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2711"/>
              <a:ext cx="106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97346" name="Oval 84">
              <a:extLst>
                <a:ext uri="{FF2B5EF4-FFF2-40B4-BE49-F238E27FC236}">
                  <a16:creationId xmlns:a16="http://schemas.microsoft.com/office/drawing/2014/main" id="{4E3F6E2E-60CC-4DA3-9B8B-D856A1A1E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2" y="2385"/>
              <a:ext cx="152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97347" name="Oval 85">
              <a:extLst>
                <a:ext uri="{FF2B5EF4-FFF2-40B4-BE49-F238E27FC236}">
                  <a16:creationId xmlns:a16="http://schemas.microsoft.com/office/drawing/2014/main" id="{2E2C5629-4439-455E-AB6F-D97E75A35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385"/>
              <a:ext cx="162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348" name="Oval 86">
              <a:extLst>
                <a:ext uri="{FF2B5EF4-FFF2-40B4-BE49-F238E27FC236}">
                  <a16:creationId xmlns:a16="http://schemas.microsoft.com/office/drawing/2014/main" id="{1CDA9DE0-8B53-48B8-99D8-057154FCD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6" y="2378"/>
              <a:ext cx="152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97349" name="Rectangle 87">
              <a:extLst>
                <a:ext uri="{FF2B5EF4-FFF2-40B4-BE49-F238E27FC236}">
                  <a16:creationId xmlns:a16="http://schemas.microsoft.com/office/drawing/2014/main" id="{BB817D39-DA33-4725-BDE4-5F21A23D6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2"/>
              <a:ext cx="91" cy="76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97293" name="Group 88">
            <a:extLst>
              <a:ext uri="{FF2B5EF4-FFF2-40B4-BE49-F238E27FC236}">
                <a16:creationId xmlns:a16="http://schemas.microsoft.com/office/drawing/2014/main" id="{9C85788B-B4BA-413C-B4FC-7A722A3287DA}"/>
              </a:ext>
            </a:extLst>
          </p:cNvPr>
          <p:cNvGrpSpPr>
            <a:grpSpLocks/>
          </p:cNvGrpSpPr>
          <p:nvPr/>
        </p:nvGrpSpPr>
        <p:grpSpPr bwMode="auto">
          <a:xfrm>
            <a:off x="7385050" y="3503613"/>
            <a:ext cx="223838" cy="501650"/>
            <a:chOff x="4140" y="429"/>
            <a:chExt cx="1425" cy="2396"/>
          </a:xfrm>
        </p:grpSpPr>
        <p:sp>
          <p:nvSpPr>
            <p:cNvPr id="97294" name="Freeform 89">
              <a:extLst>
                <a:ext uri="{FF2B5EF4-FFF2-40B4-BE49-F238E27FC236}">
                  <a16:creationId xmlns:a16="http://schemas.microsoft.com/office/drawing/2014/main" id="{9EB51D23-370B-435A-A0E3-16C0C6D37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7295" name="Rectangle 90">
              <a:extLst>
                <a:ext uri="{FF2B5EF4-FFF2-40B4-BE49-F238E27FC236}">
                  <a16:creationId xmlns:a16="http://schemas.microsoft.com/office/drawing/2014/main" id="{C2E85098-5AB7-4F0E-BC8F-496B9C2F2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429"/>
              <a:ext cx="1041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97296" name="Freeform 91">
              <a:extLst>
                <a:ext uri="{FF2B5EF4-FFF2-40B4-BE49-F238E27FC236}">
                  <a16:creationId xmlns:a16="http://schemas.microsoft.com/office/drawing/2014/main" id="{A4688FB0-58AF-44E2-92A3-D08B6D4FD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7297" name="Freeform 92">
              <a:extLst>
                <a:ext uri="{FF2B5EF4-FFF2-40B4-BE49-F238E27FC236}">
                  <a16:creationId xmlns:a16="http://schemas.microsoft.com/office/drawing/2014/main" id="{4991DCFE-90F5-4615-88D6-836E5D02C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7298" name="Rectangle 93">
              <a:extLst>
                <a:ext uri="{FF2B5EF4-FFF2-40B4-BE49-F238E27FC236}">
                  <a16:creationId xmlns:a16="http://schemas.microsoft.com/office/drawing/2014/main" id="{CB5D2720-7366-4B6D-AABA-E77597692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6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grpSp>
          <p:nvGrpSpPr>
            <p:cNvPr id="97299" name="Group 94">
              <a:extLst>
                <a:ext uri="{FF2B5EF4-FFF2-40B4-BE49-F238E27FC236}">
                  <a16:creationId xmlns:a16="http://schemas.microsoft.com/office/drawing/2014/main" id="{5DB83699-BE29-4F57-937A-629104C6A3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7324" name="AutoShape 95">
                <a:extLst>
                  <a:ext uri="{FF2B5EF4-FFF2-40B4-BE49-F238E27FC236}">
                    <a16:creationId xmlns:a16="http://schemas.microsoft.com/office/drawing/2014/main" id="{D94A87BD-68B5-4FC3-BEB8-71A84596C5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97325" name="AutoShape 96">
                <a:extLst>
                  <a:ext uri="{FF2B5EF4-FFF2-40B4-BE49-F238E27FC236}">
                    <a16:creationId xmlns:a16="http://schemas.microsoft.com/office/drawing/2014/main" id="{B7D3B647-6745-4F11-932F-8387E2D328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" y="2586"/>
                <a:ext cx="706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97300" name="Rectangle 97">
              <a:extLst>
                <a:ext uri="{FF2B5EF4-FFF2-40B4-BE49-F238E27FC236}">
                  <a16:creationId xmlns:a16="http://schemas.microsoft.com/office/drawing/2014/main" id="{9D93F98C-A6B5-4FAE-A900-5B64B2DD4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0"/>
              <a:ext cx="596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grpSp>
          <p:nvGrpSpPr>
            <p:cNvPr id="97301" name="Group 98">
              <a:extLst>
                <a:ext uri="{FF2B5EF4-FFF2-40B4-BE49-F238E27FC236}">
                  <a16:creationId xmlns:a16="http://schemas.microsoft.com/office/drawing/2014/main" id="{B3FD28E2-B745-4D79-97BA-346473A297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7322" name="AutoShape 99">
                <a:extLst>
                  <a:ext uri="{FF2B5EF4-FFF2-40B4-BE49-F238E27FC236}">
                    <a16:creationId xmlns:a16="http://schemas.microsoft.com/office/drawing/2014/main" id="{D2924774-48AB-48CF-A7F7-79F8B1A15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97323" name="AutoShape 100">
                <a:extLst>
                  <a:ext uri="{FF2B5EF4-FFF2-40B4-BE49-F238E27FC236}">
                    <a16:creationId xmlns:a16="http://schemas.microsoft.com/office/drawing/2014/main" id="{7E1279C6-9FFC-4FE2-A7E6-D74771F8A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8"/>
                <a:ext cx="706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97302" name="Rectangle 101">
              <a:extLst>
                <a:ext uri="{FF2B5EF4-FFF2-40B4-BE49-F238E27FC236}">
                  <a16:creationId xmlns:a16="http://schemas.microsoft.com/office/drawing/2014/main" id="{2B868D7B-2F46-49BB-98A8-A38AE5CB1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362"/>
              <a:ext cx="596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97303" name="Rectangle 102">
              <a:extLst>
                <a:ext uri="{FF2B5EF4-FFF2-40B4-BE49-F238E27FC236}">
                  <a16:creationId xmlns:a16="http://schemas.microsoft.com/office/drawing/2014/main" id="{78E0A02F-50EA-4863-8CEA-62CDE1F6F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1" y="1657"/>
              <a:ext cx="596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grpSp>
          <p:nvGrpSpPr>
            <p:cNvPr id="97304" name="Group 103">
              <a:extLst>
                <a:ext uri="{FF2B5EF4-FFF2-40B4-BE49-F238E27FC236}">
                  <a16:creationId xmlns:a16="http://schemas.microsoft.com/office/drawing/2014/main" id="{C1B66016-0B33-4C53-8E9A-778AB24890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7320" name="AutoShape 104">
                <a:extLst>
                  <a:ext uri="{FF2B5EF4-FFF2-40B4-BE49-F238E27FC236}">
                    <a16:creationId xmlns:a16="http://schemas.microsoft.com/office/drawing/2014/main" id="{4243FE16-9533-4897-B18B-43C10E2C4A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18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97321" name="AutoShape 105">
                <a:extLst>
                  <a:ext uri="{FF2B5EF4-FFF2-40B4-BE49-F238E27FC236}">
                    <a16:creationId xmlns:a16="http://schemas.microsoft.com/office/drawing/2014/main" id="{37CE3A52-E4B1-4B13-8BED-89A42588AF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2" cy="11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97305" name="Freeform 106">
              <a:extLst>
                <a:ext uri="{FF2B5EF4-FFF2-40B4-BE49-F238E27FC236}">
                  <a16:creationId xmlns:a16="http://schemas.microsoft.com/office/drawing/2014/main" id="{5B864361-715F-4AF9-8C46-F6B6E52E4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97306" name="Group 107">
              <a:extLst>
                <a:ext uri="{FF2B5EF4-FFF2-40B4-BE49-F238E27FC236}">
                  <a16:creationId xmlns:a16="http://schemas.microsoft.com/office/drawing/2014/main" id="{583FEAE9-2CB2-4403-9CBA-CCBE7EBE2D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7318" name="AutoShape 108">
                <a:extLst>
                  <a:ext uri="{FF2B5EF4-FFF2-40B4-BE49-F238E27FC236}">
                    <a16:creationId xmlns:a16="http://schemas.microsoft.com/office/drawing/2014/main" id="{8865F892-6B71-4F9B-B6DF-539F6A66F5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5"/>
                <a:ext cx="730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97319" name="AutoShape 109">
                <a:extLst>
                  <a:ext uri="{FF2B5EF4-FFF2-40B4-BE49-F238E27FC236}">
                    <a16:creationId xmlns:a16="http://schemas.microsoft.com/office/drawing/2014/main" id="{532B2EFC-42F5-457E-B6D9-DDDBD2BA5E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" y="2580"/>
                <a:ext cx="705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97307" name="Rectangle 110">
              <a:extLst>
                <a:ext uri="{FF2B5EF4-FFF2-40B4-BE49-F238E27FC236}">
                  <a16:creationId xmlns:a16="http://schemas.microsoft.com/office/drawing/2014/main" id="{2CB20513-95E1-4F47-898C-4B4F9BD37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97308" name="Freeform 111">
              <a:extLst>
                <a:ext uri="{FF2B5EF4-FFF2-40B4-BE49-F238E27FC236}">
                  <a16:creationId xmlns:a16="http://schemas.microsoft.com/office/drawing/2014/main" id="{4EEDB118-5A3B-46E7-AAD3-0800DC91F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7309" name="Freeform 112">
              <a:extLst>
                <a:ext uri="{FF2B5EF4-FFF2-40B4-BE49-F238E27FC236}">
                  <a16:creationId xmlns:a16="http://schemas.microsoft.com/office/drawing/2014/main" id="{0F3D4C57-D1C6-40A8-A910-8422F7EB6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7310" name="Oval 113">
              <a:extLst>
                <a:ext uri="{FF2B5EF4-FFF2-40B4-BE49-F238E27FC236}">
                  <a16:creationId xmlns:a16="http://schemas.microsoft.com/office/drawing/2014/main" id="{BB285293-D5D4-4DF5-ADA4-350A1C982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" y="2613"/>
              <a:ext cx="51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97311" name="Freeform 114">
              <a:extLst>
                <a:ext uri="{FF2B5EF4-FFF2-40B4-BE49-F238E27FC236}">
                  <a16:creationId xmlns:a16="http://schemas.microsoft.com/office/drawing/2014/main" id="{99A7DB75-9329-414F-9B63-5A5C10AA7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7312" name="AutoShape 115">
              <a:extLst>
                <a:ext uri="{FF2B5EF4-FFF2-40B4-BE49-F238E27FC236}">
                  <a16:creationId xmlns:a16="http://schemas.microsoft.com/office/drawing/2014/main" id="{41582674-3309-45C7-9888-21B539C5C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203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97313" name="AutoShape 116">
              <a:extLst>
                <a:ext uri="{FF2B5EF4-FFF2-40B4-BE49-F238E27FC236}">
                  <a16:creationId xmlns:a16="http://schemas.microsoft.com/office/drawing/2014/main" id="{5E59297A-BE61-448F-A662-9D5726020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2711"/>
              <a:ext cx="106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97314" name="Oval 117">
              <a:extLst>
                <a:ext uri="{FF2B5EF4-FFF2-40B4-BE49-F238E27FC236}">
                  <a16:creationId xmlns:a16="http://schemas.microsoft.com/office/drawing/2014/main" id="{F2B04592-774D-48C1-809D-9728F0EF4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2" y="2385"/>
              <a:ext cx="152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97315" name="Oval 118">
              <a:extLst>
                <a:ext uri="{FF2B5EF4-FFF2-40B4-BE49-F238E27FC236}">
                  <a16:creationId xmlns:a16="http://schemas.microsoft.com/office/drawing/2014/main" id="{709B423F-04EA-4627-B3A1-EE1360961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385"/>
              <a:ext cx="162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316" name="Oval 119">
              <a:extLst>
                <a:ext uri="{FF2B5EF4-FFF2-40B4-BE49-F238E27FC236}">
                  <a16:creationId xmlns:a16="http://schemas.microsoft.com/office/drawing/2014/main" id="{9519B631-A1ED-4654-8F89-77BAF4B76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6" y="2378"/>
              <a:ext cx="152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97317" name="Rectangle 120">
              <a:extLst>
                <a:ext uri="{FF2B5EF4-FFF2-40B4-BE49-F238E27FC236}">
                  <a16:creationId xmlns:a16="http://schemas.microsoft.com/office/drawing/2014/main" id="{C4D7A852-B332-4C83-9918-5A052DC87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2"/>
              <a:ext cx="91" cy="76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4">
            <a:extLst>
              <a:ext uri="{FF2B5EF4-FFF2-40B4-BE49-F238E27FC236}">
                <a16:creationId xmlns:a16="http://schemas.microsoft.com/office/drawing/2014/main" id="{DD1C3627-E3BA-4A96-815F-9E6E10E1A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98307" name="Slide Number Placeholder 5">
            <a:extLst>
              <a:ext uri="{FF2B5EF4-FFF2-40B4-BE49-F238E27FC236}">
                <a16:creationId xmlns:a16="http://schemas.microsoft.com/office/drawing/2014/main" id="{3A55E890-7E35-44C0-B1CE-429AB38D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9913BC81-2E56-412A-A34D-E7C5B1AE773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98308" name="Picture 60" descr="underline_base">
            <a:extLst>
              <a:ext uri="{FF2B5EF4-FFF2-40B4-BE49-F238E27FC236}">
                <a16:creationId xmlns:a16="http://schemas.microsoft.com/office/drawing/2014/main" id="{B6264E97-9A04-42F2-8ADC-B0B2606F6A7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3" y="842963"/>
            <a:ext cx="6399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5" name="Rectangle 2">
            <a:extLst>
              <a:ext uri="{FF2B5EF4-FFF2-40B4-BE49-F238E27FC236}">
                <a16:creationId xmlns:a16="http://schemas.microsoft.com/office/drawing/2014/main" id="{5B30B8AD-5D54-4F8F-B064-C98DD0981D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63513"/>
            <a:ext cx="7772400" cy="963612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ea typeface="ＭＳ Ｐゴシック" charset="0"/>
                <a:cs typeface="+mj-cs"/>
              </a:rPr>
              <a:t>Pipelining: increased utilization</a:t>
            </a:r>
          </a:p>
        </p:txBody>
      </p:sp>
      <p:sp>
        <p:nvSpPr>
          <p:cNvPr id="98310" name="Line 3">
            <a:extLst>
              <a:ext uri="{FF2B5EF4-FFF2-40B4-BE49-F238E27FC236}">
                <a16:creationId xmlns:a16="http://schemas.microsoft.com/office/drawing/2014/main" id="{67CA738B-3A0D-4F04-B79B-FBCCA4D41F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1825" y="1778000"/>
            <a:ext cx="2082800" cy="9318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8311" name="Text Box 4">
            <a:extLst>
              <a:ext uri="{FF2B5EF4-FFF2-40B4-BE49-F238E27FC236}">
                <a16:creationId xmlns:a16="http://schemas.microsoft.com/office/drawing/2014/main" id="{77CD1982-852F-40C9-B068-35C5CBC35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71625"/>
            <a:ext cx="3086100" cy="3540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first packet bit transmitted, t = 0</a:t>
            </a:r>
            <a:endParaRPr lang="en-US" altLang="zh-TW" sz="1600">
              <a:latin typeface="Times New Roman" panose="02020603050405020304" pitchFamily="18" charset="0"/>
            </a:endParaRPr>
          </a:p>
        </p:txBody>
      </p:sp>
      <p:sp>
        <p:nvSpPr>
          <p:cNvPr id="98312" name="Line 5">
            <a:extLst>
              <a:ext uri="{FF2B5EF4-FFF2-40B4-BE49-F238E27FC236}">
                <a16:creationId xmlns:a16="http://schemas.microsoft.com/office/drawing/2014/main" id="{3C7AB2FA-ACC9-4721-99A8-AEFAE6E3B9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2300" y="1555750"/>
            <a:ext cx="20638" cy="32845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8313" name="Line 6">
            <a:extLst>
              <a:ext uri="{FF2B5EF4-FFF2-40B4-BE49-F238E27FC236}">
                <a16:creationId xmlns:a16="http://schemas.microsoft.com/office/drawing/2014/main" id="{0B453B39-FF8D-41AB-B90E-464BB1FCA5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3513" y="1568450"/>
            <a:ext cx="22225" cy="3351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8314" name="Text Box 7">
            <a:extLst>
              <a:ext uri="{FF2B5EF4-FFF2-40B4-BE49-F238E27FC236}">
                <a16:creationId xmlns:a16="http://schemas.microsoft.com/office/drawing/2014/main" id="{294A472D-3021-40A2-8D8C-940F90A4C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1925" y="1228725"/>
            <a:ext cx="1042988" cy="355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sender</a:t>
            </a:r>
            <a:endParaRPr lang="en-US" altLang="zh-TW" sz="1600">
              <a:latin typeface="Times New Roman" panose="02020603050405020304" pitchFamily="18" charset="0"/>
            </a:endParaRPr>
          </a:p>
        </p:txBody>
      </p:sp>
      <p:sp>
        <p:nvSpPr>
          <p:cNvPr id="98315" name="Text Box 8">
            <a:extLst>
              <a:ext uri="{FF2B5EF4-FFF2-40B4-BE49-F238E27FC236}">
                <a16:creationId xmlns:a16="http://schemas.microsoft.com/office/drawing/2014/main" id="{0BCDCC4E-8FEB-4A41-BD5E-ACD69D5A3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0" y="1228725"/>
            <a:ext cx="1108075" cy="355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receiver</a:t>
            </a:r>
            <a:endParaRPr lang="en-US" altLang="zh-TW" sz="1600">
              <a:latin typeface="Times New Roman" panose="02020603050405020304" pitchFamily="18" charset="0"/>
            </a:endParaRPr>
          </a:p>
        </p:txBody>
      </p:sp>
      <p:sp>
        <p:nvSpPr>
          <p:cNvPr id="98316" name="Line 9">
            <a:extLst>
              <a:ext uri="{FF2B5EF4-FFF2-40B4-BE49-F238E27FC236}">
                <a16:creationId xmlns:a16="http://schemas.microsoft.com/office/drawing/2014/main" id="{DC3276EA-CD63-48E4-9725-9DA366BE80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2938" y="1773238"/>
            <a:ext cx="2049462" cy="31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8317" name="Line 10">
            <a:extLst>
              <a:ext uri="{FF2B5EF4-FFF2-40B4-BE49-F238E27FC236}">
                <a16:creationId xmlns:a16="http://schemas.microsoft.com/office/drawing/2014/main" id="{DBC53ED0-469D-425E-9720-8CB94B1A36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9288" y="3905250"/>
            <a:ext cx="204946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8318" name="Freeform 11">
            <a:extLst>
              <a:ext uri="{FF2B5EF4-FFF2-40B4-BE49-F238E27FC236}">
                <a16:creationId xmlns:a16="http://schemas.microsoft.com/office/drawing/2014/main" id="{086D510B-3684-4639-A172-138300AF09EC}"/>
              </a:ext>
            </a:extLst>
          </p:cNvPr>
          <p:cNvSpPr>
            <a:spLocks/>
          </p:cNvSpPr>
          <p:nvPr/>
        </p:nvSpPr>
        <p:spPr bwMode="auto">
          <a:xfrm>
            <a:off x="3167063" y="1770063"/>
            <a:ext cx="2087562" cy="1169987"/>
          </a:xfrm>
          <a:custGeom>
            <a:avLst/>
            <a:gdLst>
              <a:gd name="T0" fmla="*/ 0 w 2902"/>
              <a:gd name="T1" fmla="*/ 0 h 1185"/>
              <a:gd name="T2" fmla="*/ 2147483646 w 2902"/>
              <a:gd name="T3" fmla="*/ 2147483646 h 1185"/>
              <a:gd name="T4" fmla="*/ 2147483646 w 2902"/>
              <a:gd name="T5" fmla="*/ 2147483646 h 1185"/>
              <a:gd name="T6" fmla="*/ 0 w 2902"/>
              <a:gd name="T7" fmla="*/ 2147483646 h 1185"/>
              <a:gd name="T8" fmla="*/ 0 w 2902"/>
              <a:gd name="T9" fmla="*/ 0 h 11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02"/>
              <a:gd name="T16" fmla="*/ 0 h 1185"/>
              <a:gd name="T17" fmla="*/ 2902 w 2902"/>
              <a:gd name="T18" fmla="*/ 1185 h 118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02" h="1185">
                <a:moveTo>
                  <a:pt x="0" y="0"/>
                </a:moveTo>
                <a:lnTo>
                  <a:pt x="2895" y="937"/>
                </a:lnTo>
                <a:lnTo>
                  <a:pt x="2902" y="1185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8319" name="Line 12">
            <a:extLst>
              <a:ext uri="{FF2B5EF4-FFF2-40B4-BE49-F238E27FC236}">
                <a16:creationId xmlns:a16="http://schemas.microsoft.com/office/drawing/2014/main" id="{2864EBEF-CCEF-4B7D-AE97-CE054E50BC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32125" y="1770063"/>
            <a:ext cx="123825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8320" name="Line 13">
            <a:extLst>
              <a:ext uri="{FF2B5EF4-FFF2-40B4-BE49-F238E27FC236}">
                <a16:creationId xmlns:a16="http://schemas.microsoft.com/office/drawing/2014/main" id="{3AF406EF-E088-4701-B26D-ABD8AA8642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32125" y="2014538"/>
            <a:ext cx="1238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8321" name="Text Box 14">
            <a:extLst>
              <a:ext uri="{FF2B5EF4-FFF2-40B4-BE49-F238E27FC236}">
                <a16:creationId xmlns:a16="http://schemas.microsoft.com/office/drawing/2014/main" id="{DBF4905A-1DB1-40F0-B8FD-3F102DD8F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1075" y="2754313"/>
            <a:ext cx="9652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RTT </a:t>
            </a:r>
            <a:endParaRPr lang="en-US" altLang="zh-TW" sz="1600">
              <a:latin typeface="Times New Roman" panose="02020603050405020304" pitchFamily="18" charset="0"/>
            </a:endParaRPr>
          </a:p>
        </p:txBody>
      </p:sp>
      <p:sp>
        <p:nvSpPr>
          <p:cNvPr id="98322" name="Line 15">
            <a:extLst>
              <a:ext uri="{FF2B5EF4-FFF2-40B4-BE49-F238E27FC236}">
                <a16:creationId xmlns:a16="http://schemas.microsoft.com/office/drawing/2014/main" id="{55C9C229-A831-4E01-B81B-8535FF4332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5463" y="3065463"/>
            <a:ext cx="9525" cy="8207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8323" name="Line 16">
            <a:extLst>
              <a:ext uri="{FF2B5EF4-FFF2-40B4-BE49-F238E27FC236}">
                <a16:creationId xmlns:a16="http://schemas.microsoft.com/office/drawing/2014/main" id="{850E3075-7E61-4983-9AD6-00D6182162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70225" y="2036763"/>
            <a:ext cx="1588" cy="7762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8324" name="Text Box 17">
            <a:extLst>
              <a:ext uri="{FF2B5EF4-FFF2-40B4-BE49-F238E27FC236}">
                <a16:creationId xmlns:a16="http://schemas.microsoft.com/office/drawing/2014/main" id="{55396C89-FA05-48A6-89A6-FF7A9F7AD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" y="1852613"/>
            <a:ext cx="274002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last bit transmitted, t = L / R</a:t>
            </a:r>
            <a:endParaRPr lang="en-US" altLang="zh-TW" sz="1600">
              <a:latin typeface="Times New Roman" panose="02020603050405020304" pitchFamily="18" charset="0"/>
            </a:endParaRPr>
          </a:p>
        </p:txBody>
      </p:sp>
      <p:sp>
        <p:nvSpPr>
          <p:cNvPr id="98325" name="Line 18">
            <a:extLst>
              <a:ext uri="{FF2B5EF4-FFF2-40B4-BE49-F238E27FC236}">
                <a16:creationId xmlns:a16="http://schemas.microsoft.com/office/drawing/2014/main" id="{5A9968CA-A769-41E1-8EA9-92AAE7F242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2400" y="2695575"/>
            <a:ext cx="1254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8326" name="Text Box 19">
            <a:extLst>
              <a:ext uri="{FF2B5EF4-FFF2-40B4-BE49-F238E27FC236}">
                <a16:creationId xmlns:a16="http://schemas.microsoft.com/office/drawing/2014/main" id="{8D77874E-B897-43C2-8EDF-B8BBDA31E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00" y="2517775"/>
            <a:ext cx="26416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first packet bit arrives</a:t>
            </a:r>
            <a:endParaRPr lang="en-US" altLang="zh-TW" sz="1600">
              <a:latin typeface="Times New Roman" panose="02020603050405020304" pitchFamily="18" charset="0"/>
            </a:endParaRPr>
          </a:p>
        </p:txBody>
      </p:sp>
      <p:sp>
        <p:nvSpPr>
          <p:cNvPr id="98327" name="Line 20">
            <a:extLst>
              <a:ext uri="{FF2B5EF4-FFF2-40B4-BE49-F238E27FC236}">
                <a16:creationId xmlns:a16="http://schemas.microsoft.com/office/drawing/2014/main" id="{BD9B697F-FC47-4EF9-951B-9C79B7E6AEA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4625" y="2946400"/>
            <a:ext cx="1190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8328" name="Text Box 21">
            <a:extLst>
              <a:ext uri="{FF2B5EF4-FFF2-40B4-BE49-F238E27FC236}">
                <a16:creationId xmlns:a16="http://schemas.microsoft.com/office/drawing/2014/main" id="{E91CE458-D7C2-4C03-A0DC-370292448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3363" y="2770188"/>
            <a:ext cx="35814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last packet bit arrives, send ACK</a:t>
            </a:r>
            <a:endParaRPr lang="en-US" altLang="zh-TW" sz="1600">
              <a:latin typeface="Times New Roman" panose="02020603050405020304" pitchFamily="18" charset="0"/>
            </a:endParaRPr>
          </a:p>
        </p:txBody>
      </p:sp>
      <p:sp>
        <p:nvSpPr>
          <p:cNvPr id="98329" name="Text Box 22">
            <a:extLst>
              <a:ext uri="{FF2B5EF4-FFF2-40B4-BE49-F238E27FC236}">
                <a16:creationId xmlns:a16="http://schemas.microsoft.com/office/drawing/2014/main" id="{8A276CB9-5FAC-4EAD-890B-85E79D3C9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713" y="3562350"/>
            <a:ext cx="2635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ACK arrives, send next 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packet, t = RTT + L / R</a:t>
            </a:r>
            <a:endParaRPr lang="en-US" altLang="zh-TW" sz="1600">
              <a:latin typeface="Times New Roman" panose="02020603050405020304" pitchFamily="18" charset="0"/>
            </a:endParaRPr>
          </a:p>
        </p:txBody>
      </p:sp>
      <p:grpSp>
        <p:nvGrpSpPr>
          <p:cNvPr id="98330" name="Group 23">
            <a:extLst>
              <a:ext uri="{FF2B5EF4-FFF2-40B4-BE49-F238E27FC236}">
                <a16:creationId xmlns:a16="http://schemas.microsoft.com/office/drawing/2014/main" id="{8B3F3D8F-6FB2-4A89-B0EC-CB2F1C440735}"/>
              </a:ext>
            </a:extLst>
          </p:cNvPr>
          <p:cNvGrpSpPr>
            <a:grpSpLocks/>
          </p:cNvGrpSpPr>
          <p:nvPr/>
        </p:nvGrpSpPr>
        <p:grpSpPr bwMode="auto">
          <a:xfrm>
            <a:off x="3043238" y="3892550"/>
            <a:ext cx="1466850" cy="608013"/>
            <a:chOff x="12502" y="21425"/>
            <a:chExt cx="3400" cy="1025"/>
          </a:xfrm>
        </p:grpSpPr>
        <p:sp>
          <p:nvSpPr>
            <p:cNvPr id="98359" name="Line 24">
              <a:extLst>
                <a:ext uri="{FF2B5EF4-FFF2-40B4-BE49-F238E27FC236}">
                  <a16:creationId xmlns:a16="http://schemas.microsoft.com/office/drawing/2014/main" id="{301BA824-38A7-4190-8DD9-F8911537E4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502" y="21425"/>
              <a:ext cx="288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60" name="Freeform 25">
              <a:extLst>
                <a:ext uri="{FF2B5EF4-FFF2-40B4-BE49-F238E27FC236}">
                  <a16:creationId xmlns:a16="http://schemas.microsoft.com/office/drawing/2014/main" id="{0D74DFA5-7AF7-4A1C-B362-644609396B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7" y="21438"/>
              <a:ext cx="3075" cy="987"/>
            </a:xfrm>
            <a:custGeom>
              <a:avLst/>
              <a:gdLst>
                <a:gd name="T0" fmla="*/ 0 w 1845"/>
                <a:gd name="T1" fmla="*/ 0 h 592"/>
                <a:gd name="T2" fmla="*/ 2147483646 w 1845"/>
                <a:gd name="T3" fmla="*/ 2147483646 h 592"/>
                <a:gd name="T4" fmla="*/ 2147483646 w 1845"/>
                <a:gd name="T5" fmla="*/ 2147483646 h 592"/>
                <a:gd name="T6" fmla="*/ 0 w 1845"/>
                <a:gd name="T7" fmla="*/ 2147483646 h 592"/>
                <a:gd name="T8" fmla="*/ 0 w 1845"/>
                <a:gd name="T9" fmla="*/ 0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45"/>
                <a:gd name="T16" fmla="*/ 0 h 592"/>
                <a:gd name="T17" fmla="*/ 1845 w 1845"/>
                <a:gd name="T18" fmla="*/ 592 h 5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98361" name="Group 26">
              <a:extLst>
                <a:ext uri="{FF2B5EF4-FFF2-40B4-BE49-F238E27FC236}">
                  <a16:creationId xmlns:a16="http://schemas.microsoft.com/office/drawing/2014/main" id="{3275D732-1854-468C-8858-AD0F0C1A6D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15" y="21425"/>
              <a:ext cx="2776" cy="913"/>
              <a:chOff x="12315" y="13225"/>
              <a:chExt cx="2775" cy="913"/>
            </a:xfrm>
          </p:grpSpPr>
          <p:sp>
            <p:nvSpPr>
              <p:cNvPr id="98364" name="Line 27">
                <a:extLst>
                  <a:ext uri="{FF2B5EF4-FFF2-40B4-BE49-F238E27FC236}">
                    <a16:creationId xmlns:a16="http://schemas.microsoft.com/office/drawing/2014/main" id="{C73D1E78-5E2C-4811-8E45-321E34A8E2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15" y="13225"/>
                <a:ext cx="1587" cy="5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365" name="Line 28">
                <a:extLst>
                  <a:ext uri="{FF2B5EF4-FFF2-40B4-BE49-F238E27FC236}">
                    <a16:creationId xmlns:a16="http://schemas.microsoft.com/office/drawing/2014/main" id="{CE313B99-263F-48AA-BB1E-25330762A2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15" y="13737"/>
                <a:ext cx="1175" cy="4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98362" name="Line 29">
              <a:extLst>
                <a:ext uri="{FF2B5EF4-FFF2-40B4-BE49-F238E27FC236}">
                  <a16:creationId xmlns:a16="http://schemas.microsoft.com/office/drawing/2014/main" id="{92441C28-8554-4528-8367-B9DCF15BDF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15" y="21837"/>
              <a:ext cx="687" cy="2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63" name="Line 30">
              <a:extLst>
                <a:ext uri="{FF2B5EF4-FFF2-40B4-BE49-F238E27FC236}">
                  <a16:creationId xmlns:a16="http://schemas.microsoft.com/office/drawing/2014/main" id="{C9881BCA-EE84-44EF-B527-DDF17E504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15" y="22048"/>
              <a:ext cx="1175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98331" name="Freeform 31">
            <a:extLst>
              <a:ext uri="{FF2B5EF4-FFF2-40B4-BE49-F238E27FC236}">
                <a16:creationId xmlns:a16="http://schemas.microsoft.com/office/drawing/2014/main" id="{DC82A7DF-548F-4CB5-99C1-E5A7DDC48B20}"/>
              </a:ext>
            </a:extLst>
          </p:cNvPr>
          <p:cNvSpPr>
            <a:spLocks/>
          </p:cNvSpPr>
          <p:nvPr/>
        </p:nvSpPr>
        <p:spPr bwMode="auto">
          <a:xfrm>
            <a:off x="3171825" y="2022475"/>
            <a:ext cx="2087563" cy="1168400"/>
          </a:xfrm>
          <a:custGeom>
            <a:avLst/>
            <a:gdLst>
              <a:gd name="T0" fmla="*/ 0 w 2902"/>
              <a:gd name="T1" fmla="*/ 0 h 1185"/>
              <a:gd name="T2" fmla="*/ 2147483646 w 2902"/>
              <a:gd name="T3" fmla="*/ 2147483646 h 1185"/>
              <a:gd name="T4" fmla="*/ 2147483646 w 2902"/>
              <a:gd name="T5" fmla="*/ 2147483646 h 1185"/>
              <a:gd name="T6" fmla="*/ 0 w 2902"/>
              <a:gd name="T7" fmla="*/ 2147483646 h 1185"/>
              <a:gd name="T8" fmla="*/ 0 w 2902"/>
              <a:gd name="T9" fmla="*/ 0 h 11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02"/>
              <a:gd name="T16" fmla="*/ 0 h 1185"/>
              <a:gd name="T17" fmla="*/ 2902 w 2902"/>
              <a:gd name="T18" fmla="*/ 1185 h 118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02" h="1185">
                <a:moveTo>
                  <a:pt x="0" y="0"/>
                </a:moveTo>
                <a:lnTo>
                  <a:pt x="2895" y="937"/>
                </a:lnTo>
                <a:lnTo>
                  <a:pt x="2902" y="1185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8332" name="Freeform 32">
            <a:extLst>
              <a:ext uri="{FF2B5EF4-FFF2-40B4-BE49-F238E27FC236}">
                <a16:creationId xmlns:a16="http://schemas.microsoft.com/office/drawing/2014/main" id="{7471962C-9AC1-4B44-A642-FBEB88A53233}"/>
              </a:ext>
            </a:extLst>
          </p:cNvPr>
          <p:cNvSpPr>
            <a:spLocks/>
          </p:cNvSpPr>
          <p:nvPr/>
        </p:nvSpPr>
        <p:spPr bwMode="auto">
          <a:xfrm>
            <a:off x="3171825" y="2273300"/>
            <a:ext cx="2087563" cy="1168400"/>
          </a:xfrm>
          <a:custGeom>
            <a:avLst/>
            <a:gdLst>
              <a:gd name="T0" fmla="*/ 0 w 2902"/>
              <a:gd name="T1" fmla="*/ 0 h 1185"/>
              <a:gd name="T2" fmla="*/ 2147483646 w 2902"/>
              <a:gd name="T3" fmla="*/ 2147483646 h 1185"/>
              <a:gd name="T4" fmla="*/ 2147483646 w 2902"/>
              <a:gd name="T5" fmla="*/ 2147483646 h 1185"/>
              <a:gd name="T6" fmla="*/ 0 w 2902"/>
              <a:gd name="T7" fmla="*/ 2147483646 h 1185"/>
              <a:gd name="T8" fmla="*/ 0 w 2902"/>
              <a:gd name="T9" fmla="*/ 0 h 11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02"/>
              <a:gd name="T16" fmla="*/ 0 h 1185"/>
              <a:gd name="T17" fmla="*/ 2902 w 2902"/>
              <a:gd name="T18" fmla="*/ 1185 h 118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02" h="1185">
                <a:moveTo>
                  <a:pt x="0" y="0"/>
                </a:moveTo>
                <a:lnTo>
                  <a:pt x="2895" y="937"/>
                </a:lnTo>
                <a:lnTo>
                  <a:pt x="2902" y="1185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8333" name="Line 33">
            <a:extLst>
              <a:ext uri="{FF2B5EF4-FFF2-40B4-BE49-F238E27FC236}">
                <a16:creationId xmlns:a16="http://schemas.microsoft.com/office/drawing/2014/main" id="{4ED0B5B2-92C5-49EA-AFF3-515437CB50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89288" y="2954338"/>
            <a:ext cx="2065337" cy="931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8334" name="Line 34">
            <a:extLst>
              <a:ext uri="{FF2B5EF4-FFF2-40B4-BE49-F238E27FC236}">
                <a16:creationId xmlns:a16="http://schemas.microsoft.com/office/drawing/2014/main" id="{9B698981-66F9-40DE-9F6D-13FE5B30DD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89288" y="3205163"/>
            <a:ext cx="2065337" cy="931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98335" name="Group 35">
            <a:extLst>
              <a:ext uri="{FF2B5EF4-FFF2-40B4-BE49-F238E27FC236}">
                <a16:creationId xmlns:a16="http://schemas.microsoft.com/office/drawing/2014/main" id="{BD4BBD37-1EA0-46CA-92AA-B99A31816CBE}"/>
              </a:ext>
            </a:extLst>
          </p:cNvPr>
          <p:cNvGrpSpPr>
            <a:grpSpLocks/>
          </p:cNvGrpSpPr>
          <p:nvPr/>
        </p:nvGrpSpPr>
        <p:grpSpPr bwMode="auto">
          <a:xfrm>
            <a:off x="3032125" y="4130675"/>
            <a:ext cx="1466850" cy="606425"/>
            <a:chOff x="12502" y="21425"/>
            <a:chExt cx="3400" cy="1025"/>
          </a:xfrm>
        </p:grpSpPr>
        <p:sp>
          <p:nvSpPr>
            <p:cNvPr id="98352" name="Line 36">
              <a:extLst>
                <a:ext uri="{FF2B5EF4-FFF2-40B4-BE49-F238E27FC236}">
                  <a16:creationId xmlns:a16="http://schemas.microsoft.com/office/drawing/2014/main" id="{069384C0-B50A-4BAF-991F-50D158E6DE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502" y="21425"/>
              <a:ext cx="288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53" name="Freeform 37">
              <a:extLst>
                <a:ext uri="{FF2B5EF4-FFF2-40B4-BE49-F238E27FC236}">
                  <a16:creationId xmlns:a16="http://schemas.microsoft.com/office/drawing/2014/main" id="{1362CFBB-EFDB-4456-9E96-FC5412E59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7" y="21438"/>
              <a:ext cx="3075" cy="987"/>
            </a:xfrm>
            <a:custGeom>
              <a:avLst/>
              <a:gdLst>
                <a:gd name="T0" fmla="*/ 0 w 1845"/>
                <a:gd name="T1" fmla="*/ 0 h 592"/>
                <a:gd name="T2" fmla="*/ 2147483646 w 1845"/>
                <a:gd name="T3" fmla="*/ 2147483646 h 592"/>
                <a:gd name="T4" fmla="*/ 2147483646 w 1845"/>
                <a:gd name="T5" fmla="*/ 2147483646 h 592"/>
                <a:gd name="T6" fmla="*/ 0 w 1845"/>
                <a:gd name="T7" fmla="*/ 2147483646 h 592"/>
                <a:gd name="T8" fmla="*/ 0 w 1845"/>
                <a:gd name="T9" fmla="*/ 0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45"/>
                <a:gd name="T16" fmla="*/ 0 h 592"/>
                <a:gd name="T17" fmla="*/ 1845 w 1845"/>
                <a:gd name="T18" fmla="*/ 592 h 5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98354" name="Group 38">
              <a:extLst>
                <a:ext uri="{FF2B5EF4-FFF2-40B4-BE49-F238E27FC236}">
                  <a16:creationId xmlns:a16="http://schemas.microsoft.com/office/drawing/2014/main" id="{770E239B-338B-41D1-B9B6-B8DD3A8C0B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15" y="21425"/>
              <a:ext cx="2776" cy="913"/>
              <a:chOff x="12315" y="13225"/>
              <a:chExt cx="2775" cy="913"/>
            </a:xfrm>
          </p:grpSpPr>
          <p:sp>
            <p:nvSpPr>
              <p:cNvPr id="98357" name="Line 39">
                <a:extLst>
                  <a:ext uri="{FF2B5EF4-FFF2-40B4-BE49-F238E27FC236}">
                    <a16:creationId xmlns:a16="http://schemas.microsoft.com/office/drawing/2014/main" id="{02DC59D3-52DA-46B3-9611-8E9C9D18C6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15" y="13225"/>
                <a:ext cx="1587" cy="5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358" name="Line 40">
                <a:extLst>
                  <a:ext uri="{FF2B5EF4-FFF2-40B4-BE49-F238E27FC236}">
                    <a16:creationId xmlns:a16="http://schemas.microsoft.com/office/drawing/2014/main" id="{8D55BF53-6EFE-4D08-9AFE-1F53057BC0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15" y="13737"/>
                <a:ext cx="1175" cy="4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98355" name="Line 41">
              <a:extLst>
                <a:ext uri="{FF2B5EF4-FFF2-40B4-BE49-F238E27FC236}">
                  <a16:creationId xmlns:a16="http://schemas.microsoft.com/office/drawing/2014/main" id="{73646D46-EE22-4A4A-9758-B7A4016B5B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15" y="21837"/>
              <a:ext cx="687" cy="2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56" name="Line 42">
              <a:extLst>
                <a:ext uri="{FF2B5EF4-FFF2-40B4-BE49-F238E27FC236}">
                  <a16:creationId xmlns:a16="http://schemas.microsoft.com/office/drawing/2014/main" id="{61BF4440-F9C7-4933-B3AE-BF0D177CCA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15" y="22048"/>
              <a:ext cx="1175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98336" name="Group 43">
            <a:extLst>
              <a:ext uri="{FF2B5EF4-FFF2-40B4-BE49-F238E27FC236}">
                <a16:creationId xmlns:a16="http://schemas.microsoft.com/office/drawing/2014/main" id="{A14107C8-6858-4013-949F-901AE57FF17C}"/>
              </a:ext>
            </a:extLst>
          </p:cNvPr>
          <p:cNvGrpSpPr>
            <a:grpSpLocks/>
          </p:cNvGrpSpPr>
          <p:nvPr/>
        </p:nvGrpSpPr>
        <p:grpSpPr bwMode="auto">
          <a:xfrm>
            <a:off x="3043238" y="4381500"/>
            <a:ext cx="1466850" cy="606425"/>
            <a:chOff x="12502" y="21425"/>
            <a:chExt cx="3400" cy="1025"/>
          </a:xfrm>
        </p:grpSpPr>
        <p:sp>
          <p:nvSpPr>
            <p:cNvPr id="98345" name="Line 44">
              <a:extLst>
                <a:ext uri="{FF2B5EF4-FFF2-40B4-BE49-F238E27FC236}">
                  <a16:creationId xmlns:a16="http://schemas.microsoft.com/office/drawing/2014/main" id="{AD44104F-31E8-4547-9016-3702F5586E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502" y="21425"/>
              <a:ext cx="288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46" name="Freeform 45">
              <a:extLst>
                <a:ext uri="{FF2B5EF4-FFF2-40B4-BE49-F238E27FC236}">
                  <a16:creationId xmlns:a16="http://schemas.microsoft.com/office/drawing/2014/main" id="{1939807D-8AF1-4610-AB36-558E54253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7" y="21438"/>
              <a:ext cx="3075" cy="987"/>
            </a:xfrm>
            <a:custGeom>
              <a:avLst/>
              <a:gdLst>
                <a:gd name="T0" fmla="*/ 0 w 1845"/>
                <a:gd name="T1" fmla="*/ 0 h 592"/>
                <a:gd name="T2" fmla="*/ 2147483646 w 1845"/>
                <a:gd name="T3" fmla="*/ 2147483646 h 592"/>
                <a:gd name="T4" fmla="*/ 2147483646 w 1845"/>
                <a:gd name="T5" fmla="*/ 2147483646 h 592"/>
                <a:gd name="T6" fmla="*/ 0 w 1845"/>
                <a:gd name="T7" fmla="*/ 2147483646 h 592"/>
                <a:gd name="T8" fmla="*/ 0 w 1845"/>
                <a:gd name="T9" fmla="*/ 0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45"/>
                <a:gd name="T16" fmla="*/ 0 h 592"/>
                <a:gd name="T17" fmla="*/ 1845 w 1845"/>
                <a:gd name="T18" fmla="*/ 592 h 5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98347" name="Group 46">
              <a:extLst>
                <a:ext uri="{FF2B5EF4-FFF2-40B4-BE49-F238E27FC236}">
                  <a16:creationId xmlns:a16="http://schemas.microsoft.com/office/drawing/2014/main" id="{75A15090-1E5E-48F7-B77C-7B8414BE2C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15" y="21425"/>
              <a:ext cx="2776" cy="913"/>
              <a:chOff x="12315" y="13225"/>
              <a:chExt cx="2775" cy="913"/>
            </a:xfrm>
          </p:grpSpPr>
          <p:sp>
            <p:nvSpPr>
              <p:cNvPr id="98350" name="Line 47">
                <a:extLst>
                  <a:ext uri="{FF2B5EF4-FFF2-40B4-BE49-F238E27FC236}">
                    <a16:creationId xmlns:a16="http://schemas.microsoft.com/office/drawing/2014/main" id="{27E41423-0C25-4572-84F7-AF61B89396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15" y="13225"/>
                <a:ext cx="1587" cy="5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351" name="Line 48">
                <a:extLst>
                  <a:ext uri="{FF2B5EF4-FFF2-40B4-BE49-F238E27FC236}">
                    <a16:creationId xmlns:a16="http://schemas.microsoft.com/office/drawing/2014/main" id="{A05F2567-E931-4257-9475-60EEB74A3A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15" y="13737"/>
                <a:ext cx="1175" cy="4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98348" name="Line 49">
              <a:extLst>
                <a:ext uri="{FF2B5EF4-FFF2-40B4-BE49-F238E27FC236}">
                  <a16:creationId xmlns:a16="http://schemas.microsoft.com/office/drawing/2014/main" id="{88B93381-201F-4DB9-A92F-09678D44A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15" y="21837"/>
              <a:ext cx="687" cy="2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49" name="Line 50">
              <a:extLst>
                <a:ext uri="{FF2B5EF4-FFF2-40B4-BE49-F238E27FC236}">
                  <a16:creationId xmlns:a16="http://schemas.microsoft.com/office/drawing/2014/main" id="{92429F83-96FD-4E7F-912C-24BBBA9097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15" y="22048"/>
              <a:ext cx="1175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98337" name="Line 51">
            <a:extLst>
              <a:ext uri="{FF2B5EF4-FFF2-40B4-BE49-F238E27FC236}">
                <a16:creationId xmlns:a16="http://schemas.microsoft.com/office/drawing/2014/main" id="{07832DE7-B7BD-4977-B280-EB16B8F769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4050" y="3457575"/>
            <a:ext cx="2065338" cy="9318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8338" name="Text Box 52">
            <a:extLst>
              <a:ext uri="{FF2B5EF4-FFF2-40B4-BE49-F238E27FC236}">
                <a16:creationId xmlns:a16="http://schemas.microsoft.com/office/drawing/2014/main" id="{4AD0AB0D-83E3-46BD-9D42-548F00D3E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188" y="3024188"/>
            <a:ext cx="383381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last bit of 2</a:t>
            </a:r>
            <a:r>
              <a:rPr lang="en-US" altLang="zh-TW" sz="1600" baseline="30000">
                <a:latin typeface="Arial" panose="020B0604020202020204" pitchFamily="34" charset="0"/>
              </a:rPr>
              <a:t>nd</a:t>
            </a:r>
            <a:r>
              <a:rPr lang="en-US" altLang="zh-TW" sz="1600">
                <a:latin typeface="Arial" panose="020B0604020202020204" pitchFamily="34" charset="0"/>
              </a:rPr>
              <a:t> packet arrives, send ACK</a:t>
            </a:r>
            <a:endParaRPr lang="en-US" altLang="zh-TW" sz="1600">
              <a:latin typeface="Times New Roman" panose="02020603050405020304" pitchFamily="18" charset="0"/>
            </a:endParaRPr>
          </a:p>
        </p:txBody>
      </p:sp>
      <p:sp>
        <p:nvSpPr>
          <p:cNvPr id="98339" name="Line 53">
            <a:extLst>
              <a:ext uri="{FF2B5EF4-FFF2-40B4-BE49-F238E27FC236}">
                <a16:creationId xmlns:a16="http://schemas.microsoft.com/office/drawing/2014/main" id="{E80D27AE-475D-40D8-A4CC-A191BB7528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4625" y="3182938"/>
            <a:ext cx="1127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8340" name="Line 54">
            <a:extLst>
              <a:ext uri="{FF2B5EF4-FFF2-40B4-BE49-F238E27FC236}">
                <a16:creationId xmlns:a16="http://schemas.microsoft.com/office/drawing/2014/main" id="{AAF55B82-145A-42CD-92C6-4DFD0F9C32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5738" y="3435350"/>
            <a:ext cx="1127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8341" name="Text Box 55">
            <a:extLst>
              <a:ext uri="{FF2B5EF4-FFF2-40B4-BE49-F238E27FC236}">
                <a16:creationId xmlns:a16="http://schemas.microsoft.com/office/drawing/2014/main" id="{9FB2C2BF-D3A5-4B89-982C-5A0B6A278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5425" y="3257550"/>
            <a:ext cx="38385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last bit of 3</a:t>
            </a:r>
            <a:r>
              <a:rPr lang="en-US" altLang="zh-TW" sz="1600" baseline="30000">
                <a:latin typeface="Arial" panose="020B0604020202020204" pitchFamily="34" charset="0"/>
              </a:rPr>
              <a:t>rd</a:t>
            </a:r>
            <a:r>
              <a:rPr lang="en-US" altLang="zh-TW" sz="1600">
                <a:latin typeface="Arial" panose="020B0604020202020204" pitchFamily="34" charset="0"/>
              </a:rPr>
              <a:t> packet arrives, send ACK</a:t>
            </a:r>
            <a:endParaRPr lang="en-US" altLang="zh-TW" sz="1600">
              <a:latin typeface="Times New Roman" panose="02020603050405020304" pitchFamily="18" charset="0"/>
            </a:endParaRPr>
          </a:p>
        </p:txBody>
      </p:sp>
      <p:sp>
        <p:nvSpPr>
          <p:cNvPr id="98342" name="Text Box 57">
            <a:extLst>
              <a:ext uri="{FF2B5EF4-FFF2-40B4-BE49-F238E27FC236}">
                <a16:creationId xmlns:a16="http://schemas.microsoft.com/office/drawing/2014/main" id="{FCF218E7-EA8E-49A8-AD4F-98B2194C2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150" y="4152900"/>
            <a:ext cx="34607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solidFill>
                  <a:srgbClr val="CC0000"/>
                </a:solidFill>
                <a:latin typeface="Arial" panose="020B0604020202020204" pitchFamily="34" charset="0"/>
              </a:rPr>
              <a:t>3-packet pipelining increases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solidFill>
                  <a:srgbClr val="CC0000"/>
                </a:solidFill>
                <a:latin typeface="Arial" panose="020B0604020202020204" pitchFamily="34" charset="0"/>
              </a:rPr>
              <a:t> utilization by a factor of 3!</a:t>
            </a:r>
          </a:p>
        </p:txBody>
      </p:sp>
      <p:sp>
        <p:nvSpPr>
          <p:cNvPr id="98343" name="Line 58">
            <a:extLst>
              <a:ext uri="{FF2B5EF4-FFF2-40B4-BE49-F238E27FC236}">
                <a16:creationId xmlns:a16="http://schemas.microsoft.com/office/drawing/2014/main" id="{EFFF5F50-5F71-4DE6-8ECD-BA6A3E3BF6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86513" y="4821238"/>
            <a:ext cx="125412" cy="5127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aphicFrame>
        <p:nvGraphicFramePr>
          <p:cNvPr id="98344" name="Object 61">
            <a:extLst>
              <a:ext uri="{FF2B5EF4-FFF2-40B4-BE49-F238E27FC236}">
                <a16:creationId xmlns:a16="http://schemas.microsoft.com/office/drawing/2014/main" id="{28BC4525-3FB9-44B2-B0D4-0D5035BCDA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5750" y="5087938"/>
          <a:ext cx="674846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3581400" imgH="495300" progId="Word.Picture.8">
                  <p:embed/>
                </p:oleObj>
              </mc:Choice>
              <mc:Fallback>
                <p:oleObj name="Picture" r:id="rId4" imgW="3581400" imgH="495300" progId="Word.Picture.8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0" y="5087938"/>
                        <a:ext cx="6748463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標題 1">
            <a:extLst>
              <a:ext uri="{FF2B5EF4-FFF2-40B4-BE49-F238E27FC236}">
                <a16:creationId xmlns:a16="http://schemas.microsoft.com/office/drawing/2014/main" id="{296FD0AB-BF5F-41F1-BE2A-18F69941E09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Pipelined Protocols</a:t>
            </a:r>
            <a:endParaRPr lang="zh-TW" altLang="en-US"/>
          </a:p>
        </p:txBody>
      </p:sp>
      <p:sp>
        <p:nvSpPr>
          <p:cNvPr id="99331" name="副標題 2">
            <a:extLst>
              <a:ext uri="{FF2B5EF4-FFF2-40B4-BE49-F238E27FC236}">
                <a16:creationId xmlns:a16="http://schemas.microsoft.com/office/drawing/2014/main" id="{548C7702-1459-47C8-95CC-1375D664115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TW"/>
              <a:t>Go-back-N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TW"/>
              <a:t>Selective Repeat</a:t>
            </a:r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5">
            <a:extLst>
              <a:ext uri="{FF2B5EF4-FFF2-40B4-BE49-F238E27FC236}">
                <a16:creationId xmlns:a16="http://schemas.microsoft.com/office/drawing/2014/main" id="{E1E82943-4EE8-4554-878E-7F2338FB6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100355" name="Slide Number Placeholder 6">
            <a:extLst>
              <a:ext uri="{FF2B5EF4-FFF2-40B4-BE49-F238E27FC236}">
                <a16:creationId xmlns:a16="http://schemas.microsoft.com/office/drawing/2014/main" id="{3713F3B6-AFC2-46B1-88D1-FBBFEC1A5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27F10678-A674-4FB4-8E96-0BE09F7BBEC2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00356" name="Picture 7" descr="underline_base">
            <a:extLst>
              <a:ext uri="{FF2B5EF4-FFF2-40B4-BE49-F238E27FC236}">
                <a16:creationId xmlns:a16="http://schemas.microsoft.com/office/drawing/2014/main" id="{389B9DFC-3720-4F3E-A253-34D6966C19C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3" y="904875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9" name="Rectangle 2">
            <a:extLst>
              <a:ext uri="{FF2B5EF4-FFF2-40B4-BE49-F238E27FC236}">
                <a16:creationId xmlns:a16="http://schemas.microsoft.com/office/drawing/2014/main" id="{EE12C365-197C-4E39-8D3C-A9BD30F634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07963"/>
            <a:ext cx="7772400" cy="930275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Pipelined protocols: overview</a:t>
            </a:r>
          </a:p>
        </p:txBody>
      </p:sp>
      <p:sp>
        <p:nvSpPr>
          <p:cNvPr id="35846" name="Rectangle 3">
            <a:extLst>
              <a:ext uri="{FF2B5EF4-FFF2-40B4-BE49-F238E27FC236}">
                <a16:creationId xmlns:a16="http://schemas.microsoft.com/office/drawing/2014/main" id="{79E8F47E-81B9-4F4D-9A29-F7C596BCC1D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455738"/>
            <a:ext cx="3954463" cy="4848225"/>
          </a:xfrm>
        </p:spPr>
        <p:txBody>
          <a:bodyPr/>
          <a:lstStyle/>
          <a:p>
            <a:pPr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r>
              <a:rPr lang="en-US" altLang="zh-TW" u="sng" dirty="0">
                <a:solidFill>
                  <a:srgbClr val="CC0000"/>
                </a:solidFill>
              </a:rPr>
              <a:t>Go-back-N:</a:t>
            </a:r>
          </a:p>
          <a:p>
            <a:pPr marL="514350" indent="-514350">
              <a:lnSpc>
                <a:spcPct val="75000"/>
              </a:lnSpc>
              <a:buFont typeface="+mj-lt"/>
              <a:buAutoNum type="arabicPeriod"/>
              <a:defRPr/>
            </a:pPr>
            <a:r>
              <a:rPr lang="en-US" altLang="zh-TW" dirty="0"/>
              <a:t>sender can have </a:t>
            </a:r>
            <a:r>
              <a:rPr lang="en-US" altLang="zh-TW" dirty="0">
                <a:solidFill>
                  <a:srgbClr val="0070C0"/>
                </a:solidFill>
              </a:rPr>
              <a:t>up to N unacked packets</a:t>
            </a:r>
            <a:r>
              <a:rPr lang="en-US" altLang="zh-TW" dirty="0"/>
              <a:t> in pipeline</a:t>
            </a:r>
          </a:p>
          <a:p>
            <a:pPr marL="514350" indent="-514350">
              <a:lnSpc>
                <a:spcPct val="75000"/>
              </a:lnSpc>
              <a:buFont typeface="+mj-lt"/>
              <a:buAutoNum type="arabicPeriod"/>
              <a:defRPr/>
            </a:pPr>
            <a:r>
              <a:rPr lang="en-US" altLang="zh-TW" dirty="0"/>
              <a:t>receiver only sends </a:t>
            </a:r>
            <a:r>
              <a:rPr lang="en-US" altLang="zh-TW" i="1" dirty="0">
                <a:solidFill>
                  <a:srgbClr val="CC0000"/>
                </a:solidFill>
              </a:rPr>
              <a:t>cumulative ack</a:t>
            </a:r>
          </a:p>
          <a:p>
            <a:pPr marL="914400" lvl="1" indent="-457200">
              <a:defRPr/>
            </a:pPr>
            <a:r>
              <a:rPr lang="en-US" altLang="zh-TW" dirty="0"/>
              <a:t>doesn</a:t>
            </a:r>
            <a:r>
              <a:rPr lang="ja-JP" altLang="en-US" dirty="0"/>
              <a:t>’</a:t>
            </a:r>
            <a:r>
              <a:rPr lang="en-US" altLang="ja-JP" dirty="0"/>
              <a:t>t ack packet if there</a:t>
            </a:r>
            <a:r>
              <a:rPr lang="ja-JP" altLang="en-US" dirty="0"/>
              <a:t>’</a:t>
            </a:r>
            <a:r>
              <a:rPr lang="en-US" altLang="ja-JP" dirty="0"/>
              <a:t>s a gap</a:t>
            </a:r>
          </a:p>
          <a:p>
            <a:pPr marL="514350" indent="-514350">
              <a:lnSpc>
                <a:spcPct val="75000"/>
              </a:lnSpc>
              <a:buFont typeface="+mj-lt"/>
              <a:buAutoNum type="arabicPeriod"/>
              <a:defRPr/>
            </a:pPr>
            <a:r>
              <a:rPr lang="en-US" altLang="zh-TW" dirty="0"/>
              <a:t>sender has </a:t>
            </a:r>
            <a:r>
              <a:rPr lang="en-US" altLang="zh-TW" dirty="0">
                <a:solidFill>
                  <a:srgbClr val="0070C0"/>
                </a:solidFill>
              </a:rPr>
              <a:t>timer</a:t>
            </a:r>
            <a:r>
              <a:rPr lang="en-US" altLang="zh-TW" dirty="0"/>
              <a:t> for </a:t>
            </a:r>
            <a:r>
              <a:rPr lang="en-US" altLang="zh-TW" dirty="0">
                <a:solidFill>
                  <a:srgbClr val="0070C0"/>
                </a:solidFill>
              </a:rPr>
              <a:t>oldest</a:t>
            </a:r>
            <a:r>
              <a:rPr lang="en-US" altLang="zh-TW" dirty="0"/>
              <a:t> unacked packet</a:t>
            </a:r>
          </a:p>
          <a:p>
            <a:pPr marL="914400" lvl="1" indent="-457200">
              <a:defRPr/>
            </a:pPr>
            <a:r>
              <a:rPr lang="en-US" altLang="zh-TW" dirty="0"/>
              <a:t>when timer expires, retransmit </a:t>
            </a:r>
            <a:r>
              <a:rPr lang="en-US" altLang="zh-TW" i="1" dirty="0">
                <a:solidFill>
                  <a:srgbClr val="0070C0"/>
                </a:solidFill>
              </a:rPr>
              <a:t>all</a:t>
            </a:r>
            <a:r>
              <a:rPr lang="en-US" altLang="zh-TW" dirty="0"/>
              <a:t> unacked packets</a:t>
            </a:r>
          </a:p>
        </p:txBody>
      </p:sp>
      <p:sp>
        <p:nvSpPr>
          <p:cNvPr id="35847" name="Rectangle 4">
            <a:extLst>
              <a:ext uri="{FF2B5EF4-FFF2-40B4-BE49-F238E27FC236}">
                <a16:creationId xmlns:a16="http://schemas.microsoft.com/office/drawing/2014/main" id="{9F427339-CDAE-4A64-9836-C31CFB3CC4A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73600" y="1455738"/>
            <a:ext cx="4289425" cy="4648200"/>
          </a:xfrm>
        </p:spPr>
        <p:txBody>
          <a:bodyPr/>
          <a:lstStyle/>
          <a:p>
            <a:pPr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r>
              <a:rPr lang="en-US" altLang="zh-TW" u="sng" dirty="0">
                <a:solidFill>
                  <a:srgbClr val="CC0000"/>
                </a:solidFill>
              </a:rPr>
              <a:t>Selective Repeat:</a:t>
            </a:r>
          </a:p>
          <a:p>
            <a:pPr marL="514350" indent="-514350">
              <a:lnSpc>
                <a:spcPct val="75000"/>
              </a:lnSpc>
              <a:buFont typeface="+mj-lt"/>
              <a:buAutoNum type="arabicPeriod"/>
              <a:defRPr/>
            </a:pPr>
            <a:r>
              <a:rPr lang="en-US" altLang="zh-TW" dirty="0"/>
              <a:t>sender can have </a:t>
            </a:r>
            <a:r>
              <a:rPr lang="en-US" altLang="zh-TW" dirty="0">
                <a:solidFill>
                  <a:srgbClr val="0070C0"/>
                </a:solidFill>
              </a:rPr>
              <a:t>up to N unack</a:t>
            </a:r>
            <a:r>
              <a:rPr lang="en-US" altLang="ja-JP" dirty="0">
                <a:solidFill>
                  <a:srgbClr val="0070C0"/>
                </a:solidFill>
              </a:rPr>
              <a:t>ed packets</a:t>
            </a:r>
            <a:r>
              <a:rPr lang="en-US" altLang="ja-JP" dirty="0"/>
              <a:t> in pipeline</a:t>
            </a:r>
          </a:p>
          <a:p>
            <a:pPr marL="514350" indent="-514350">
              <a:lnSpc>
                <a:spcPct val="75000"/>
              </a:lnSpc>
              <a:buFont typeface="+mj-lt"/>
              <a:buAutoNum type="arabicPeriod"/>
              <a:defRPr/>
            </a:pPr>
            <a:r>
              <a:rPr lang="en-US" altLang="zh-TW" dirty="0"/>
              <a:t>rcvr sends </a:t>
            </a:r>
            <a:r>
              <a:rPr lang="en-US" altLang="zh-TW" i="1" dirty="0">
                <a:solidFill>
                  <a:srgbClr val="CC0000"/>
                </a:solidFill>
              </a:rPr>
              <a:t>individual ack</a:t>
            </a:r>
            <a:r>
              <a:rPr lang="en-US" altLang="zh-TW" dirty="0"/>
              <a:t> for each packet</a:t>
            </a:r>
          </a:p>
          <a:p>
            <a:pPr marL="514350" indent="-514350">
              <a:lnSpc>
                <a:spcPct val="70000"/>
              </a:lnSpc>
              <a:buFont typeface="+mj-lt"/>
              <a:buAutoNum type="arabicPeriod"/>
              <a:defRPr/>
            </a:pPr>
            <a:endParaRPr lang="en-US" altLang="zh-TW" dirty="0"/>
          </a:p>
          <a:p>
            <a:pPr marL="514350" indent="-514350">
              <a:lnSpc>
                <a:spcPct val="70000"/>
              </a:lnSpc>
              <a:buFont typeface="+mj-lt"/>
              <a:buAutoNum type="arabicPeriod"/>
              <a:defRPr/>
            </a:pPr>
            <a:endParaRPr lang="en-US" altLang="zh-TW" dirty="0"/>
          </a:p>
          <a:p>
            <a:pPr marL="514350" indent="-514350">
              <a:lnSpc>
                <a:spcPct val="75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zh-TW" dirty="0"/>
              <a:t>sender maintains </a:t>
            </a:r>
            <a:r>
              <a:rPr lang="en-US" altLang="zh-TW" dirty="0">
                <a:solidFill>
                  <a:srgbClr val="0070C0"/>
                </a:solidFill>
              </a:rPr>
              <a:t>timer </a:t>
            </a:r>
            <a:r>
              <a:rPr lang="en-US" altLang="zh-TW" dirty="0"/>
              <a:t>for </a:t>
            </a:r>
            <a:r>
              <a:rPr lang="en-US" altLang="zh-TW" dirty="0">
                <a:solidFill>
                  <a:srgbClr val="0070C0"/>
                </a:solidFill>
              </a:rPr>
              <a:t>each</a:t>
            </a:r>
            <a:r>
              <a:rPr lang="en-US" altLang="zh-TW" dirty="0"/>
              <a:t> unacked packet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zh-TW" dirty="0"/>
              <a:t>when timer expires, retransmit only </a:t>
            </a:r>
            <a:r>
              <a:rPr lang="en-US" altLang="zh-TW" dirty="0">
                <a:solidFill>
                  <a:srgbClr val="0070C0"/>
                </a:solidFill>
              </a:rPr>
              <a:t>that </a:t>
            </a:r>
            <a:r>
              <a:rPr lang="en-US" altLang="zh-TW" dirty="0"/>
              <a:t>unacked packet</a:t>
            </a:r>
          </a:p>
          <a:p>
            <a:pPr>
              <a:lnSpc>
                <a:spcPct val="70000"/>
              </a:lnSpc>
              <a:defRPr/>
            </a:pP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Footer Placeholder 5">
            <a:extLst>
              <a:ext uri="{FF2B5EF4-FFF2-40B4-BE49-F238E27FC236}">
                <a16:creationId xmlns:a16="http://schemas.microsoft.com/office/drawing/2014/main" id="{3CFB925F-8736-4089-A873-188D24F4D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101379" name="Slide Number Placeholder 6">
            <a:extLst>
              <a:ext uri="{FF2B5EF4-FFF2-40B4-BE49-F238E27FC236}">
                <a16:creationId xmlns:a16="http://schemas.microsoft.com/office/drawing/2014/main" id="{31E5F67E-2A71-40E7-8037-56B62B932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09FD5B15-51D3-4BC7-B055-E38F49F1DAC5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48132" name="Rectangle 2">
            <a:extLst>
              <a:ext uri="{FF2B5EF4-FFF2-40B4-BE49-F238E27FC236}">
                <a16:creationId xmlns:a16="http://schemas.microsoft.com/office/drawing/2014/main" id="{F78AA3B8-CB2F-4EE0-899D-4BB96002D5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772400" cy="9525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Go-Back-N: </a:t>
            </a:r>
            <a:r>
              <a:rPr lang="en-US" dirty="0">
                <a:solidFill>
                  <a:srgbClr val="FF0000"/>
                </a:solidFill>
                <a:ea typeface="ＭＳ Ｐゴシック" charset="0"/>
                <a:cs typeface="+mj-cs"/>
              </a:rPr>
              <a:t>sender</a:t>
            </a:r>
          </a:p>
        </p:txBody>
      </p:sp>
      <p:sp>
        <p:nvSpPr>
          <p:cNvPr id="101381" name="Rectangle 3">
            <a:extLst>
              <a:ext uri="{FF2B5EF4-FFF2-40B4-BE49-F238E27FC236}">
                <a16:creationId xmlns:a16="http://schemas.microsoft.com/office/drawing/2014/main" id="{AD8FD8BC-3C4D-46BD-BBDA-E387CB493ED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14450"/>
            <a:ext cx="8324850" cy="1219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ja-JP" sz="2400" dirty="0"/>
              <a:t>1. </a:t>
            </a:r>
            <a:r>
              <a:rPr lang="en-US" altLang="ja-JP" sz="2400" dirty="0">
                <a:solidFill>
                  <a:srgbClr val="FF0000"/>
                </a:solidFill>
              </a:rPr>
              <a:t>Window</a:t>
            </a:r>
            <a:r>
              <a:rPr lang="en-US" altLang="ja-JP" sz="2400" dirty="0"/>
              <a:t>: up to N consecutive </a:t>
            </a:r>
            <a:r>
              <a:rPr lang="en-US" altLang="ja-JP" sz="2400" dirty="0" err="1">
                <a:solidFill>
                  <a:srgbClr val="FF0000"/>
                </a:solidFill>
              </a:rPr>
              <a:t>unack</a:t>
            </a:r>
            <a:r>
              <a:rPr lang="ja-JP" altLang="en-US" sz="2400" dirty="0">
                <a:solidFill>
                  <a:srgbClr val="FF0000"/>
                </a:solidFill>
              </a:rPr>
              <a:t>’</a:t>
            </a:r>
            <a:r>
              <a:rPr lang="en-US" altLang="ja-JP" sz="2400" dirty="0">
                <a:solidFill>
                  <a:srgbClr val="FF0000"/>
                </a:solidFill>
              </a:rPr>
              <a:t>ed packets</a:t>
            </a:r>
            <a:r>
              <a:rPr lang="en-US" altLang="ja-JP" sz="2400" dirty="0"/>
              <a:t> allowed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  <p:pic>
        <p:nvPicPr>
          <p:cNvPr id="101382" name="Picture 4" descr="gbn_seqnum">
            <a:extLst>
              <a:ext uri="{FF2B5EF4-FFF2-40B4-BE49-F238E27FC236}">
                <a16:creationId xmlns:a16="http://schemas.microsoft.com/office/drawing/2014/main" id="{3CD3B2AE-4A37-41BE-8F3C-36D02286C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75" y="1792288"/>
            <a:ext cx="8099425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1" name="Rectangle 5">
            <a:extLst>
              <a:ext uri="{FF2B5EF4-FFF2-40B4-BE49-F238E27FC236}">
                <a16:creationId xmlns:a16="http://schemas.microsoft.com/office/drawing/2014/main" id="{E6DF9D25-AFF8-479C-B644-729B4781A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3751263"/>
            <a:ext cx="832485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altLang="zh-TW" sz="2400" dirty="0">
                <a:latin typeface="Gill Sans MT" pitchFamily="34" charset="0"/>
              </a:rPr>
              <a:t>2. </a:t>
            </a:r>
            <a:r>
              <a:rPr lang="en-US" altLang="zh-TW" sz="2400" dirty="0">
                <a:solidFill>
                  <a:srgbClr val="FF0000"/>
                </a:solidFill>
                <a:latin typeface="Gill Sans MT" pitchFamily="34" charset="0"/>
              </a:rPr>
              <a:t>cumulative ACK</a:t>
            </a:r>
            <a:r>
              <a:rPr lang="en-US" altLang="zh-TW" sz="2400" dirty="0">
                <a:latin typeface="Gill Sans MT" pitchFamily="34" charset="0"/>
              </a:rPr>
              <a:t>(n): all packets with a sequence number </a:t>
            </a:r>
            <a:r>
              <a:rPr lang="en-US" altLang="zh-TW" sz="2400" u="sng" dirty="0">
                <a:latin typeface="Gill Sans MT" pitchFamily="34" charset="0"/>
              </a:rPr>
              <a:t>up to and including n</a:t>
            </a:r>
            <a:r>
              <a:rPr lang="en-US" altLang="zh-TW" sz="2400" dirty="0">
                <a:latin typeface="Gill Sans MT" pitchFamily="34" charset="0"/>
              </a:rPr>
              <a:t> have been correctly received at the receiver </a:t>
            </a:r>
            <a:endParaRPr lang="en-US" altLang="ja-JP" sz="2400" i="1" dirty="0">
              <a:solidFill>
                <a:srgbClr val="CC0000"/>
              </a:solidFill>
              <a:latin typeface="Gill Sans MT" pitchFamily="34" charset="0"/>
            </a:endParaRPr>
          </a:p>
          <a:p>
            <a:pPr marL="688975" lvl="1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/>
            </a:pPr>
            <a:r>
              <a:rPr lang="en-US" altLang="zh-TW" sz="2400" dirty="0">
                <a:latin typeface="Gill Sans MT" pitchFamily="34" charset="0"/>
              </a:rPr>
              <a:t>may receive duplicate ACKs (see receiver)</a:t>
            </a:r>
            <a:endParaRPr lang="en-US" altLang="zh-TW" sz="2000" dirty="0">
              <a:latin typeface="Gill Sans MT" pitchFamily="34" charset="0"/>
            </a:endParaRP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altLang="zh-TW" sz="2400" dirty="0">
                <a:latin typeface="Gill Sans MT" pitchFamily="34" charset="0"/>
              </a:rPr>
              <a:t>3. </a:t>
            </a:r>
            <a:r>
              <a:rPr lang="en-US" altLang="zh-TW" sz="2400" dirty="0">
                <a:solidFill>
                  <a:srgbClr val="FF0000"/>
                </a:solidFill>
                <a:latin typeface="Gill Sans MT" pitchFamily="34" charset="0"/>
              </a:rPr>
              <a:t>timer</a:t>
            </a:r>
            <a:r>
              <a:rPr lang="en-US" altLang="zh-TW" sz="2400" dirty="0">
                <a:latin typeface="Gill Sans MT" pitchFamily="34" charset="0"/>
              </a:rPr>
              <a:t> for </a:t>
            </a:r>
            <a:r>
              <a:rPr lang="en-US" altLang="zh-TW" sz="2400" dirty="0">
                <a:solidFill>
                  <a:srgbClr val="0070C0"/>
                </a:solidFill>
                <a:latin typeface="Gill Sans MT" pitchFamily="34" charset="0"/>
              </a:rPr>
              <a:t>oldest in-flight pkt (i.e., send_base)</a:t>
            </a:r>
          </a:p>
          <a:p>
            <a:pPr marL="800100" lvl="1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r>
              <a:rPr lang="en-US" altLang="zh-TW" sz="2400" i="1" dirty="0">
                <a:solidFill>
                  <a:srgbClr val="FF0000"/>
                </a:solidFill>
                <a:latin typeface="Gill Sans MT" pitchFamily="34" charset="0"/>
              </a:rPr>
              <a:t>timeout</a:t>
            </a:r>
            <a:r>
              <a:rPr lang="en-US" altLang="zh-TW" sz="2400" i="1" dirty="0">
                <a:latin typeface="Gill Sans MT" pitchFamily="34" charset="0"/>
              </a:rPr>
              <a:t>:</a:t>
            </a:r>
            <a:r>
              <a:rPr lang="en-US" altLang="zh-TW" sz="2400" dirty="0">
                <a:latin typeface="Gill Sans MT" pitchFamily="34" charset="0"/>
              </a:rPr>
              <a:t> retransmit packets from send_base to nextseqnum-1 (i.e., yellow region)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endParaRPr lang="en-US" altLang="zh-TW" sz="2800" dirty="0">
              <a:latin typeface="Gill Sans MT" pitchFamily="34" charset="0"/>
            </a:endParaRP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endParaRPr lang="en-US" altLang="zh-TW" sz="2800" dirty="0">
              <a:latin typeface="Gill Sans MT" pitchFamily="34" charset="0"/>
            </a:endParaRPr>
          </a:p>
        </p:txBody>
      </p:sp>
      <p:sp>
        <p:nvSpPr>
          <p:cNvPr id="101384" name="Rectangle 6">
            <a:extLst>
              <a:ext uri="{FF2B5EF4-FFF2-40B4-BE49-F238E27FC236}">
                <a16:creationId xmlns:a16="http://schemas.microsoft.com/office/drawing/2014/main" id="{4B1C824E-2BF5-494A-ABA8-818A33498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888" y="2301875"/>
            <a:ext cx="2206625" cy="636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pic>
        <p:nvPicPr>
          <p:cNvPr id="101385" name="Picture 9" descr="underline_base">
            <a:extLst>
              <a:ext uri="{FF2B5EF4-FFF2-40B4-BE49-F238E27FC236}">
                <a16:creationId xmlns:a16="http://schemas.microsoft.com/office/drawing/2014/main" id="{92B73F62-D01E-4D7A-ACFD-472CEF155B65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3" y="850900"/>
            <a:ext cx="5027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Footer Placeholder 3">
            <a:extLst>
              <a:ext uri="{FF2B5EF4-FFF2-40B4-BE49-F238E27FC236}">
                <a16:creationId xmlns:a16="http://schemas.microsoft.com/office/drawing/2014/main" id="{0D43E019-B736-4835-A08A-B4128DFD7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103427" name="Slide Number Placeholder 4">
            <a:extLst>
              <a:ext uri="{FF2B5EF4-FFF2-40B4-BE49-F238E27FC236}">
                <a16:creationId xmlns:a16="http://schemas.microsoft.com/office/drawing/2014/main" id="{8C3979A3-C3D1-4F01-A0F5-A7CDEE86F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0699A81E-68BA-4B51-8526-71DB076EFF7F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03428" name="Rectangle 2">
            <a:extLst>
              <a:ext uri="{FF2B5EF4-FFF2-40B4-BE49-F238E27FC236}">
                <a16:creationId xmlns:a16="http://schemas.microsoft.com/office/drawing/2014/main" id="{7B0A6CC8-CA1E-416F-AEC8-81EEB3F7B9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7963"/>
            <a:ext cx="7772400" cy="700087"/>
          </a:xfrm>
        </p:spPr>
        <p:txBody>
          <a:bodyPr/>
          <a:lstStyle/>
          <a:p>
            <a:r>
              <a:rPr lang="en-US" altLang="zh-TW" sz="3600" dirty="0"/>
              <a:t>GBN: </a:t>
            </a:r>
            <a:r>
              <a:rPr lang="en-US" altLang="zh-TW" sz="3600" dirty="0">
                <a:solidFill>
                  <a:srgbClr val="FF0000"/>
                </a:solidFill>
              </a:rPr>
              <a:t>sender</a:t>
            </a:r>
            <a:r>
              <a:rPr lang="en-US" altLang="zh-TW" sz="3600" dirty="0"/>
              <a:t> extended FSM</a:t>
            </a:r>
            <a:endParaRPr lang="en-US" altLang="zh-TW" dirty="0"/>
          </a:p>
        </p:txBody>
      </p:sp>
      <p:grpSp>
        <p:nvGrpSpPr>
          <p:cNvPr id="103429" name="Group 3">
            <a:extLst>
              <a:ext uri="{FF2B5EF4-FFF2-40B4-BE49-F238E27FC236}">
                <a16:creationId xmlns:a16="http://schemas.microsoft.com/office/drawing/2014/main" id="{8B299994-3245-4AF1-95D3-E496CB59A5AC}"/>
              </a:ext>
            </a:extLst>
          </p:cNvPr>
          <p:cNvGrpSpPr>
            <a:grpSpLocks/>
          </p:cNvGrpSpPr>
          <p:nvPr/>
        </p:nvGrpSpPr>
        <p:grpSpPr bwMode="auto">
          <a:xfrm>
            <a:off x="3535363" y="3743325"/>
            <a:ext cx="800100" cy="657225"/>
            <a:chOff x="1939" y="2515"/>
            <a:chExt cx="504" cy="414"/>
          </a:xfrm>
        </p:grpSpPr>
        <p:sp>
          <p:nvSpPr>
            <p:cNvPr id="103453" name="Oval 4">
              <a:extLst>
                <a:ext uri="{FF2B5EF4-FFF2-40B4-BE49-F238E27FC236}">
                  <a16:creationId xmlns:a16="http://schemas.microsoft.com/office/drawing/2014/main" id="{134B0288-B620-464F-BDCF-3161D50EA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4" y="2515"/>
              <a:ext cx="420" cy="41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03454" name="Text Box 5">
              <a:extLst>
                <a:ext uri="{FF2B5EF4-FFF2-40B4-BE49-F238E27FC236}">
                  <a16:creationId xmlns:a16="http://schemas.microsoft.com/office/drawing/2014/main" id="{3667ADE0-456F-424F-9BBC-3FDECF371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9" y="2611"/>
              <a:ext cx="504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Wait</a:t>
              </a:r>
              <a:endParaRPr lang="en-US" altLang="zh-TW" sz="1600">
                <a:latin typeface="Times New Roman" panose="02020603050405020304" pitchFamily="18" charset="0"/>
              </a:endParaRPr>
            </a:p>
          </p:txBody>
        </p:sp>
      </p:grpSp>
      <p:sp>
        <p:nvSpPr>
          <p:cNvPr id="103430" name="Line 6">
            <a:extLst>
              <a:ext uri="{FF2B5EF4-FFF2-40B4-BE49-F238E27FC236}">
                <a16:creationId xmlns:a16="http://schemas.microsoft.com/office/drawing/2014/main" id="{2E375281-6AEB-48E7-A7EF-DDFE7C0363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8825" y="2830513"/>
            <a:ext cx="1624013" cy="1069975"/>
          </a:xfrm>
          <a:prstGeom prst="line">
            <a:avLst/>
          </a:prstGeom>
          <a:noFill/>
          <a:ln w="28575">
            <a:solidFill>
              <a:srgbClr val="00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3431" name="Text Box 7">
            <a:extLst>
              <a:ext uri="{FF2B5EF4-FFF2-40B4-BE49-F238E27FC236}">
                <a16:creationId xmlns:a16="http://schemas.microsoft.com/office/drawing/2014/main" id="{5B8AF654-F851-415D-A12C-3B4471FF1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388" y="3810000"/>
            <a:ext cx="2776537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start_timer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udt_send(sndpkt[</a:t>
            </a:r>
            <a:r>
              <a:rPr lang="en-US" altLang="zh-TW" sz="1400">
                <a:solidFill>
                  <a:srgbClr val="0070C0"/>
                </a:solidFill>
                <a:latin typeface="Arial" panose="020B0604020202020204" pitchFamily="34" charset="0"/>
              </a:rPr>
              <a:t>base</a:t>
            </a:r>
            <a:r>
              <a:rPr lang="en-US" altLang="zh-TW" sz="1400">
                <a:latin typeface="Arial" panose="020B0604020202020204" pitchFamily="34" charset="0"/>
              </a:rPr>
              <a:t>])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udt_send(sndpkt[</a:t>
            </a:r>
            <a:r>
              <a:rPr lang="en-US" altLang="zh-TW" sz="1400">
                <a:solidFill>
                  <a:srgbClr val="0070C0"/>
                </a:solidFill>
                <a:latin typeface="Arial" panose="020B0604020202020204" pitchFamily="34" charset="0"/>
              </a:rPr>
              <a:t>base+1</a:t>
            </a:r>
            <a:r>
              <a:rPr lang="en-US" altLang="zh-TW" sz="1400">
                <a:latin typeface="Arial" panose="020B0604020202020204" pitchFamily="34" charset="0"/>
              </a:rPr>
              <a:t>])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…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udt_send(sndpkt[</a:t>
            </a:r>
            <a:r>
              <a:rPr lang="en-US" altLang="zh-TW" sz="1400">
                <a:solidFill>
                  <a:srgbClr val="0070C0"/>
                </a:solidFill>
                <a:latin typeface="Arial" panose="020B0604020202020204" pitchFamily="34" charset="0"/>
              </a:rPr>
              <a:t>nextseqnum-1</a:t>
            </a:r>
            <a:r>
              <a:rPr lang="en-US" altLang="zh-TW" sz="1400">
                <a:latin typeface="Arial" panose="020B0604020202020204" pitchFamily="34" charset="0"/>
              </a:rPr>
              <a:t>])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1400">
              <a:latin typeface="Times New Roman" panose="02020603050405020304" pitchFamily="18" charset="0"/>
            </a:endParaRPr>
          </a:p>
        </p:txBody>
      </p:sp>
      <p:sp>
        <p:nvSpPr>
          <p:cNvPr id="103432" name="Text Box 8">
            <a:extLst>
              <a:ext uri="{FF2B5EF4-FFF2-40B4-BE49-F238E27FC236}">
                <a16:creationId xmlns:a16="http://schemas.microsoft.com/office/drawing/2014/main" id="{B745AF1E-5B13-45F5-9B6E-110953D05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3613" y="3575050"/>
            <a:ext cx="11001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70C0"/>
                </a:solidFill>
                <a:latin typeface="Arial" panose="020B0604020202020204" pitchFamily="34" charset="0"/>
              </a:rPr>
              <a:t>timeout</a:t>
            </a:r>
            <a:endParaRPr lang="en-US" altLang="zh-TW" sz="140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1400">
              <a:latin typeface="Times New Roman" panose="02020603050405020304" pitchFamily="18" charset="0"/>
            </a:endParaRPr>
          </a:p>
        </p:txBody>
      </p:sp>
      <p:sp>
        <p:nvSpPr>
          <p:cNvPr id="103433" name="Line 9">
            <a:extLst>
              <a:ext uri="{FF2B5EF4-FFF2-40B4-BE49-F238E27FC236}">
                <a16:creationId xmlns:a16="http://schemas.microsoft.com/office/drawing/2014/main" id="{B63082A7-DA8C-4080-8EA7-A4033A342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7750" y="3851275"/>
            <a:ext cx="16192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3434" name="Freeform 10">
            <a:extLst>
              <a:ext uri="{FF2B5EF4-FFF2-40B4-BE49-F238E27FC236}">
                <a16:creationId xmlns:a16="http://schemas.microsoft.com/office/drawing/2014/main" id="{6548DDF8-7953-4941-B090-D156A855A23C}"/>
              </a:ext>
            </a:extLst>
          </p:cNvPr>
          <p:cNvSpPr>
            <a:spLocks/>
          </p:cNvSpPr>
          <p:nvPr/>
        </p:nvSpPr>
        <p:spPr bwMode="auto">
          <a:xfrm>
            <a:off x="4360863" y="3498850"/>
            <a:ext cx="393700" cy="1152525"/>
          </a:xfrm>
          <a:custGeom>
            <a:avLst/>
            <a:gdLst>
              <a:gd name="T0" fmla="*/ 2147483646 w 619"/>
              <a:gd name="T1" fmla="*/ 2147483646 h 1815"/>
              <a:gd name="T2" fmla="*/ 0 w 619"/>
              <a:gd name="T3" fmla="*/ 2147483646 h 1815"/>
              <a:gd name="T4" fmla="*/ 0 60000 65536"/>
              <a:gd name="T5" fmla="*/ 0 60000 65536"/>
              <a:gd name="T6" fmla="*/ 0 w 619"/>
              <a:gd name="T7" fmla="*/ 0 h 1815"/>
              <a:gd name="T8" fmla="*/ 619 w 619"/>
              <a:gd name="T9" fmla="*/ 1815 h 18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3435" name="Text Box 11">
            <a:extLst>
              <a:ext uri="{FF2B5EF4-FFF2-40B4-BE49-F238E27FC236}">
                <a16:creationId xmlns:a16="http://schemas.microsoft.com/office/drawing/2014/main" id="{2242537E-9F74-4EA5-A23A-F21519871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4050" y="1069975"/>
            <a:ext cx="23336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rdt_send(data)</a:t>
            </a:r>
            <a:r>
              <a:rPr lang="en-US" altLang="zh-TW" sz="1000">
                <a:latin typeface="Arial" panose="020B0604020202020204" pitchFamily="34" charset="0"/>
              </a:rPr>
              <a:t> 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103436" name="Line 12">
            <a:extLst>
              <a:ext uri="{FF2B5EF4-FFF2-40B4-BE49-F238E27FC236}">
                <a16:creationId xmlns:a16="http://schemas.microsoft.com/office/drawing/2014/main" id="{8AE310BD-B53D-41D0-AFBA-36E3CD2D2B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2000" y="1389063"/>
            <a:ext cx="19145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3437" name="Text Box 13">
            <a:extLst>
              <a:ext uri="{FF2B5EF4-FFF2-40B4-BE49-F238E27FC236}">
                <a16:creationId xmlns:a16="http://schemas.microsoft.com/office/drawing/2014/main" id="{F4F0A7E5-7DA6-4B4A-814E-3F73FC81F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4050" y="1411288"/>
            <a:ext cx="5521325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solidFill>
                  <a:srgbClr val="C00000"/>
                </a:solidFill>
                <a:latin typeface="Arial" panose="020B0604020202020204" pitchFamily="34" charset="0"/>
              </a:rPr>
              <a:t>if (</a:t>
            </a:r>
            <a:r>
              <a:rPr lang="en-US" altLang="zh-TW" sz="1400" dirty="0" err="1">
                <a:solidFill>
                  <a:srgbClr val="C00000"/>
                </a:solidFill>
                <a:latin typeface="Arial" panose="020B0604020202020204" pitchFamily="34" charset="0"/>
              </a:rPr>
              <a:t>nextseqnum</a:t>
            </a:r>
            <a:r>
              <a:rPr lang="en-US" altLang="zh-TW" sz="1400" dirty="0">
                <a:solidFill>
                  <a:srgbClr val="C00000"/>
                </a:solidFill>
                <a:latin typeface="Arial" panose="020B0604020202020204" pitchFamily="34" charset="0"/>
              </a:rPr>
              <a:t> &lt; </a:t>
            </a:r>
            <a:r>
              <a:rPr lang="en-US" altLang="zh-TW" sz="1400" dirty="0" err="1">
                <a:solidFill>
                  <a:srgbClr val="C00000"/>
                </a:solidFill>
                <a:latin typeface="Arial" panose="020B0604020202020204" pitchFamily="34" charset="0"/>
              </a:rPr>
              <a:t>base+N</a:t>
            </a:r>
            <a:r>
              <a:rPr lang="en-US" altLang="zh-TW" sz="1400" dirty="0">
                <a:solidFill>
                  <a:srgbClr val="C00000"/>
                </a:solidFill>
                <a:latin typeface="Arial" panose="020B0604020202020204" pitchFamily="34" charset="0"/>
              </a:rPr>
              <a:t>) </a:t>
            </a:r>
            <a:r>
              <a:rPr lang="en-US" altLang="zh-TW" sz="1400" dirty="0">
                <a:latin typeface="Arial" panose="020B0604020202020204" pitchFamily="34" charset="0"/>
              </a:rPr>
              <a:t>{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latin typeface="Arial" panose="020B0604020202020204" pitchFamily="34" charset="0"/>
              </a:rPr>
              <a:t>    </a:t>
            </a:r>
            <a:r>
              <a:rPr lang="en-US" altLang="zh-TW" sz="1400" dirty="0" err="1">
                <a:latin typeface="Arial" panose="020B0604020202020204" pitchFamily="34" charset="0"/>
              </a:rPr>
              <a:t>sndpkt</a:t>
            </a:r>
            <a:r>
              <a:rPr lang="en-US" altLang="zh-TW" sz="1400" dirty="0">
                <a:latin typeface="Arial" panose="020B0604020202020204" pitchFamily="34" charset="0"/>
              </a:rPr>
              <a:t>[</a:t>
            </a:r>
            <a:r>
              <a:rPr lang="en-US" altLang="zh-TW" sz="1400" dirty="0" err="1">
                <a:latin typeface="Arial" panose="020B0604020202020204" pitchFamily="34" charset="0"/>
              </a:rPr>
              <a:t>nextseqnum</a:t>
            </a:r>
            <a:r>
              <a:rPr lang="en-US" altLang="zh-TW" sz="1400" dirty="0">
                <a:latin typeface="Arial" panose="020B0604020202020204" pitchFamily="34" charset="0"/>
              </a:rPr>
              <a:t>] = </a:t>
            </a:r>
            <a:r>
              <a:rPr lang="en-US" altLang="zh-TW" sz="1400" dirty="0" err="1">
                <a:solidFill>
                  <a:srgbClr val="C00000"/>
                </a:solidFill>
                <a:latin typeface="Arial" panose="020B0604020202020204" pitchFamily="34" charset="0"/>
              </a:rPr>
              <a:t>make_pkt</a:t>
            </a:r>
            <a:r>
              <a:rPr lang="en-US" altLang="zh-TW" sz="1400" dirty="0">
                <a:latin typeface="Arial" panose="020B0604020202020204" pitchFamily="34" charset="0"/>
              </a:rPr>
              <a:t>(</a:t>
            </a:r>
            <a:r>
              <a:rPr lang="en-US" altLang="zh-TW" sz="1400" dirty="0" err="1">
                <a:latin typeface="Arial" panose="020B0604020202020204" pitchFamily="34" charset="0"/>
              </a:rPr>
              <a:t>nextseqnum,data,chksum</a:t>
            </a:r>
            <a:r>
              <a:rPr lang="en-US" altLang="zh-TW" sz="1400" dirty="0">
                <a:latin typeface="Arial" panose="020B0604020202020204" pitchFamily="34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latin typeface="Arial" panose="020B0604020202020204" pitchFamily="34" charset="0"/>
              </a:rPr>
              <a:t>    </a:t>
            </a:r>
            <a:r>
              <a:rPr lang="en-US" altLang="zh-TW" sz="1400" dirty="0" err="1">
                <a:latin typeface="Arial" panose="020B0604020202020204" pitchFamily="34" charset="0"/>
              </a:rPr>
              <a:t>udt_send</a:t>
            </a:r>
            <a:r>
              <a:rPr lang="en-US" altLang="zh-TW" sz="1400" dirty="0">
                <a:latin typeface="Arial" panose="020B0604020202020204" pitchFamily="34" charset="0"/>
              </a:rPr>
              <a:t>(</a:t>
            </a:r>
            <a:r>
              <a:rPr lang="en-US" altLang="zh-TW" sz="1400" dirty="0" err="1">
                <a:latin typeface="Arial" panose="020B0604020202020204" pitchFamily="34" charset="0"/>
              </a:rPr>
              <a:t>sndpkt</a:t>
            </a:r>
            <a:r>
              <a:rPr lang="en-US" altLang="zh-TW" sz="1400" dirty="0">
                <a:latin typeface="Arial" panose="020B0604020202020204" pitchFamily="34" charset="0"/>
              </a:rPr>
              <a:t>[</a:t>
            </a:r>
            <a:r>
              <a:rPr lang="en-US" altLang="zh-TW" sz="1400" dirty="0" err="1">
                <a:latin typeface="Arial" panose="020B0604020202020204" pitchFamily="34" charset="0"/>
              </a:rPr>
              <a:t>nextseqnum</a:t>
            </a:r>
            <a:r>
              <a:rPr lang="en-US" altLang="zh-TW" sz="1400" dirty="0">
                <a:latin typeface="Arial" panose="020B0604020202020204" pitchFamily="34" charset="0"/>
              </a:rPr>
              <a:t>])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latin typeface="Arial" panose="020B0604020202020204" pitchFamily="34" charset="0"/>
              </a:rPr>
              <a:t>    if (base == </a:t>
            </a:r>
            <a:r>
              <a:rPr lang="en-US" altLang="zh-TW" sz="1400" dirty="0" err="1">
                <a:latin typeface="Arial" panose="020B0604020202020204" pitchFamily="34" charset="0"/>
              </a:rPr>
              <a:t>nextseqnum</a:t>
            </a:r>
            <a:r>
              <a:rPr lang="en-US" altLang="zh-TW" sz="1400" dirty="0">
                <a:latin typeface="Arial" panose="020B0604020202020204" pitchFamily="34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latin typeface="Arial" panose="020B0604020202020204" pitchFamily="34" charset="0"/>
              </a:rPr>
              <a:t>       </a:t>
            </a:r>
            <a:r>
              <a:rPr lang="en-US" altLang="zh-TW" sz="1400" dirty="0" err="1">
                <a:latin typeface="Arial" panose="020B0604020202020204" pitchFamily="34" charset="0"/>
              </a:rPr>
              <a:t>start_timer</a:t>
            </a:r>
            <a:endParaRPr lang="en-US" altLang="zh-TW" sz="1400" dirty="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latin typeface="Arial" panose="020B0604020202020204" pitchFamily="34" charset="0"/>
              </a:rPr>
              <a:t>    </a:t>
            </a:r>
            <a:r>
              <a:rPr lang="en-US" altLang="zh-TW" sz="1400" dirty="0" err="1">
                <a:latin typeface="Arial" panose="020B0604020202020204" pitchFamily="34" charset="0"/>
              </a:rPr>
              <a:t>nextseqnum</a:t>
            </a:r>
            <a:r>
              <a:rPr lang="en-US" altLang="zh-TW" sz="1400" dirty="0">
                <a:latin typeface="Arial" panose="020B0604020202020204" pitchFamily="34" charset="0"/>
              </a:rPr>
              <a:t>++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latin typeface="Arial" panose="020B0604020202020204" pitchFamily="34" charset="0"/>
              </a:rPr>
              <a:t>    }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latin typeface="Arial" panose="020B0604020202020204" pitchFamily="34" charset="0"/>
              </a:rPr>
              <a:t>else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solidFill>
                  <a:srgbClr val="C00000"/>
                </a:solidFill>
                <a:latin typeface="Arial" panose="020B0604020202020204" pitchFamily="34" charset="0"/>
              </a:rPr>
              <a:t>  </a:t>
            </a:r>
            <a:r>
              <a:rPr lang="en-US" altLang="zh-TW" sz="1400" dirty="0" err="1">
                <a:solidFill>
                  <a:srgbClr val="C00000"/>
                </a:solidFill>
                <a:latin typeface="Arial" panose="020B0604020202020204" pitchFamily="34" charset="0"/>
              </a:rPr>
              <a:t>refuse_data</a:t>
            </a:r>
            <a:r>
              <a:rPr lang="en-US" altLang="zh-TW" sz="1400" dirty="0">
                <a:solidFill>
                  <a:srgbClr val="C00000"/>
                </a:solidFill>
                <a:latin typeface="Arial" panose="020B0604020202020204" pitchFamily="34" charset="0"/>
              </a:rPr>
              <a:t>(data)</a:t>
            </a:r>
            <a:endParaRPr lang="en-US" altLang="zh-TW" sz="1400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38" name="Freeform 14">
            <a:extLst>
              <a:ext uri="{FF2B5EF4-FFF2-40B4-BE49-F238E27FC236}">
                <a16:creationId xmlns:a16="http://schemas.microsoft.com/office/drawing/2014/main" id="{16D96B28-268E-4FB7-8480-C6CB52AB7187}"/>
              </a:ext>
            </a:extLst>
          </p:cNvPr>
          <p:cNvSpPr>
            <a:spLocks/>
          </p:cNvSpPr>
          <p:nvPr/>
        </p:nvSpPr>
        <p:spPr bwMode="auto">
          <a:xfrm rot="5142103" flipH="1">
            <a:off x="3787776" y="2933700"/>
            <a:ext cx="393700" cy="1152525"/>
          </a:xfrm>
          <a:custGeom>
            <a:avLst/>
            <a:gdLst>
              <a:gd name="T0" fmla="*/ 2147483646 w 619"/>
              <a:gd name="T1" fmla="*/ 2147483646 h 1815"/>
              <a:gd name="T2" fmla="*/ 0 w 619"/>
              <a:gd name="T3" fmla="*/ 2147483646 h 1815"/>
              <a:gd name="T4" fmla="*/ 0 60000 65536"/>
              <a:gd name="T5" fmla="*/ 0 60000 65536"/>
              <a:gd name="T6" fmla="*/ 0 w 619"/>
              <a:gd name="T7" fmla="*/ 0 h 1815"/>
              <a:gd name="T8" fmla="*/ 619 w 619"/>
              <a:gd name="T9" fmla="*/ 1815 h 18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3439" name="Text Box 15">
            <a:extLst>
              <a:ext uri="{FF2B5EF4-FFF2-40B4-BE49-F238E27FC236}">
                <a16:creationId xmlns:a16="http://schemas.microsoft.com/office/drawing/2014/main" id="{A23AF660-C740-4C36-B6EA-4452E7C32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3275" y="5478463"/>
            <a:ext cx="368617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7030A0"/>
                </a:solidFill>
                <a:latin typeface="Arial" panose="020B0604020202020204" pitchFamily="34" charset="0"/>
              </a:rPr>
              <a:t>base = getacknum(rcvpkt)+1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If (base == nextseqnum)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    stop_timer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  else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    start_timer</a:t>
            </a:r>
            <a:endParaRPr lang="en-US" altLang="zh-TW" sz="1400">
              <a:latin typeface="Times New Roman" panose="02020603050405020304" pitchFamily="18" charset="0"/>
            </a:endParaRPr>
          </a:p>
        </p:txBody>
      </p:sp>
      <p:sp>
        <p:nvSpPr>
          <p:cNvPr id="103440" name="Text Box 16">
            <a:extLst>
              <a:ext uri="{FF2B5EF4-FFF2-40B4-BE49-F238E27FC236}">
                <a16:creationId xmlns:a16="http://schemas.microsoft.com/office/drawing/2014/main" id="{D61A2BF3-2D94-4E98-90CA-168C5611C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5975" y="4978400"/>
            <a:ext cx="283368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rdt_rcv(rcvpkt) &amp;&amp;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   notcorrupt(rcvpkt)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1400">
              <a:latin typeface="Times New Roman" panose="02020603050405020304" pitchFamily="18" charset="0"/>
            </a:endParaRPr>
          </a:p>
        </p:txBody>
      </p:sp>
      <p:sp>
        <p:nvSpPr>
          <p:cNvPr id="103441" name="Line 17">
            <a:extLst>
              <a:ext uri="{FF2B5EF4-FFF2-40B4-BE49-F238E27FC236}">
                <a16:creationId xmlns:a16="http://schemas.microsoft.com/office/drawing/2014/main" id="{548C5C2E-18D7-45E3-B46A-C2E9A9A0CE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8050" y="5502275"/>
            <a:ext cx="16192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3442" name="Freeform 18">
            <a:extLst>
              <a:ext uri="{FF2B5EF4-FFF2-40B4-BE49-F238E27FC236}">
                <a16:creationId xmlns:a16="http://schemas.microsoft.com/office/drawing/2014/main" id="{3D306286-20D4-454A-9A6A-A4EC9DFFB472}"/>
              </a:ext>
            </a:extLst>
          </p:cNvPr>
          <p:cNvSpPr>
            <a:spLocks/>
          </p:cNvSpPr>
          <p:nvPr/>
        </p:nvSpPr>
        <p:spPr bwMode="auto">
          <a:xfrm>
            <a:off x="3505200" y="4446588"/>
            <a:ext cx="1054100" cy="674687"/>
          </a:xfrm>
          <a:custGeom>
            <a:avLst/>
            <a:gdLst>
              <a:gd name="T0" fmla="*/ 2147483646 w 664"/>
              <a:gd name="T1" fmla="*/ 2147483646 h 425"/>
              <a:gd name="T2" fmla="*/ 2147483646 w 664"/>
              <a:gd name="T3" fmla="*/ 0 h 425"/>
              <a:gd name="T4" fmla="*/ 0 60000 65536"/>
              <a:gd name="T5" fmla="*/ 0 60000 65536"/>
              <a:gd name="T6" fmla="*/ 0 w 664"/>
              <a:gd name="T7" fmla="*/ 0 h 425"/>
              <a:gd name="T8" fmla="*/ 664 w 664"/>
              <a:gd name="T9" fmla="*/ 425 h 4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64" h="425">
                <a:moveTo>
                  <a:pt x="241" y="20"/>
                </a:moveTo>
                <a:cubicBezTo>
                  <a:pt x="0" y="393"/>
                  <a:pt x="664" y="425"/>
                  <a:pt x="388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3443" name="Line 19">
            <a:extLst>
              <a:ext uri="{FF2B5EF4-FFF2-40B4-BE49-F238E27FC236}">
                <a16:creationId xmlns:a16="http://schemas.microsoft.com/office/drawing/2014/main" id="{D7E263AD-2B65-4A6A-885A-5198FA2A4D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4488" y="3257550"/>
            <a:ext cx="80327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3444" name="Text Box 20">
            <a:extLst>
              <a:ext uri="{FF2B5EF4-FFF2-40B4-BE49-F238E27FC236}">
                <a16:creationId xmlns:a16="http://schemas.microsoft.com/office/drawing/2014/main" id="{46CAF251-D577-4F58-A946-63AFD8527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3227388"/>
            <a:ext cx="14859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base=1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nextseqnum=1</a:t>
            </a:r>
            <a:endParaRPr lang="en-US" altLang="zh-TW" sz="1400">
              <a:latin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103445" name="Text Box 21">
            <a:extLst>
              <a:ext uri="{FF2B5EF4-FFF2-40B4-BE49-F238E27FC236}">
                <a16:creationId xmlns:a16="http://schemas.microsoft.com/office/drawing/2014/main" id="{049383F8-9801-4E02-8DF6-290302948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950" y="4289425"/>
            <a:ext cx="20478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 err="1">
                <a:latin typeface="Arial" panose="020B0604020202020204" pitchFamily="34" charset="0"/>
              </a:rPr>
              <a:t>rdt_rcv</a:t>
            </a:r>
            <a:r>
              <a:rPr lang="en-US" altLang="zh-TW" sz="1400" dirty="0">
                <a:latin typeface="Arial" panose="020B0604020202020204" pitchFamily="34" charset="0"/>
              </a:rPr>
              <a:t>(</a:t>
            </a:r>
            <a:r>
              <a:rPr lang="en-US" altLang="zh-TW" sz="1400" dirty="0" err="1">
                <a:latin typeface="Arial" panose="020B0604020202020204" pitchFamily="34" charset="0"/>
              </a:rPr>
              <a:t>rcvpkt</a:t>
            </a:r>
            <a:r>
              <a:rPr lang="en-US" altLang="zh-TW" sz="1400" dirty="0">
                <a:latin typeface="Arial" panose="020B0604020202020204" pitchFamily="34" charset="0"/>
              </a:rPr>
              <a:t>)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latin typeface="Arial" panose="020B0604020202020204" pitchFamily="34" charset="0"/>
              </a:rPr>
              <a:t>   &amp;&amp; corrupt(</a:t>
            </a:r>
            <a:r>
              <a:rPr lang="en-US" altLang="zh-TW" sz="1400" dirty="0" err="1">
                <a:latin typeface="Arial" panose="020B0604020202020204" pitchFamily="34" charset="0"/>
              </a:rPr>
              <a:t>rcvpkt</a:t>
            </a:r>
            <a:r>
              <a:rPr lang="en-US" altLang="zh-TW" sz="1400" dirty="0">
                <a:latin typeface="Arial" panose="020B0604020202020204" pitchFamily="34" charset="0"/>
              </a:rPr>
              <a:t>)</a:t>
            </a:r>
            <a:r>
              <a:rPr lang="en-US" altLang="zh-TW" sz="1000" dirty="0">
                <a:latin typeface="Arial" panose="020B0604020202020204" pitchFamily="34" charset="0"/>
              </a:rPr>
              <a:t>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dirty="0">
              <a:latin typeface="Times New Roman" panose="02020603050405020304" pitchFamily="18" charset="0"/>
            </a:endParaRPr>
          </a:p>
        </p:txBody>
      </p:sp>
      <p:sp>
        <p:nvSpPr>
          <p:cNvPr id="103446" name="Line 22">
            <a:extLst>
              <a:ext uri="{FF2B5EF4-FFF2-40B4-BE49-F238E27FC236}">
                <a16:creationId xmlns:a16="http://schemas.microsoft.com/office/drawing/2014/main" id="{4328EBCA-B6E2-447D-9C05-6D1752511B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43025" y="4787900"/>
            <a:ext cx="15208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3447" name="Freeform 23">
            <a:extLst>
              <a:ext uri="{FF2B5EF4-FFF2-40B4-BE49-F238E27FC236}">
                <a16:creationId xmlns:a16="http://schemas.microsoft.com/office/drawing/2014/main" id="{BF20D941-0255-4047-93CE-DDD0639A5DE2}"/>
              </a:ext>
            </a:extLst>
          </p:cNvPr>
          <p:cNvSpPr>
            <a:spLocks/>
          </p:cNvSpPr>
          <p:nvPr/>
        </p:nvSpPr>
        <p:spPr bwMode="auto">
          <a:xfrm>
            <a:off x="2898775" y="4221163"/>
            <a:ext cx="695325" cy="638175"/>
          </a:xfrm>
          <a:custGeom>
            <a:avLst/>
            <a:gdLst>
              <a:gd name="T0" fmla="*/ 2147483646 w 1095"/>
              <a:gd name="T1" fmla="*/ 0 h 1005"/>
              <a:gd name="T2" fmla="*/ 2147483646 w 1095"/>
              <a:gd name="T3" fmla="*/ 2147483646 h 1005"/>
              <a:gd name="T4" fmla="*/ 0 60000 65536"/>
              <a:gd name="T5" fmla="*/ 0 60000 65536"/>
              <a:gd name="T6" fmla="*/ 0 w 1095"/>
              <a:gd name="T7" fmla="*/ 0 h 1005"/>
              <a:gd name="T8" fmla="*/ 1095 w 1095"/>
              <a:gd name="T9" fmla="*/ 1005 h 100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95" h="1005">
                <a:moveTo>
                  <a:pt x="1005" y="0"/>
                </a:moveTo>
                <a:cubicBezTo>
                  <a:pt x="0" y="30"/>
                  <a:pt x="645" y="1005"/>
                  <a:pt x="1095" y="16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3448" name="Text Box 24">
            <a:extLst>
              <a:ext uri="{FF2B5EF4-FFF2-40B4-BE49-F238E27FC236}">
                <a16:creationId xmlns:a16="http://schemas.microsoft.com/office/drawing/2014/main" id="{28E1EC0F-A3C7-406E-BF6F-7363542A8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350" y="2927350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latin typeface="Symbol" panose="05050102010706020507" pitchFamily="18" charset="2"/>
              </a:rPr>
              <a:t>L</a:t>
            </a:r>
          </a:p>
        </p:txBody>
      </p:sp>
      <p:pic>
        <p:nvPicPr>
          <p:cNvPr id="103449" name="Picture 25" descr="underline_base">
            <a:extLst>
              <a:ext uri="{FF2B5EF4-FFF2-40B4-BE49-F238E27FC236}">
                <a16:creationId xmlns:a16="http://schemas.microsoft.com/office/drawing/2014/main" id="{6761489C-2A00-4072-B3AB-A68D4AC69BE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760413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50" name="Rectangle 1">
            <a:extLst>
              <a:ext uri="{FF2B5EF4-FFF2-40B4-BE49-F238E27FC236}">
                <a16:creationId xmlns:a16="http://schemas.microsoft.com/office/drawing/2014/main" id="{A63EF2E8-A31C-4EA1-850A-5CD8B5196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" y="1260475"/>
            <a:ext cx="318293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TW" sz="1600" dirty="0">
                <a:solidFill>
                  <a:srgbClr val="C00000"/>
                </a:solidFill>
                <a:latin typeface="Tahoma" panose="020B0604030504040204" pitchFamily="34" charset="0"/>
              </a:rPr>
              <a:t>// Checks if blue region is available: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rgbClr val="C00000"/>
                </a:solidFill>
                <a:latin typeface="Tahoma" panose="020B0604030504040204" pitchFamily="34" charset="0"/>
              </a:rPr>
              <a:t>If so, creates a packet. 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rgbClr val="C00000"/>
                </a:solidFill>
                <a:latin typeface="Tahoma" panose="020B0604030504040204" pitchFamily="34" charset="0"/>
              </a:rPr>
              <a:t>If not, returns data back to upper layer. </a:t>
            </a:r>
          </a:p>
        </p:txBody>
      </p:sp>
      <p:sp>
        <p:nvSpPr>
          <p:cNvPr id="103451" name="Rectangle 2">
            <a:extLst>
              <a:ext uri="{FF2B5EF4-FFF2-40B4-BE49-F238E27FC236}">
                <a16:creationId xmlns:a16="http://schemas.microsoft.com/office/drawing/2014/main" id="{ED93BC36-E298-49FD-99CC-B3A162153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8" y="5438775"/>
            <a:ext cx="2252662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solidFill>
                  <a:srgbClr val="7030A0"/>
                </a:solidFill>
                <a:latin typeface="Tahoma" panose="020B0604030504040204" pitchFamily="34" charset="0"/>
              </a:rPr>
              <a:t>// Cumulative ACK: Update </a:t>
            </a:r>
            <a:r>
              <a:rPr lang="en-US" altLang="zh-TW" sz="1600" dirty="0" err="1">
                <a:solidFill>
                  <a:srgbClr val="7030A0"/>
                </a:solidFill>
                <a:latin typeface="Tahoma" panose="020B0604030504040204" pitchFamily="34" charset="0"/>
              </a:rPr>
              <a:t>send_base</a:t>
            </a:r>
            <a:endParaRPr lang="en-US" altLang="zh-TW" sz="1600" dirty="0">
              <a:solidFill>
                <a:srgbClr val="7030A0"/>
              </a:solidFill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latin typeface="Tahoma" panose="020B0604030504040204" pitchFamily="34" charset="0"/>
              </a:rPr>
              <a:t>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103452" name="Rectangle 1">
            <a:extLst>
              <a:ext uri="{FF2B5EF4-FFF2-40B4-BE49-F238E27FC236}">
                <a16:creationId xmlns:a16="http://schemas.microsoft.com/office/drawing/2014/main" id="{9FD29B05-B41A-4F34-8BD4-5BF4849CF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088" y="3113088"/>
            <a:ext cx="318293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TW" sz="1600" dirty="0">
                <a:solidFill>
                  <a:srgbClr val="0070C0"/>
                </a:solidFill>
                <a:latin typeface="Tahoma" panose="020B0604030504040204" pitchFamily="34" charset="0"/>
              </a:rPr>
              <a:t>// If timeout, retransmit packets in yellow region. </a:t>
            </a:r>
          </a:p>
        </p:txBody>
      </p:sp>
      <p:sp>
        <p:nvSpPr>
          <p:cNvPr id="31" name="Text Box 24">
            <a:extLst>
              <a:ext uri="{FF2B5EF4-FFF2-40B4-BE49-F238E27FC236}">
                <a16:creationId xmlns:a16="http://schemas.microsoft.com/office/drawing/2014/main" id="{C90A1F7A-F652-4875-BDAC-3796A35C9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8162" y="4776788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latin typeface="Symbol" panose="05050102010706020507" pitchFamily="18" charset="2"/>
              </a:rPr>
              <a:t>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Footer Placeholder 5">
            <a:extLst>
              <a:ext uri="{FF2B5EF4-FFF2-40B4-BE49-F238E27FC236}">
                <a16:creationId xmlns:a16="http://schemas.microsoft.com/office/drawing/2014/main" id="{358ADD6C-25C7-4E24-910F-EEE915B25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104451" name="Slide Number Placeholder 6">
            <a:extLst>
              <a:ext uri="{FF2B5EF4-FFF2-40B4-BE49-F238E27FC236}">
                <a16:creationId xmlns:a16="http://schemas.microsoft.com/office/drawing/2014/main" id="{9C501542-CC88-44B1-A985-C4A46669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3FFDCF5C-87D9-47D9-9ED0-32396AC03CD6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283E1CCC-F345-4336-9FCD-9DECE2E818A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801688" y="3641725"/>
            <a:ext cx="8148637" cy="2854325"/>
          </a:xfrm>
        </p:spPr>
        <p:txBody>
          <a:bodyPr/>
          <a:lstStyle/>
          <a:p>
            <a:pPr>
              <a:defRPr/>
            </a:pPr>
            <a:r>
              <a:rPr lang="en-US" altLang="zh-TW" sz="2400" dirty="0"/>
              <a:t>If a packet with seq # </a:t>
            </a:r>
            <a:r>
              <a:rPr lang="en-US" altLang="zh-TW" sz="2400" i="1" dirty="0"/>
              <a:t>n</a:t>
            </a:r>
            <a:r>
              <a:rPr lang="en-US" altLang="zh-TW" sz="2400" dirty="0"/>
              <a:t> is </a:t>
            </a:r>
          </a:p>
          <a:p>
            <a:pPr marL="514350" indent="-514350">
              <a:buFont typeface="Wingdings" panose="05000000000000000000" pitchFamily="2" charset="2"/>
              <a:buAutoNum type="alphaLcParenBoth"/>
              <a:defRPr/>
            </a:pPr>
            <a:r>
              <a:rPr lang="en-US" altLang="zh-TW" sz="2400" dirty="0">
                <a:solidFill>
                  <a:srgbClr val="7030A0"/>
                </a:solidFill>
              </a:rPr>
              <a:t>received correctly </a:t>
            </a:r>
            <a:r>
              <a:rPr lang="en-US" altLang="zh-TW" sz="2400" dirty="0"/>
              <a:t>AND </a:t>
            </a:r>
          </a:p>
          <a:p>
            <a:pPr marL="514350" indent="-514350">
              <a:buFont typeface="Wingdings" panose="05000000000000000000" pitchFamily="2" charset="2"/>
              <a:buAutoNum type="alphaLcParenBoth"/>
              <a:defRPr/>
            </a:pPr>
            <a:r>
              <a:rPr lang="en-US" altLang="zh-TW" sz="2400" dirty="0">
                <a:solidFill>
                  <a:srgbClr val="C00000"/>
                </a:solidFill>
              </a:rPr>
              <a:t>in order </a:t>
            </a:r>
            <a:r>
              <a:rPr lang="en-US" altLang="zh-TW" sz="2400" dirty="0"/>
              <a:t>(i.e., data last delivered to the upper layer came from a packet with sequence number </a:t>
            </a:r>
            <a:r>
              <a:rPr lang="en-US" altLang="zh-TW" sz="2400" i="1" dirty="0"/>
              <a:t>n-1</a:t>
            </a:r>
            <a:r>
              <a:rPr lang="en-US" altLang="zh-TW" sz="2400" dirty="0"/>
              <a:t>): </a:t>
            </a:r>
          </a:p>
          <a:p>
            <a:pPr lvl="1">
              <a:defRPr/>
            </a:pPr>
            <a:r>
              <a:rPr lang="en-US" altLang="zh-TW" dirty="0">
                <a:solidFill>
                  <a:srgbClr val="0070C0"/>
                </a:solidFill>
              </a:rPr>
              <a:t>delivers the data portion of packet to upper layer</a:t>
            </a:r>
          </a:p>
          <a:p>
            <a:pPr lvl="1">
              <a:defRPr/>
            </a:pPr>
            <a:r>
              <a:rPr lang="en-US" altLang="zh-TW" dirty="0"/>
              <a:t>receiver </a:t>
            </a:r>
            <a:r>
              <a:rPr lang="en-US" altLang="zh-TW" dirty="0">
                <a:solidFill>
                  <a:srgbClr val="FFC000"/>
                </a:solidFill>
              </a:rPr>
              <a:t>sends an ACK for packet </a:t>
            </a:r>
            <a:r>
              <a:rPr lang="en-US" altLang="zh-TW" i="1" dirty="0">
                <a:solidFill>
                  <a:srgbClr val="FFC000"/>
                </a:solidFill>
              </a:rPr>
              <a:t>n</a:t>
            </a:r>
          </a:p>
          <a:p>
            <a:pPr>
              <a:defRPr/>
            </a:pPr>
            <a:r>
              <a:rPr lang="en-US" altLang="zh-TW" sz="2400" dirty="0"/>
              <a:t>Ow, receiver discards packet and </a:t>
            </a:r>
            <a:r>
              <a:rPr lang="en-US" altLang="zh-TW" sz="2400" dirty="0">
                <a:solidFill>
                  <a:srgbClr val="00B050"/>
                </a:solidFill>
              </a:rPr>
              <a:t>resends an ACK for the most recently received in-order packet. </a:t>
            </a:r>
          </a:p>
        </p:txBody>
      </p:sp>
      <p:sp>
        <p:nvSpPr>
          <p:cNvPr id="104453" name="Oval 4">
            <a:extLst>
              <a:ext uri="{FF2B5EF4-FFF2-40B4-BE49-F238E27FC236}">
                <a16:creationId xmlns:a16="http://schemas.microsoft.com/office/drawing/2014/main" id="{CA0EB009-44AC-42B6-ACC7-755EA8B35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125" y="2041525"/>
            <a:ext cx="666750" cy="6572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04454" name="Text Box 5">
            <a:extLst>
              <a:ext uri="{FF2B5EF4-FFF2-40B4-BE49-F238E27FC236}">
                <a16:creationId xmlns:a16="http://schemas.microsoft.com/office/drawing/2014/main" id="{09A95E7D-05F7-496C-A78C-01D177F35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638" y="2209800"/>
            <a:ext cx="8001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Wait</a:t>
            </a:r>
            <a:endParaRPr lang="en-US" altLang="zh-TW" sz="1600">
              <a:latin typeface="Times New Roman" panose="02020603050405020304" pitchFamily="18" charset="0"/>
            </a:endParaRPr>
          </a:p>
        </p:txBody>
      </p:sp>
      <p:sp>
        <p:nvSpPr>
          <p:cNvPr id="104455" name="Line 6">
            <a:extLst>
              <a:ext uri="{FF2B5EF4-FFF2-40B4-BE49-F238E27FC236}">
                <a16:creationId xmlns:a16="http://schemas.microsoft.com/office/drawing/2014/main" id="{ECFF87C3-F609-404C-8F21-F614F2D83EA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550" y="1881188"/>
            <a:ext cx="2298700" cy="474662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4456" name="Text Box 7">
            <a:extLst>
              <a:ext uri="{FF2B5EF4-FFF2-40B4-BE49-F238E27FC236}">
                <a16:creationId xmlns:a16="http://schemas.microsoft.com/office/drawing/2014/main" id="{F9B0D370-BFEF-4E0D-A5C0-B08CDFD79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7463" y="1468438"/>
            <a:ext cx="1617662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 err="1">
                <a:solidFill>
                  <a:srgbClr val="00B050"/>
                </a:solidFill>
                <a:latin typeface="Arial" panose="020B0604020202020204" pitchFamily="34" charset="0"/>
              </a:rPr>
              <a:t>udt_send</a:t>
            </a:r>
            <a:r>
              <a:rPr lang="en-US" altLang="zh-TW" sz="1400" dirty="0">
                <a:solidFill>
                  <a:srgbClr val="00B050"/>
                </a:solidFill>
                <a:latin typeface="Arial" panose="020B0604020202020204" pitchFamily="34" charset="0"/>
              </a:rPr>
              <a:t>(</a:t>
            </a:r>
            <a:r>
              <a:rPr lang="en-US" altLang="zh-TW" sz="1400" dirty="0" err="1">
                <a:solidFill>
                  <a:srgbClr val="00B050"/>
                </a:solidFill>
                <a:latin typeface="Arial" panose="020B0604020202020204" pitchFamily="34" charset="0"/>
              </a:rPr>
              <a:t>sndpkt</a:t>
            </a:r>
            <a:r>
              <a:rPr lang="en-US" altLang="zh-TW" sz="1400" dirty="0">
                <a:solidFill>
                  <a:srgbClr val="00B050"/>
                </a:solidFill>
                <a:latin typeface="Arial" panose="020B0604020202020204" pitchFamily="34" charset="0"/>
              </a:rPr>
              <a:t>)</a:t>
            </a:r>
            <a:endParaRPr lang="en-US" altLang="zh-TW" sz="1400" dirty="0">
              <a:solidFill>
                <a:srgbClr val="00B05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457" name="Text Box 8">
            <a:extLst>
              <a:ext uri="{FF2B5EF4-FFF2-40B4-BE49-F238E27FC236}">
                <a16:creationId xmlns:a16="http://schemas.microsoft.com/office/drawing/2014/main" id="{2FF5AFED-1D54-4C69-85E3-2E7C258CF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7150" y="1192213"/>
            <a:ext cx="725488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default</a:t>
            </a:r>
            <a:endParaRPr lang="en-US" altLang="zh-TW" sz="1400">
              <a:latin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104458" name="Line 9">
            <a:extLst>
              <a:ext uri="{FF2B5EF4-FFF2-40B4-BE49-F238E27FC236}">
                <a16:creationId xmlns:a16="http://schemas.microsoft.com/office/drawing/2014/main" id="{58C5D457-498D-4787-97FD-F80169B850C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8113" y="1489075"/>
            <a:ext cx="8159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4459" name="Freeform 10">
            <a:extLst>
              <a:ext uri="{FF2B5EF4-FFF2-40B4-BE49-F238E27FC236}">
                <a16:creationId xmlns:a16="http://schemas.microsoft.com/office/drawing/2014/main" id="{E5452C7E-D320-40E1-B9BA-13879D739671}"/>
              </a:ext>
            </a:extLst>
          </p:cNvPr>
          <p:cNvSpPr>
            <a:spLocks/>
          </p:cNvSpPr>
          <p:nvPr/>
        </p:nvSpPr>
        <p:spPr bwMode="auto">
          <a:xfrm>
            <a:off x="3832225" y="1784350"/>
            <a:ext cx="828675" cy="1152525"/>
          </a:xfrm>
          <a:custGeom>
            <a:avLst/>
            <a:gdLst>
              <a:gd name="T0" fmla="*/ 2147483646 w 619"/>
              <a:gd name="T1" fmla="*/ 2147483646 h 1815"/>
              <a:gd name="T2" fmla="*/ 0 w 619"/>
              <a:gd name="T3" fmla="*/ 2147483646 h 1815"/>
              <a:gd name="T4" fmla="*/ 0 60000 65536"/>
              <a:gd name="T5" fmla="*/ 0 60000 65536"/>
              <a:gd name="T6" fmla="*/ 0 w 619"/>
              <a:gd name="T7" fmla="*/ 0 h 1815"/>
              <a:gd name="T8" fmla="*/ 619 w 619"/>
              <a:gd name="T9" fmla="*/ 1815 h 18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4460" name="Text Box 11">
            <a:extLst>
              <a:ext uri="{FF2B5EF4-FFF2-40B4-BE49-F238E27FC236}">
                <a16:creationId xmlns:a16="http://schemas.microsoft.com/office/drawing/2014/main" id="{C0F743AE-3142-44C6-90DD-14F88E058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938" y="1554163"/>
            <a:ext cx="3570287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rdt_rcv(rcvpkt)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  &amp;&amp; </a:t>
            </a:r>
            <a:r>
              <a:rPr lang="en-US" altLang="zh-TW" sz="1400">
                <a:solidFill>
                  <a:srgbClr val="7030A0"/>
                </a:solidFill>
                <a:latin typeface="Arial" panose="020B0604020202020204" pitchFamily="34" charset="0"/>
              </a:rPr>
              <a:t>notcurrupt</a:t>
            </a:r>
            <a:r>
              <a:rPr lang="en-US" altLang="zh-TW" sz="1400">
                <a:latin typeface="Arial" panose="020B0604020202020204" pitchFamily="34" charset="0"/>
              </a:rPr>
              <a:t>(rcvpkt)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  &amp;&amp; </a:t>
            </a:r>
            <a:r>
              <a:rPr lang="en-US" altLang="zh-TW" sz="1400">
                <a:solidFill>
                  <a:srgbClr val="C00000"/>
                </a:solidFill>
                <a:latin typeface="Arial" panose="020B0604020202020204" pitchFamily="34" charset="0"/>
              </a:rPr>
              <a:t>hasseqnum</a:t>
            </a:r>
            <a:r>
              <a:rPr lang="en-US" altLang="zh-TW" sz="1400">
                <a:latin typeface="Arial" panose="020B0604020202020204" pitchFamily="34" charset="0"/>
              </a:rPr>
              <a:t>(rcvpkt,expectedseqnum) </a:t>
            </a:r>
            <a:endParaRPr lang="en-US" altLang="zh-TW" sz="1400">
              <a:latin typeface="Times New Roman" panose="02020603050405020304" pitchFamily="18" charset="0"/>
            </a:endParaRPr>
          </a:p>
        </p:txBody>
      </p:sp>
      <p:sp>
        <p:nvSpPr>
          <p:cNvPr id="104461" name="Line 12">
            <a:extLst>
              <a:ext uri="{FF2B5EF4-FFF2-40B4-BE49-F238E27FC236}">
                <a16:creationId xmlns:a16="http://schemas.microsoft.com/office/drawing/2014/main" id="{5674A7AB-DF5C-4D6D-BA0F-2FE26DD67B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5788" y="2246313"/>
            <a:ext cx="317500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4462" name="Text Box 13">
            <a:extLst>
              <a:ext uri="{FF2B5EF4-FFF2-40B4-BE49-F238E27FC236}">
                <a16:creationId xmlns:a16="http://schemas.microsoft.com/office/drawing/2014/main" id="{6E807F98-8448-4017-9B2B-88385B45B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0700" y="2289175"/>
            <a:ext cx="4314825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latin typeface="Arial" panose="020B0604020202020204" pitchFamily="34" charset="0"/>
              </a:rPr>
              <a:t>extract(</a:t>
            </a:r>
            <a:r>
              <a:rPr lang="en-US" altLang="zh-TW" sz="1400" dirty="0" err="1">
                <a:latin typeface="Arial" panose="020B0604020202020204" pitchFamily="34" charset="0"/>
              </a:rPr>
              <a:t>rcvpkt,data</a:t>
            </a:r>
            <a:r>
              <a:rPr lang="en-US" altLang="zh-TW" sz="1400" dirty="0">
                <a:latin typeface="Arial" panose="020B0604020202020204" pitchFamily="34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 err="1">
                <a:solidFill>
                  <a:srgbClr val="0070C0"/>
                </a:solidFill>
                <a:latin typeface="Arial" panose="020B0604020202020204" pitchFamily="34" charset="0"/>
              </a:rPr>
              <a:t>deliver_data</a:t>
            </a:r>
            <a:r>
              <a:rPr lang="en-US" altLang="zh-TW" sz="1400" dirty="0">
                <a:solidFill>
                  <a:srgbClr val="0070C0"/>
                </a:solidFill>
                <a:latin typeface="Arial" panose="020B0604020202020204" pitchFamily="34" charset="0"/>
              </a:rPr>
              <a:t>(data)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 err="1">
                <a:latin typeface="Arial" panose="020B0604020202020204" pitchFamily="34" charset="0"/>
              </a:rPr>
              <a:t>sndpkt</a:t>
            </a:r>
            <a:r>
              <a:rPr lang="en-US" altLang="zh-TW" sz="1400" dirty="0">
                <a:latin typeface="Arial" panose="020B0604020202020204" pitchFamily="34" charset="0"/>
              </a:rPr>
              <a:t> = </a:t>
            </a:r>
            <a:r>
              <a:rPr lang="en-US" altLang="zh-TW" sz="1400" dirty="0" err="1">
                <a:solidFill>
                  <a:srgbClr val="FFC000"/>
                </a:solidFill>
                <a:latin typeface="Arial" panose="020B0604020202020204" pitchFamily="34" charset="0"/>
              </a:rPr>
              <a:t>make_pkt</a:t>
            </a:r>
            <a:r>
              <a:rPr lang="en-US" altLang="zh-TW" sz="1400" dirty="0">
                <a:solidFill>
                  <a:srgbClr val="FFC000"/>
                </a:solidFill>
                <a:latin typeface="Arial" panose="020B0604020202020204" pitchFamily="34" charset="0"/>
              </a:rPr>
              <a:t>(</a:t>
            </a:r>
            <a:r>
              <a:rPr lang="en-US" altLang="zh-TW" sz="1400" dirty="0" err="1">
                <a:solidFill>
                  <a:srgbClr val="FFC000"/>
                </a:solidFill>
                <a:latin typeface="Arial" panose="020B0604020202020204" pitchFamily="34" charset="0"/>
              </a:rPr>
              <a:t>expectedseqnum</a:t>
            </a:r>
            <a:r>
              <a:rPr lang="en-US" altLang="zh-TW" sz="1400" dirty="0" err="1">
                <a:solidFill>
                  <a:srgbClr val="0070C0"/>
                </a:solidFill>
                <a:latin typeface="Arial" panose="020B0604020202020204" pitchFamily="34" charset="0"/>
              </a:rPr>
              <a:t>,</a:t>
            </a:r>
            <a:r>
              <a:rPr lang="en-US" altLang="zh-TW" sz="1400" dirty="0" err="1">
                <a:latin typeface="Arial" panose="020B0604020202020204" pitchFamily="34" charset="0"/>
              </a:rPr>
              <a:t>ACK,chksum</a:t>
            </a:r>
            <a:r>
              <a:rPr lang="en-US" altLang="zh-TW" sz="1400" dirty="0">
                <a:latin typeface="Arial" panose="020B0604020202020204" pitchFamily="34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 err="1">
                <a:latin typeface="Arial" panose="020B0604020202020204" pitchFamily="34" charset="0"/>
              </a:rPr>
              <a:t>udt_send</a:t>
            </a:r>
            <a:r>
              <a:rPr lang="en-US" altLang="zh-TW" sz="1400" dirty="0">
                <a:latin typeface="Arial" panose="020B0604020202020204" pitchFamily="34" charset="0"/>
              </a:rPr>
              <a:t>(</a:t>
            </a:r>
            <a:r>
              <a:rPr lang="en-US" altLang="zh-TW" sz="1400" dirty="0" err="1">
                <a:latin typeface="Arial" panose="020B0604020202020204" pitchFamily="34" charset="0"/>
              </a:rPr>
              <a:t>sndpkt</a:t>
            </a:r>
            <a:r>
              <a:rPr lang="en-US" altLang="zh-TW" sz="1400" dirty="0">
                <a:latin typeface="Arial" panose="020B0604020202020204" pitchFamily="34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 err="1">
                <a:latin typeface="Arial" panose="020B0604020202020204" pitchFamily="34" charset="0"/>
              </a:rPr>
              <a:t>expectedseqnum</a:t>
            </a:r>
            <a:r>
              <a:rPr lang="en-US" altLang="zh-TW" sz="1400" dirty="0">
                <a:latin typeface="Arial" panose="020B0604020202020204" pitchFamily="34" charset="0"/>
              </a:rPr>
              <a:t>++</a:t>
            </a:r>
            <a:endParaRPr lang="en-US" altLang="zh-TW" sz="1400" dirty="0">
              <a:latin typeface="Times New Roman" panose="02020603050405020304" pitchFamily="18" charset="0"/>
            </a:endParaRPr>
          </a:p>
        </p:txBody>
      </p:sp>
      <p:sp>
        <p:nvSpPr>
          <p:cNvPr id="104463" name="Freeform 14">
            <a:extLst>
              <a:ext uri="{FF2B5EF4-FFF2-40B4-BE49-F238E27FC236}">
                <a16:creationId xmlns:a16="http://schemas.microsoft.com/office/drawing/2014/main" id="{CA3F2C75-CB26-40C2-AEDB-14D9A2222D36}"/>
              </a:ext>
            </a:extLst>
          </p:cNvPr>
          <p:cNvSpPr>
            <a:spLocks/>
          </p:cNvSpPr>
          <p:nvPr/>
        </p:nvSpPr>
        <p:spPr bwMode="auto">
          <a:xfrm rot="5142103" flipH="1">
            <a:off x="3305176" y="1260475"/>
            <a:ext cx="393700" cy="1152525"/>
          </a:xfrm>
          <a:custGeom>
            <a:avLst/>
            <a:gdLst>
              <a:gd name="T0" fmla="*/ 2147483646 w 619"/>
              <a:gd name="T1" fmla="*/ 2147483646 h 1815"/>
              <a:gd name="T2" fmla="*/ 0 w 619"/>
              <a:gd name="T3" fmla="*/ 2147483646 h 1815"/>
              <a:gd name="T4" fmla="*/ 0 60000 65536"/>
              <a:gd name="T5" fmla="*/ 0 60000 65536"/>
              <a:gd name="T6" fmla="*/ 0 w 619"/>
              <a:gd name="T7" fmla="*/ 0 h 1815"/>
              <a:gd name="T8" fmla="*/ 619 w 619"/>
              <a:gd name="T9" fmla="*/ 1815 h 18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4464" name="Line 15">
            <a:extLst>
              <a:ext uri="{FF2B5EF4-FFF2-40B4-BE49-F238E27FC236}">
                <a16:creationId xmlns:a16="http://schemas.microsoft.com/office/drawing/2014/main" id="{6579294B-C8D8-462D-A71E-48456EFDFE3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225" y="2293938"/>
            <a:ext cx="12382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4465" name="Text Box 16">
            <a:extLst>
              <a:ext uri="{FF2B5EF4-FFF2-40B4-BE49-F238E27FC236}">
                <a16:creationId xmlns:a16="http://schemas.microsoft.com/office/drawing/2014/main" id="{E9BAE992-A7EB-42D9-95AC-86BF063BF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8" y="2314575"/>
            <a:ext cx="3641725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expectedseqnum=1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sndpkt =  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  make_pkt(expectedseqnum,ACK,chksum)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1400">
              <a:latin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104466" name="Text Box 17">
            <a:extLst>
              <a:ext uri="{FF2B5EF4-FFF2-40B4-BE49-F238E27FC236}">
                <a16:creationId xmlns:a16="http://schemas.microsoft.com/office/drawing/2014/main" id="{BA608240-A340-43DA-BE4B-9CE5360E4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1990725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50195" name="Rectangle 19">
            <a:extLst>
              <a:ext uri="{FF2B5EF4-FFF2-40B4-BE49-F238E27FC236}">
                <a16:creationId xmlns:a16="http://schemas.microsoft.com/office/drawing/2014/main" id="{B75555EF-3F25-444F-9D1A-11061012E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7963"/>
            <a:ext cx="7772400" cy="700087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GBN: </a:t>
            </a:r>
            <a:r>
              <a:rPr lang="en-US" dirty="0">
                <a:solidFill>
                  <a:srgbClr val="FF0000"/>
                </a:solidFill>
                <a:ea typeface="ＭＳ Ｐゴシック" charset="0"/>
                <a:cs typeface="+mj-cs"/>
              </a:rPr>
              <a:t>receiver</a:t>
            </a:r>
            <a:r>
              <a:rPr lang="en-US" dirty="0">
                <a:ea typeface="ＭＳ Ｐゴシック" charset="0"/>
                <a:cs typeface="+mj-cs"/>
              </a:rPr>
              <a:t> extended FSM</a:t>
            </a:r>
          </a:p>
        </p:txBody>
      </p:sp>
      <p:pic>
        <p:nvPicPr>
          <p:cNvPr id="104468" name="Picture 22" descr="underline_base">
            <a:extLst>
              <a:ext uri="{FF2B5EF4-FFF2-40B4-BE49-F238E27FC236}">
                <a16:creationId xmlns:a16="http://schemas.microsoft.com/office/drawing/2014/main" id="{1ADD5781-EBC6-4158-9DEE-C8342439062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806450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Footer Placeholder 5">
            <a:extLst>
              <a:ext uri="{FF2B5EF4-FFF2-40B4-BE49-F238E27FC236}">
                <a16:creationId xmlns:a16="http://schemas.microsoft.com/office/drawing/2014/main" id="{7AB3A7F5-6DE7-4FDA-8BCF-72F3A7099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105475" name="Slide Number Placeholder 6">
            <a:extLst>
              <a:ext uri="{FF2B5EF4-FFF2-40B4-BE49-F238E27FC236}">
                <a16:creationId xmlns:a16="http://schemas.microsoft.com/office/drawing/2014/main" id="{39FCA6F2-184E-4E6E-A151-0CB9879EA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BE045C67-79F1-4ABB-B0CD-9E4BD3881882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CCEF79E8-2A21-48FC-8BCC-CB8181B576D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801688" y="3641725"/>
            <a:ext cx="8148637" cy="2854325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solidFill>
                  <a:srgbClr val="FF0000"/>
                </a:solidFill>
              </a:rPr>
              <a:t>Simple receiver operations:</a:t>
            </a:r>
          </a:p>
          <a:p>
            <a:pPr lvl="1">
              <a:defRPr/>
            </a:pPr>
            <a:r>
              <a:rPr lang="en-US" altLang="zh-TW" dirty="0"/>
              <a:t>need only remember </a:t>
            </a:r>
            <a:r>
              <a:rPr lang="en-US" altLang="zh-TW" b="1" dirty="0">
                <a:latin typeface="Courier New" pitchFamily="49" charset="0"/>
              </a:rPr>
              <a:t>expectedseqnum</a:t>
            </a:r>
          </a:p>
          <a:p>
            <a:pPr lvl="1">
              <a:defRPr/>
            </a:pPr>
            <a:r>
              <a:rPr lang="en-US" altLang="zh-TW" dirty="0">
                <a:solidFill>
                  <a:srgbClr val="FF0000"/>
                </a:solidFill>
              </a:rPr>
              <a:t>no receiver buffering!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105477" name="Oval 4">
            <a:extLst>
              <a:ext uri="{FF2B5EF4-FFF2-40B4-BE49-F238E27FC236}">
                <a16:creationId xmlns:a16="http://schemas.microsoft.com/office/drawing/2014/main" id="{CC55BF15-6F67-418C-A39A-5E68A088B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125" y="2041525"/>
            <a:ext cx="666750" cy="6572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05478" name="Text Box 5">
            <a:extLst>
              <a:ext uri="{FF2B5EF4-FFF2-40B4-BE49-F238E27FC236}">
                <a16:creationId xmlns:a16="http://schemas.microsoft.com/office/drawing/2014/main" id="{082BAA03-CA53-499E-A015-C9DA51889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638" y="2209800"/>
            <a:ext cx="8001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Wait</a:t>
            </a:r>
            <a:endParaRPr lang="en-US" altLang="zh-TW" sz="1600">
              <a:latin typeface="Times New Roman" panose="02020603050405020304" pitchFamily="18" charset="0"/>
            </a:endParaRPr>
          </a:p>
        </p:txBody>
      </p:sp>
      <p:sp>
        <p:nvSpPr>
          <p:cNvPr id="105479" name="Line 6">
            <a:extLst>
              <a:ext uri="{FF2B5EF4-FFF2-40B4-BE49-F238E27FC236}">
                <a16:creationId xmlns:a16="http://schemas.microsoft.com/office/drawing/2014/main" id="{9163F070-10C4-4127-963E-DBF4DE585005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550" y="1881188"/>
            <a:ext cx="2298700" cy="474662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5480" name="Text Box 7">
            <a:extLst>
              <a:ext uri="{FF2B5EF4-FFF2-40B4-BE49-F238E27FC236}">
                <a16:creationId xmlns:a16="http://schemas.microsoft.com/office/drawing/2014/main" id="{C28CAFD7-9E90-4611-8921-7C1010CC9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7463" y="1468438"/>
            <a:ext cx="1617662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 err="1">
                <a:latin typeface="Arial" panose="020B0604020202020204" pitchFamily="34" charset="0"/>
              </a:rPr>
              <a:t>udt_send</a:t>
            </a:r>
            <a:r>
              <a:rPr lang="en-US" altLang="zh-TW" sz="1400" dirty="0">
                <a:latin typeface="Arial" panose="020B0604020202020204" pitchFamily="34" charset="0"/>
              </a:rPr>
              <a:t>(</a:t>
            </a:r>
            <a:r>
              <a:rPr lang="en-US" altLang="zh-TW" sz="1400" dirty="0" err="1">
                <a:latin typeface="Arial" panose="020B0604020202020204" pitchFamily="34" charset="0"/>
              </a:rPr>
              <a:t>sndpkt</a:t>
            </a:r>
            <a:r>
              <a:rPr lang="en-US" altLang="zh-TW" sz="1400" dirty="0">
                <a:latin typeface="Arial" panose="020B0604020202020204" pitchFamily="34" charset="0"/>
              </a:rPr>
              <a:t>)</a:t>
            </a:r>
            <a:endParaRPr lang="en-US" altLang="zh-TW" sz="1400" dirty="0">
              <a:latin typeface="Times New Roman" panose="02020603050405020304" pitchFamily="18" charset="0"/>
            </a:endParaRPr>
          </a:p>
        </p:txBody>
      </p:sp>
      <p:sp>
        <p:nvSpPr>
          <p:cNvPr id="105481" name="Text Box 8">
            <a:extLst>
              <a:ext uri="{FF2B5EF4-FFF2-40B4-BE49-F238E27FC236}">
                <a16:creationId xmlns:a16="http://schemas.microsoft.com/office/drawing/2014/main" id="{46D2F329-30B0-4CD6-BD01-5747651D0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7150" y="1192213"/>
            <a:ext cx="725488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default</a:t>
            </a:r>
            <a:endParaRPr lang="en-US" altLang="zh-TW" sz="1400">
              <a:latin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105482" name="Line 9">
            <a:extLst>
              <a:ext uri="{FF2B5EF4-FFF2-40B4-BE49-F238E27FC236}">
                <a16:creationId xmlns:a16="http://schemas.microsoft.com/office/drawing/2014/main" id="{41995E8F-CF29-4B59-B84A-B24B3ECF6A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8113" y="1489075"/>
            <a:ext cx="8159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5483" name="Freeform 10">
            <a:extLst>
              <a:ext uri="{FF2B5EF4-FFF2-40B4-BE49-F238E27FC236}">
                <a16:creationId xmlns:a16="http://schemas.microsoft.com/office/drawing/2014/main" id="{85346AF8-1A19-4A1E-9DDE-887B55C5A961}"/>
              </a:ext>
            </a:extLst>
          </p:cNvPr>
          <p:cNvSpPr>
            <a:spLocks/>
          </p:cNvSpPr>
          <p:nvPr/>
        </p:nvSpPr>
        <p:spPr bwMode="auto">
          <a:xfrm>
            <a:off x="3832225" y="1784350"/>
            <a:ext cx="828675" cy="1152525"/>
          </a:xfrm>
          <a:custGeom>
            <a:avLst/>
            <a:gdLst>
              <a:gd name="T0" fmla="*/ 2147483646 w 619"/>
              <a:gd name="T1" fmla="*/ 2147483646 h 1815"/>
              <a:gd name="T2" fmla="*/ 0 w 619"/>
              <a:gd name="T3" fmla="*/ 2147483646 h 1815"/>
              <a:gd name="T4" fmla="*/ 0 60000 65536"/>
              <a:gd name="T5" fmla="*/ 0 60000 65536"/>
              <a:gd name="T6" fmla="*/ 0 w 619"/>
              <a:gd name="T7" fmla="*/ 0 h 1815"/>
              <a:gd name="T8" fmla="*/ 619 w 619"/>
              <a:gd name="T9" fmla="*/ 1815 h 18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5484" name="Text Box 11">
            <a:extLst>
              <a:ext uri="{FF2B5EF4-FFF2-40B4-BE49-F238E27FC236}">
                <a16:creationId xmlns:a16="http://schemas.microsoft.com/office/drawing/2014/main" id="{192C75E5-854F-4054-B5DE-F23C5B0C9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938" y="1554163"/>
            <a:ext cx="3570287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rdt_rcv(rcvpkt)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  &amp;&amp; notcurrupt(rcvpkt)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  &amp;&amp; hasseqnum(rcvpkt,expectedseqnum) </a:t>
            </a:r>
            <a:endParaRPr lang="en-US" altLang="zh-TW" sz="1400">
              <a:latin typeface="Times New Roman" panose="02020603050405020304" pitchFamily="18" charset="0"/>
            </a:endParaRPr>
          </a:p>
        </p:txBody>
      </p:sp>
      <p:sp>
        <p:nvSpPr>
          <p:cNvPr id="105485" name="Line 12">
            <a:extLst>
              <a:ext uri="{FF2B5EF4-FFF2-40B4-BE49-F238E27FC236}">
                <a16:creationId xmlns:a16="http://schemas.microsoft.com/office/drawing/2014/main" id="{F5415D37-B3D5-45CC-8EE9-12345765D5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5788" y="2246313"/>
            <a:ext cx="317500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5486" name="Text Box 13">
            <a:extLst>
              <a:ext uri="{FF2B5EF4-FFF2-40B4-BE49-F238E27FC236}">
                <a16:creationId xmlns:a16="http://schemas.microsoft.com/office/drawing/2014/main" id="{336CCA5F-4CB0-4947-81A4-2B5F832BD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0700" y="2289175"/>
            <a:ext cx="4314825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extract(rcvpkt,data)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deliver_data(data)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sndpkt = make_pkt(expectedseqnum,ACK,chksum)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udt_send(sndpkt)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expectedseqnum++</a:t>
            </a:r>
            <a:endParaRPr lang="en-US" altLang="zh-TW" sz="1400">
              <a:latin typeface="Times New Roman" panose="02020603050405020304" pitchFamily="18" charset="0"/>
            </a:endParaRPr>
          </a:p>
        </p:txBody>
      </p:sp>
      <p:sp>
        <p:nvSpPr>
          <p:cNvPr id="105487" name="Freeform 14">
            <a:extLst>
              <a:ext uri="{FF2B5EF4-FFF2-40B4-BE49-F238E27FC236}">
                <a16:creationId xmlns:a16="http://schemas.microsoft.com/office/drawing/2014/main" id="{0949C049-F10A-464B-B96D-201F9BEB282A}"/>
              </a:ext>
            </a:extLst>
          </p:cNvPr>
          <p:cNvSpPr>
            <a:spLocks/>
          </p:cNvSpPr>
          <p:nvPr/>
        </p:nvSpPr>
        <p:spPr bwMode="auto">
          <a:xfrm rot="5142103" flipH="1">
            <a:off x="3305176" y="1260475"/>
            <a:ext cx="393700" cy="1152525"/>
          </a:xfrm>
          <a:custGeom>
            <a:avLst/>
            <a:gdLst>
              <a:gd name="T0" fmla="*/ 2147483646 w 619"/>
              <a:gd name="T1" fmla="*/ 2147483646 h 1815"/>
              <a:gd name="T2" fmla="*/ 0 w 619"/>
              <a:gd name="T3" fmla="*/ 2147483646 h 1815"/>
              <a:gd name="T4" fmla="*/ 0 60000 65536"/>
              <a:gd name="T5" fmla="*/ 0 60000 65536"/>
              <a:gd name="T6" fmla="*/ 0 w 619"/>
              <a:gd name="T7" fmla="*/ 0 h 1815"/>
              <a:gd name="T8" fmla="*/ 619 w 619"/>
              <a:gd name="T9" fmla="*/ 1815 h 18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5488" name="Line 15">
            <a:extLst>
              <a:ext uri="{FF2B5EF4-FFF2-40B4-BE49-F238E27FC236}">
                <a16:creationId xmlns:a16="http://schemas.microsoft.com/office/drawing/2014/main" id="{DA569573-31DE-455A-87EA-99438921C5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225" y="2293938"/>
            <a:ext cx="12382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5489" name="Text Box 16">
            <a:extLst>
              <a:ext uri="{FF2B5EF4-FFF2-40B4-BE49-F238E27FC236}">
                <a16:creationId xmlns:a16="http://schemas.microsoft.com/office/drawing/2014/main" id="{A1D15E4E-2166-4E51-8E70-D797EA409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8" y="2314575"/>
            <a:ext cx="3641725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expectedseqnum=1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sndpkt =  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  make_pkt(expectedseqnum,ACK,chksum)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1400">
              <a:latin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105490" name="Text Box 17">
            <a:extLst>
              <a:ext uri="{FF2B5EF4-FFF2-40B4-BE49-F238E27FC236}">
                <a16:creationId xmlns:a16="http://schemas.microsoft.com/office/drawing/2014/main" id="{8094ABD9-DC17-4A9E-A697-5483C1AA0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1990725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50195" name="Rectangle 19">
            <a:extLst>
              <a:ext uri="{FF2B5EF4-FFF2-40B4-BE49-F238E27FC236}">
                <a16:creationId xmlns:a16="http://schemas.microsoft.com/office/drawing/2014/main" id="{749695B7-6709-4F0D-9241-9F2F2F9FDF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7963"/>
            <a:ext cx="7772400" cy="700087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GBN: receiver extended FSM </a:t>
            </a:r>
            <a:r>
              <a:rPr lang="en-US" sz="1500" dirty="0">
                <a:ea typeface="ＭＳ Ｐゴシック" charset="0"/>
                <a:cs typeface="+mj-cs"/>
              </a:rPr>
              <a:t>(cont’d)</a:t>
            </a:r>
          </a:p>
        </p:txBody>
      </p:sp>
      <p:pic>
        <p:nvPicPr>
          <p:cNvPr id="105492" name="Picture 22" descr="underline_base">
            <a:extLst>
              <a:ext uri="{FF2B5EF4-FFF2-40B4-BE49-F238E27FC236}">
                <a16:creationId xmlns:a16="http://schemas.microsoft.com/office/drawing/2014/main" id="{3D971860-8667-4068-95F9-E162C022F69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806450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Footer Placeholder 3">
            <a:extLst>
              <a:ext uri="{FF2B5EF4-FFF2-40B4-BE49-F238E27FC236}">
                <a16:creationId xmlns:a16="http://schemas.microsoft.com/office/drawing/2014/main" id="{4797E2DC-30AF-4158-9539-620E8D147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107523" name="Slide Number Placeholder 4">
            <a:extLst>
              <a:ext uri="{FF2B5EF4-FFF2-40B4-BE49-F238E27FC236}">
                <a16:creationId xmlns:a16="http://schemas.microsoft.com/office/drawing/2014/main" id="{0662FE2F-97B9-41CA-AA39-CF7243250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04B574BC-B57C-4032-85B2-E562219AA6A9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07524" name="Rectangle 2">
            <a:extLst>
              <a:ext uri="{FF2B5EF4-FFF2-40B4-BE49-F238E27FC236}">
                <a16:creationId xmlns:a16="http://schemas.microsoft.com/office/drawing/2014/main" id="{184E94C1-03A4-49F3-94F9-ED6539A1BF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6250" y="204788"/>
            <a:ext cx="7772400" cy="650875"/>
          </a:xfrm>
        </p:spPr>
        <p:txBody>
          <a:bodyPr/>
          <a:lstStyle/>
          <a:p>
            <a:r>
              <a:rPr lang="en-US" altLang="zh-TW" sz="4000"/>
              <a:t>GBN in action</a:t>
            </a:r>
            <a:endParaRPr lang="en-US" altLang="zh-TW"/>
          </a:p>
        </p:txBody>
      </p:sp>
      <p:sp>
        <p:nvSpPr>
          <p:cNvPr id="107525" name="Text Box 4">
            <a:extLst>
              <a:ext uri="{FF2B5EF4-FFF2-40B4-BE49-F238E27FC236}">
                <a16:creationId xmlns:a16="http://schemas.microsoft.com/office/drawing/2014/main" id="{BA6F4A38-DE24-477F-90D2-10F05E7CE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2075" y="1412875"/>
            <a:ext cx="1246188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 pkt0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 pkt1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 pkt2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 pkt3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(wait)</a:t>
            </a:r>
          </a:p>
        </p:txBody>
      </p:sp>
      <p:sp>
        <p:nvSpPr>
          <p:cNvPr id="107526" name="Text Box 5">
            <a:extLst>
              <a:ext uri="{FF2B5EF4-FFF2-40B4-BE49-F238E27FC236}">
                <a16:creationId xmlns:a16="http://schemas.microsoft.com/office/drawing/2014/main" id="{97D4D205-E88A-40FD-A7A7-0BC87A8CE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0" y="1041400"/>
            <a:ext cx="936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 u="sng">
                <a:solidFill>
                  <a:srgbClr val="000099"/>
                </a:solidFill>
                <a:latin typeface="Tahoma" panose="020B0604030504040204" pitchFamily="34" charset="0"/>
              </a:rPr>
              <a:t>sender</a:t>
            </a:r>
          </a:p>
        </p:txBody>
      </p:sp>
      <p:sp>
        <p:nvSpPr>
          <p:cNvPr id="107527" name="Text Box 6">
            <a:extLst>
              <a:ext uri="{FF2B5EF4-FFF2-40B4-BE49-F238E27FC236}">
                <a16:creationId xmlns:a16="http://schemas.microsoft.com/office/drawing/2014/main" id="{A2F5A291-17F6-4FCA-91AB-F6BBA1D95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3288" y="1060450"/>
            <a:ext cx="1071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 u="sng">
                <a:solidFill>
                  <a:srgbClr val="008000"/>
                </a:solidFill>
                <a:latin typeface="Tahoma" panose="020B0604030504040204" pitchFamily="34" charset="0"/>
              </a:rPr>
              <a:t>receiver</a:t>
            </a:r>
          </a:p>
        </p:txBody>
      </p:sp>
      <p:sp>
        <p:nvSpPr>
          <p:cNvPr id="107528" name="Line 14">
            <a:extLst>
              <a:ext uri="{FF2B5EF4-FFF2-40B4-BE49-F238E27FC236}">
                <a16:creationId xmlns:a16="http://schemas.microsoft.com/office/drawing/2014/main" id="{D93441FF-9B6C-4F0D-B470-646A8E5BD6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7900" y="1658938"/>
            <a:ext cx="11113" cy="4538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07529" name="Text Box 15">
            <a:extLst>
              <a:ext uri="{FF2B5EF4-FFF2-40B4-BE49-F238E27FC236}">
                <a16:creationId xmlns:a16="http://schemas.microsoft.com/office/drawing/2014/main" id="{FED7B0FC-8BB0-40A0-8549-5AA2A6498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0" y="1854200"/>
            <a:ext cx="2568575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receive pkt0, send ack0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receive pkt1, send ack1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receive pkt3, discard,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           (re)send ack1</a:t>
            </a:r>
          </a:p>
        </p:txBody>
      </p:sp>
      <p:sp>
        <p:nvSpPr>
          <p:cNvPr id="107530" name="Text Box 22">
            <a:extLst>
              <a:ext uri="{FF2B5EF4-FFF2-40B4-BE49-F238E27FC236}">
                <a16:creationId xmlns:a16="http://schemas.microsoft.com/office/drawing/2014/main" id="{94D9DEC8-D81D-4A0E-B140-225B00FA6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6413" y="3016250"/>
            <a:ext cx="2154237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ack0, send pkt4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ack1, send pkt5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1800">
              <a:latin typeface="Tahoma" panose="020B0604030504040204" pitchFamily="34" charset="0"/>
            </a:endParaRPr>
          </a:p>
        </p:txBody>
      </p:sp>
      <p:pic>
        <p:nvPicPr>
          <p:cNvPr id="103435" name="Picture 34" descr="alarm_clock_ringing">
            <a:extLst>
              <a:ext uri="{FF2B5EF4-FFF2-40B4-BE49-F238E27FC236}">
                <a16:creationId xmlns:a16="http://schemas.microsoft.com/office/drawing/2014/main" id="{435B8BBE-414C-4101-8349-E4012A3DF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4164013"/>
            <a:ext cx="436563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36" name="Text Box 35">
            <a:extLst>
              <a:ext uri="{FF2B5EF4-FFF2-40B4-BE49-F238E27FC236}">
                <a16:creationId xmlns:a16="http://schemas.microsoft.com/office/drawing/2014/main" id="{4E52F6C2-3E02-41F9-8222-3EEE55EF0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1400" y="4379913"/>
            <a:ext cx="1538288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7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i="1">
                <a:solidFill>
                  <a:srgbClr val="FF0000"/>
                </a:solidFill>
                <a:latin typeface="Tahoma" panose="020B0604030504040204" pitchFamily="34" charset="0"/>
              </a:rPr>
              <a:t>pkt 2 timeout</a:t>
            </a:r>
          </a:p>
        </p:txBody>
      </p:sp>
      <p:sp>
        <p:nvSpPr>
          <p:cNvPr id="103437" name="Text Box 36">
            <a:extLst>
              <a:ext uri="{FF2B5EF4-FFF2-40B4-BE49-F238E27FC236}">
                <a16:creationId xmlns:a16="http://schemas.microsoft.com/office/drawing/2014/main" id="{3A43742B-7B77-4F27-8306-47D20F11F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6838" y="4594225"/>
            <a:ext cx="1246187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 pkt2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 pkt3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 pkt4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 pkt5</a:t>
            </a:r>
          </a:p>
        </p:txBody>
      </p:sp>
      <p:sp>
        <p:nvSpPr>
          <p:cNvPr id="107534" name="Line 7">
            <a:extLst>
              <a:ext uri="{FF2B5EF4-FFF2-40B4-BE49-F238E27FC236}">
                <a16:creationId xmlns:a16="http://schemas.microsoft.com/office/drawing/2014/main" id="{B8695A55-9095-4EE6-9647-3158CC8676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2713" y="1606550"/>
            <a:ext cx="2101850" cy="4683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07535" name="Line 11">
            <a:extLst>
              <a:ext uri="{FF2B5EF4-FFF2-40B4-BE49-F238E27FC236}">
                <a16:creationId xmlns:a16="http://schemas.microsoft.com/office/drawing/2014/main" id="{D3662FAE-D7FD-44E3-8664-BD2E338D5D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1125" y="1881188"/>
            <a:ext cx="2100263" cy="468312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07536" name="Line 12">
            <a:extLst>
              <a:ext uri="{FF2B5EF4-FFF2-40B4-BE49-F238E27FC236}">
                <a16:creationId xmlns:a16="http://schemas.microsoft.com/office/drawing/2014/main" id="{AD3FDDEB-4148-4497-8958-271D38CE6F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7000" y="2144713"/>
            <a:ext cx="876300" cy="200025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07537" name="Line 13">
            <a:extLst>
              <a:ext uri="{FF2B5EF4-FFF2-40B4-BE49-F238E27FC236}">
                <a16:creationId xmlns:a16="http://schemas.microsoft.com/office/drawing/2014/main" id="{46787478-850C-40E1-B09D-423246B326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3350" y="2430463"/>
            <a:ext cx="2100263" cy="468312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07538" name="Line 17">
            <a:extLst>
              <a:ext uri="{FF2B5EF4-FFF2-40B4-BE49-F238E27FC236}">
                <a16:creationId xmlns:a16="http://schemas.microsoft.com/office/drawing/2014/main" id="{6FF0D6FE-38AA-4E29-89DE-D2AA2E4151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29063" y="2130425"/>
            <a:ext cx="2014537" cy="10668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07539" name="Text Box 19">
            <a:extLst>
              <a:ext uri="{FF2B5EF4-FFF2-40B4-BE49-F238E27FC236}">
                <a16:creationId xmlns:a16="http://schemas.microsoft.com/office/drawing/2014/main" id="{8813C990-E149-4298-87A5-6B512427A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0" y="2179638"/>
            <a:ext cx="3413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FF0000"/>
                </a:solidFill>
                <a:latin typeface="Tahoma" panose="020B0604030504040204" pitchFamily="34" charset="0"/>
              </a:rPr>
              <a:t>X</a:t>
            </a:r>
          </a:p>
        </p:txBody>
      </p:sp>
      <p:sp>
        <p:nvSpPr>
          <p:cNvPr id="107540" name="Text Box 20">
            <a:extLst>
              <a:ext uri="{FF2B5EF4-FFF2-40B4-BE49-F238E27FC236}">
                <a16:creationId xmlns:a16="http://schemas.microsoft.com/office/drawing/2014/main" id="{67C759A1-54CE-4110-964F-296C61130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0" y="2200275"/>
            <a:ext cx="522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i="1">
                <a:solidFill>
                  <a:srgbClr val="FF0000"/>
                </a:solidFill>
                <a:latin typeface="Tahoma" panose="020B0604030504040204" pitchFamily="34" charset="0"/>
              </a:rPr>
              <a:t>loss</a:t>
            </a:r>
          </a:p>
        </p:txBody>
      </p:sp>
      <p:sp>
        <p:nvSpPr>
          <p:cNvPr id="107541" name="Line 21">
            <a:extLst>
              <a:ext uri="{FF2B5EF4-FFF2-40B4-BE49-F238E27FC236}">
                <a16:creationId xmlns:a16="http://schemas.microsoft.com/office/drawing/2014/main" id="{8B05B42C-251B-4021-8296-62BED3877A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25888" y="2416175"/>
            <a:ext cx="2014537" cy="110013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07542" name="Line 24">
            <a:extLst>
              <a:ext uri="{FF2B5EF4-FFF2-40B4-BE49-F238E27FC236}">
                <a16:creationId xmlns:a16="http://schemas.microsoft.com/office/drawing/2014/main" id="{EE7FA208-BCF6-4076-9D12-9115EFE5E93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9063" y="3252788"/>
            <a:ext cx="2100262" cy="468312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07543" name="Line 25">
            <a:extLst>
              <a:ext uri="{FF2B5EF4-FFF2-40B4-BE49-F238E27FC236}">
                <a16:creationId xmlns:a16="http://schemas.microsoft.com/office/drawing/2014/main" id="{ABBAB9BD-48FA-4F34-BB14-84CD6E6115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0813" y="3571875"/>
            <a:ext cx="2101850" cy="4683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07544" name="Line 26">
            <a:extLst>
              <a:ext uri="{FF2B5EF4-FFF2-40B4-BE49-F238E27FC236}">
                <a16:creationId xmlns:a16="http://schemas.microsoft.com/office/drawing/2014/main" id="{9EDECB4A-6C21-47E1-85BD-B4F04007E1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7638" y="2946400"/>
            <a:ext cx="2014537" cy="110013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grpSp>
        <p:nvGrpSpPr>
          <p:cNvPr id="103449" name="Group 29">
            <a:extLst>
              <a:ext uri="{FF2B5EF4-FFF2-40B4-BE49-F238E27FC236}">
                <a16:creationId xmlns:a16="http://schemas.microsoft.com/office/drawing/2014/main" id="{8F0D04F5-A347-4D9C-A170-3D30141ECA37}"/>
              </a:ext>
            </a:extLst>
          </p:cNvPr>
          <p:cNvGrpSpPr>
            <a:grpSpLocks/>
          </p:cNvGrpSpPr>
          <p:nvPr/>
        </p:nvGrpSpPr>
        <p:grpSpPr bwMode="auto">
          <a:xfrm>
            <a:off x="3817938" y="2135188"/>
            <a:ext cx="103187" cy="2462212"/>
            <a:chOff x="3651" y="1878"/>
            <a:chExt cx="78" cy="963"/>
          </a:xfrm>
        </p:grpSpPr>
        <p:sp>
          <p:nvSpPr>
            <p:cNvPr id="107591" name="Line 30">
              <a:extLst>
                <a:ext uri="{FF2B5EF4-FFF2-40B4-BE49-F238E27FC236}">
                  <a16:creationId xmlns:a16="http://schemas.microsoft.com/office/drawing/2014/main" id="{F61CEC76-3F4A-4D77-BDA1-8BF8B483F1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" y="1879"/>
              <a:ext cx="0" cy="9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107592" name="Line 31">
              <a:extLst>
                <a:ext uri="{FF2B5EF4-FFF2-40B4-BE49-F238E27FC236}">
                  <a16:creationId xmlns:a16="http://schemas.microsoft.com/office/drawing/2014/main" id="{450B4735-F94E-4FB9-8BE2-0A1CB30F25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1878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107593" name="Line 32">
              <a:extLst>
                <a:ext uri="{FF2B5EF4-FFF2-40B4-BE49-F238E27FC236}">
                  <a16:creationId xmlns:a16="http://schemas.microsoft.com/office/drawing/2014/main" id="{8DA479AC-6755-4FDB-A8D0-10C706EE80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2841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103450" name="Line 37">
            <a:extLst>
              <a:ext uri="{FF2B5EF4-FFF2-40B4-BE49-F238E27FC236}">
                <a16:creationId xmlns:a16="http://schemas.microsoft.com/office/drawing/2014/main" id="{A66FE7E3-83A3-4071-BF9B-73F3D70453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7000" y="4765675"/>
            <a:ext cx="2100263" cy="4683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03451" name="Line 38">
            <a:extLst>
              <a:ext uri="{FF2B5EF4-FFF2-40B4-BE49-F238E27FC236}">
                <a16:creationId xmlns:a16="http://schemas.microsoft.com/office/drawing/2014/main" id="{A5EFCA32-8187-419A-A499-46A099D1BA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9063" y="5010150"/>
            <a:ext cx="2101850" cy="4683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03452" name="Line 39">
            <a:extLst>
              <a:ext uri="{FF2B5EF4-FFF2-40B4-BE49-F238E27FC236}">
                <a16:creationId xmlns:a16="http://schemas.microsoft.com/office/drawing/2014/main" id="{EAF9EE1B-FF82-4CE5-BC96-BB4DC03E8A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2713" y="5243513"/>
            <a:ext cx="2101850" cy="468312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03453" name="Line 40">
            <a:extLst>
              <a:ext uri="{FF2B5EF4-FFF2-40B4-BE49-F238E27FC236}">
                <a16:creationId xmlns:a16="http://schemas.microsoft.com/office/drawing/2014/main" id="{06E54A33-4213-4B9E-896B-046E5227318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5888" y="5476875"/>
            <a:ext cx="2100262" cy="4683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07550" name="Text Box 41">
            <a:extLst>
              <a:ext uri="{FF2B5EF4-FFF2-40B4-BE49-F238E27FC236}">
                <a16:creationId xmlns:a16="http://schemas.microsoft.com/office/drawing/2014/main" id="{30C2671B-9963-4F7C-9FA7-975494CB3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7575" y="3378200"/>
            <a:ext cx="2413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receive pkt4, discard,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           (re)send ack1</a:t>
            </a:r>
          </a:p>
        </p:txBody>
      </p:sp>
      <p:sp>
        <p:nvSpPr>
          <p:cNvPr id="107551" name="Text Box 42">
            <a:extLst>
              <a:ext uri="{FF2B5EF4-FFF2-40B4-BE49-F238E27FC236}">
                <a16:creationId xmlns:a16="http://schemas.microsoft.com/office/drawing/2014/main" id="{A1EBF5A5-3495-443F-8933-B118C17C8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25" y="3898900"/>
            <a:ext cx="2413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receive pkt5, discard,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           (re)send ack1</a:t>
            </a:r>
          </a:p>
        </p:txBody>
      </p:sp>
      <p:sp>
        <p:nvSpPr>
          <p:cNvPr id="103456" name="Text Box 43">
            <a:extLst>
              <a:ext uri="{FF2B5EF4-FFF2-40B4-BE49-F238E27FC236}">
                <a16:creationId xmlns:a16="http://schemas.microsoft.com/office/drawing/2014/main" id="{2253230B-52B3-4F26-8255-B316C2E87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7738" y="5053013"/>
            <a:ext cx="2965450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pkt2, deliver, send ack2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pkt3, deliver, send ack3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pkt4, deliver, send ack4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pkt5, deliver, send ack5</a:t>
            </a:r>
          </a:p>
        </p:txBody>
      </p:sp>
      <p:sp>
        <p:nvSpPr>
          <p:cNvPr id="107553" name="Text Box 44">
            <a:extLst>
              <a:ext uri="{FF2B5EF4-FFF2-40B4-BE49-F238E27FC236}">
                <a16:creationId xmlns:a16="http://schemas.microsoft.com/office/drawing/2014/main" id="{E38F7493-2D78-4131-8AD3-A1815E3D5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9625" y="3881438"/>
            <a:ext cx="18113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ignore duplicate ACK</a:t>
            </a:r>
          </a:p>
        </p:txBody>
      </p:sp>
      <p:grpSp>
        <p:nvGrpSpPr>
          <p:cNvPr id="107554" name="Group 65">
            <a:extLst>
              <a:ext uri="{FF2B5EF4-FFF2-40B4-BE49-F238E27FC236}">
                <a16:creationId xmlns:a16="http://schemas.microsoft.com/office/drawing/2014/main" id="{DCFCE57F-F57C-4299-B959-78F4435DE7E1}"/>
              </a:ext>
            </a:extLst>
          </p:cNvPr>
          <p:cNvGrpSpPr>
            <a:grpSpLocks/>
          </p:cNvGrpSpPr>
          <p:nvPr/>
        </p:nvGrpSpPr>
        <p:grpSpPr bwMode="auto">
          <a:xfrm>
            <a:off x="182563" y="1450975"/>
            <a:ext cx="1512887" cy="304800"/>
            <a:chOff x="115" y="914"/>
            <a:chExt cx="953" cy="192"/>
          </a:xfrm>
        </p:grpSpPr>
        <p:sp>
          <p:nvSpPr>
            <p:cNvPr id="107589" name="Rectangle 60">
              <a:extLst>
                <a:ext uri="{FF2B5EF4-FFF2-40B4-BE49-F238E27FC236}">
                  <a16:creationId xmlns:a16="http://schemas.microsoft.com/office/drawing/2014/main" id="{47F5A275-38BC-441D-A7DB-D1FF907AD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" y="936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07590" name="Text Box 46">
              <a:extLst>
                <a:ext uri="{FF2B5EF4-FFF2-40B4-BE49-F238E27FC236}">
                  <a16:creationId xmlns:a16="http://schemas.microsoft.com/office/drawing/2014/main" id="{0E80635C-6F0E-4276-8035-DD149433E2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" y="914"/>
              <a:ext cx="9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chemeClr val="bg1"/>
                  </a:solidFill>
                  <a:latin typeface="Arial" panose="020B0604020202020204" pitchFamily="34" charset="0"/>
                </a:rPr>
                <a:t>0 1 2 3 </a:t>
              </a:r>
              <a:r>
                <a:rPr lang="en-US" altLang="zh-TW" sz="1400">
                  <a:latin typeface="Arial" panose="020B0604020202020204" pitchFamily="34" charset="0"/>
                </a:rPr>
                <a:t>4 5 6 7 8 </a:t>
              </a:r>
            </a:p>
          </p:txBody>
        </p:sp>
      </p:grpSp>
      <p:sp>
        <p:nvSpPr>
          <p:cNvPr id="107555" name="Text Box 59">
            <a:extLst>
              <a:ext uri="{FF2B5EF4-FFF2-40B4-BE49-F238E27FC236}">
                <a16:creationId xmlns:a16="http://schemas.microsoft.com/office/drawing/2014/main" id="{8DCEBFB5-36BC-44B0-A0AD-413966405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1104900"/>
            <a:ext cx="2146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i="1" u="sng">
                <a:solidFill>
                  <a:srgbClr val="000099"/>
                </a:solidFill>
                <a:latin typeface="Tahoma" panose="020B0604030504040204" pitchFamily="34" charset="0"/>
              </a:rPr>
              <a:t>sender window (N=4)</a:t>
            </a:r>
          </a:p>
        </p:txBody>
      </p:sp>
      <p:grpSp>
        <p:nvGrpSpPr>
          <p:cNvPr id="107556" name="Group 67">
            <a:extLst>
              <a:ext uri="{FF2B5EF4-FFF2-40B4-BE49-F238E27FC236}">
                <a16:creationId xmlns:a16="http://schemas.microsoft.com/office/drawing/2014/main" id="{1709E843-1262-42EB-AC0E-4286CA17153A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1736725"/>
            <a:ext cx="1512887" cy="304800"/>
            <a:chOff x="115" y="914"/>
            <a:chExt cx="953" cy="192"/>
          </a:xfrm>
        </p:grpSpPr>
        <p:sp>
          <p:nvSpPr>
            <p:cNvPr id="107587" name="Rectangle 68">
              <a:extLst>
                <a:ext uri="{FF2B5EF4-FFF2-40B4-BE49-F238E27FC236}">
                  <a16:creationId xmlns:a16="http://schemas.microsoft.com/office/drawing/2014/main" id="{2CECA78F-511B-4627-BA4C-0B9213D3C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" y="936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07588" name="Text Box 69">
              <a:extLst>
                <a:ext uri="{FF2B5EF4-FFF2-40B4-BE49-F238E27FC236}">
                  <a16:creationId xmlns:a16="http://schemas.microsoft.com/office/drawing/2014/main" id="{E22A4D41-A8B8-4D6B-9013-31FA2DFA53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" y="914"/>
              <a:ext cx="9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chemeClr val="bg1"/>
                  </a:solidFill>
                  <a:latin typeface="Arial" panose="020B0604020202020204" pitchFamily="34" charset="0"/>
                </a:rPr>
                <a:t>0 1 2 3 </a:t>
              </a:r>
              <a:r>
                <a:rPr lang="en-US" altLang="zh-TW" sz="1400">
                  <a:latin typeface="Arial" panose="020B0604020202020204" pitchFamily="34" charset="0"/>
                </a:rPr>
                <a:t>4 5 6 7 8 </a:t>
              </a:r>
            </a:p>
          </p:txBody>
        </p:sp>
      </p:grpSp>
      <p:grpSp>
        <p:nvGrpSpPr>
          <p:cNvPr id="107557" name="Group 70">
            <a:extLst>
              <a:ext uri="{FF2B5EF4-FFF2-40B4-BE49-F238E27FC236}">
                <a16:creationId xmlns:a16="http://schemas.microsoft.com/office/drawing/2014/main" id="{4ADD63D5-01DC-4401-97AA-8A1EB7855DDD}"/>
              </a:ext>
            </a:extLst>
          </p:cNvPr>
          <p:cNvGrpSpPr>
            <a:grpSpLocks/>
          </p:cNvGrpSpPr>
          <p:nvPr/>
        </p:nvGrpSpPr>
        <p:grpSpPr bwMode="auto">
          <a:xfrm>
            <a:off x="187325" y="2022475"/>
            <a:ext cx="1512888" cy="304800"/>
            <a:chOff x="115" y="914"/>
            <a:chExt cx="953" cy="192"/>
          </a:xfrm>
        </p:grpSpPr>
        <p:sp>
          <p:nvSpPr>
            <p:cNvPr id="107585" name="Rectangle 71">
              <a:extLst>
                <a:ext uri="{FF2B5EF4-FFF2-40B4-BE49-F238E27FC236}">
                  <a16:creationId xmlns:a16="http://schemas.microsoft.com/office/drawing/2014/main" id="{2C564F81-8F46-4D50-B66E-3ADD79DE8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" y="936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07586" name="Text Box 72">
              <a:extLst>
                <a:ext uri="{FF2B5EF4-FFF2-40B4-BE49-F238E27FC236}">
                  <a16:creationId xmlns:a16="http://schemas.microsoft.com/office/drawing/2014/main" id="{DC240F73-5104-4E83-82CB-2A111CE43F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" y="914"/>
              <a:ext cx="9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chemeClr val="bg1"/>
                  </a:solidFill>
                  <a:latin typeface="Arial" panose="020B0604020202020204" pitchFamily="34" charset="0"/>
                </a:rPr>
                <a:t>0 1 2 3 </a:t>
              </a:r>
              <a:r>
                <a:rPr lang="en-US" altLang="zh-TW" sz="1400">
                  <a:latin typeface="Arial" panose="020B0604020202020204" pitchFamily="34" charset="0"/>
                </a:rPr>
                <a:t>4 5 6 7 8 </a:t>
              </a:r>
            </a:p>
          </p:txBody>
        </p:sp>
      </p:grpSp>
      <p:grpSp>
        <p:nvGrpSpPr>
          <p:cNvPr id="107558" name="Group 73">
            <a:extLst>
              <a:ext uri="{FF2B5EF4-FFF2-40B4-BE49-F238E27FC236}">
                <a16:creationId xmlns:a16="http://schemas.microsoft.com/office/drawing/2014/main" id="{743B4FF8-BD8D-4119-BE93-D3C59863DABF}"/>
              </a:ext>
            </a:extLst>
          </p:cNvPr>
          <p:cNvGrpSpPr>
            <a:grpSpLocks/>
          </p:cNvGrpSpPr>
          <p:nvPr/>
        </p:nvGrpSpPr>
        <p:grpSpPr bwMode="auto">
          <a:xfrm>
            <a:off x="184150" y="2297113"/>
            <a:ext cx="1512888" cy="304800"/>
            <a:chOff x="115" y="914"/>
            <a:chExt cx="953" cy="192"/>
          </a:xfrm>
        </p:grpSpPr>
        <p:sp>
          <p:nvSpPr>
            <p:cNvPr id="107583" name="Rectangle 74">
              <a:extLst>
                <a:ext uri="{FF2B5EF4-FFF2-40B4-BE49-F238E27FC236}">
                  <a16:creationId xmlns:a16="http://schemas.microsoft.com/office/drawing/2014/main" id="{6D04FDC4-76B8-42C7-9607-F12FAB2C1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" y="936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07584" name="Text Box 75">
              <a:extLst>
                <a:ext uri="{FF2B5EF4-FFF2-40B4-BE49-F238E27FC236}">
                  <a16:creationId xmlns:a16="http://schemas.microsoft.com/office/drawing/2014/main" id="{00F93AAC-9FDD-4FD2-BFD9-98E4DB8EB3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" y="914"/>
              <a:ext cx="9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chemeClr val="bg1"/>
                  </a:solidFill>
                  <a:latin typeface="Arial" panose="020B0604020202020204" pitchFamily="34" charset="0"/>
                </a:rPr>
                <a:t>0 1 2 3 </a:t>
              </a:r>
              <a:r>
                <a:rPr lang="en-US" altLang="zh-TW" sz="1400">
                  <a:latin typeface="Arial" panose="020B0604020202020204" pitchFamily="34" charset="0"/>
                </a:rPr>
                <a:t>4 5 6 7 8 </a:t>
              </a:r>
            </a:p>
          </p:txBody>
        </p:sp>
      </p:grpSp>
      <p:sp>
        <p:nvSpPr>
          <p:cNvPr id="107559" name="Rectangle 79">
            <a:extLst>
              <a:ext uri="{FF2B5EF4-FFF2-40B4-BE49-F238E27FC236}">
                <a16:creationId xmlns:a16="http://schemas.microsoft.com/office/drawing/2014/main" id="{AB5BDAF2-DCCE-460C-AD0D-DD6E928C9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101975"/>
            <a:ext cx="628650" cy="2286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07560" name="Text Box 80">
            <a:extLst>
              <a:ext uri="{FF2B5EF4-FFF2-40B4-BE49-F238E27FC236}">
                <a16:creationId xmlns:a16="http://schemas.microsoft.com/office/drawing/2014/main" id="{74BE27D5-1B61-4FCD-A0C9-14C5F4CBF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3067050"/>
            <a:ext cx="15128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0 </a:t>
            </a:r>
            <a:r>
              <a:rPr lang="en-US" altLang="zh-TW" sz="1400">
                <a:solidFill>
                  <a:schemeClr val="bg1"/>
                </a:solidFill>
                <a:latin typeface="Arial" panose="020B0604020202020204" pitchFamily="34" charset="0"/>
              </a:rPr>
              <a:t>1 2 3 4</a:t>
            </a:r>
            <a:r>
              <a:rPr lang="en-US" altLang="zh-TW" sz="1400">
                <a:latin typeface="Arial" panose="020B0604020202020204" pitchFamily="34" charset="0"/>
              </a:rPr>
              <a:t> 5 6 7 8 </a:t>
            </a:r>
          </a:p>
        </p:txBody>
      </p:sp>
      <p:grpSp>
        <p:nvGrpSpPr>
          <p:cNvPr id="107561" name="Group 84">
            <a:extLst>
              <a:ext uri="{FF2B5EF4-FFF2-40B4-BE49-F238E27FC236}">
                <a16:creationId xmlns:a16="http://schemas.microsoft.com/office/drawing/2014/main" id="{20FB7D4C-22C3-46D3-9CCA-BCA885A2BBFA}"/>
              </a:ext>
            </a:extLst>
          </p:cNvPr>
          <p:cNvGrpSpPr>
            <a:grpSpLocks/>
          </p:cNvGrpSpPr>
          <p:nvPr/>
        </p:nvGrpSpPr>
        <p:grpSpPr bwMode="auto">
          <a:xfrm>
            <a:off x="177800" y="3341688"/>
            <a:ext cx="1512888" cy="304800"/>
            <a:chOff x="112" y="2105"/>
            <a:chExt cx="953" cy="192"/>
          </a:xfrm>
        </p:grpSpPr>
        <p:sp>
          <p:nvSpPr>
            <p:cNvPr id="107581" name="Rectangle 82">
              <a:extLst>
                <a:ext uri="{FF2B5EF4-FFF2-40B4-BE49-F238E27FC236}">
                  <a16:creationId xmlns:a16="http://schemas.microsoft.com/office/drawing/2014/main" id="{4412C188-7436-4849-907E-EFB4619F8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2127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07582" name="Text Box 83">
              <a:extLst>
                <a:ext uri="{FF2B5EF4-FFF2-40B4-BE49-F238E27FC236}">
                  <a16:creationId xmlns:a16="http://schemas.microsoft.com/office/drawing/2014/main" id="{04389453-C04E-4034-86DE-6121AAA520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" y="2105"/>
              <a:ext cx="9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0 1</a:t>
              </a:r>
              <a:r>
                <a:rPr lang="en-US" altLang="zh-TW" sz="1400">
                  <a:solidFill>
                    <a:schemeClr val="bg1"/>
                  </a:solidFill>
                  <a:latin typeface="Arial" panose="020B0604020202020204" pitchFamily="34" charset="0"/>
                </a:rPr>
                <a:t> 2 3 4 5</a:t>
              </a:r>
              <a:r>
                <a:rPr lang="en-US" altLang="zh-TW" sz="1400">
                  <a:latin typeface="Arial" panose="020B0604020202020204" pitchFamily="34" charset="0"/>
                </a:rPr>
                <a:t> 6 7 8 </a:t>
              </a:r>
            </a:p>
          </p:txBody>
        </p:sp>
      </p:grpSp>
      <p:grpSp>
        <p:nvGrpSpPr>
          <p:cNvPr id="103466" name="Group 85">
            <a:extLst>
              <a:ext uri="{FF2B5EF4-FFF2-40B4-BE49-F238E27FC236}">
                <a16:creationId xmlns:a16="http://schemas.microsoft.com/office/drawing/2014/main" id="{25D47F6C-AF8B-41A7-A260-BF891BC3FAEC}"/>
              </a:ext>
            </a:extLst>
          </p:cNvPr>
          <p:cNvGrpSpPr>
            <a:grpSpLocks/>
          </p:cNvGrpSpPr>
          <p:nvPr/>
        </p:nvGrpSpPr>
        <p:grpSpPr bwMode="auto">
          <a:xfrm>
            <a:off x="166688" y="4635500"/>
            <a:ext cx="1512887" cy="304800"/>
            <a:chOff x="112" y="2105"/>
            <a:chExt cx="953" cy="192"/>
          </a:xfrm>
        </p:grpSpPr>
        <p:sp>
          <p:nvSpPr>
            <p:cNvPr id="107579" name="Rectangle 86">
              <a:extLst>
                <a:ext uri="{FF2B5EF4-FFF2-40B4-BE49-F238E27FC236}">
                  <a16:creationId xmlns:a16="http://schemas.microsoft.com/office/drawing/2014/main" id="{E8DF2B95-E033-4932-9A1B-C78C8B5A0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2127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07580" name="Text Box 87">
              <a:extLst>
                <a:ext uri="{FF2B5EF4-FFF2-40B4-BE49-F238E27FC236}">
                  <a16:creationId xmlns:a16="http://schemas.microsoft.com/office/drawing/2014/main" id="{16906455-4599-40D5-B1ED-E167D4AD6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" y="2105"/>
              <a:ext cx="9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0 1</a:t>
              </a:r>
              <a:r>
                <a:rPr lang="en-US" altLang="zh-TW" sz="1400">
                  <a:solidFill>
                    <a:schemeClr val="bg1"/>
                  </a:solidFill>
                  <a:latin typeface="Arial" panose="020B0604020202020204" pitchFamily="34" charset="0"/>
                </a:rPr>
                <a:t> 2 3 4 5</a:t>
              </a:r>
              <a:r>
                <a:rPr lang="en-US" altLang="zh-TW" sz="1400">
                  <a:latin typeface="Arial" panose="020B0604020202020204" pitchFamily="34" charset="0"/>
                </a:rPr>
                <a:t> 6 7 8 </a:t>
              </a:r>
            </a:p>
          </p:txBody>
        </p:sp>
      </p:grpSp>
      <p:grpSp>
        <p:nvGrpSpPr>
          <p:cNvPr id="103467" name="Group 88">
            <a:extLst>
              <a:ext uri="{FF2B5EF4-FFF2-40B4-BE49-F238E27FC236}">
                <a16:creationId xmlns:a16="http://schemas.microsoft.com/office/drawing/2014/main" id="{C8A49650-E469-454D-99EC-D314C61B9D1A}"/>
              </a:ext>
            </a:extLst>
          </p:cNvPr>
          <p:cNvGrpSpPr>
            <a:grpSpLocks/>
          </p:cNvGrpSpPr>
          <p:nvPr/>
        </p:nvGrpSpPr>
        <p:grpSpPr bwMode="auto">
          <a:xfrm>
            <a:off x="174625" y="4876800"/>
            <a:ext cx="1512888" cy="304800"/>
            <a:chOff x="112" y="2105"/>
            <a:chExt cx="953" cy="192"/>
          </a:xfrm>
        </p:grpSpPr>
        <p:sp>
          <p:nvSpPr>
            <p:cNvPr id="107577" name="Rectangle 89">
              <a:extLst>
                <a:ext uri="{FF2B5EF4-FFF2-40B4-BE49-F238E27FC236}">
                  <a16:creationId xmlns:a16="http://schemas.microsoft.com/office/drawing/2014/main" id="{CC122A64-0F2D-4798-B521-6940A03DE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2127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07578" name="Text Box 90">
              <a:extLst>
                <a:ext uri="{FF2B5EF4-FFF2-40B4-BE49-F238E27FC236}">
                  <a16:creationId xmlns:a16="http://schemas.microsoft.com/office/drawing/2014/main" id="{64B5AB59-1682-4F23-A271-4E225DE366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" y="2105"/>
              <a:ext cx="9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0 1</a:t>
              </a:r>
              <a:r>
                <a:rPr lang="en-US" altLang="zh-TW" sz="1400">
                  <a:solidFill>
                    <a:schemeClr val="bg1"/>
                  </a:solidFill>
                  <a:latin typeface="Arial" panose="020B0604020202020204" pitchFamily="34" charset="0"/>
                </a:rPr>
                <a:t> 2 3 4 5</a:t>
              </a:r>
              <a:r>
                <a:rPr lang="en-US" altLang="zh-TW" sz="1400">
                  <a:latin typeface="Arial" panose="020B0604020202020204" pitchFamily="34" charset="0"/>
                </a:rPr>
                <a:t> 6 7 8 </a:t>
              </a:r>
            </a:p>
          </p:txBody>
        </p:sp>
      </p:grpSp>
      <p:grpSp>
        <p:nvGrpSpPr>
          <p:cNvPr id="103468" name="Group 91">
            <a:extLst>
              <a:ext uri="{FF2B5EF4-FFF2-40B4-BE49-F238E27FC236}">
                <a16:creationId xmlns:a16="http://schemas.microsoft.com/office/drawing/2014/main" id="{FF9A6355-7C4D-4476-8B64-A5F37F12885B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5140325"/>
            <a:ext cx="1512888" cy="304800"/>
            <a:chOff x="112" y="2105"/>
            <a:chExt cx="953" cy="192"/>
          </a:xfrm>
        </p:grpSpPr>
        <p:sp>
          <p:nvSpPr>
            <p:cNvPr id="107575" name="Rectangle 92">
              <a:extLst>
                <a:ext uri="{FF2B5EF4-FFF2-40B4-BE49-F238E27FC236}">
                  <a16:creationId xmlns:a16="http://schemas.microsoft.com/office/drawing/2014/main" id="{D6AD55CD-5CC9-4244-8B39-CDE000E7B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2127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07576" name="Text Box 93">
              <a:extLst>
                <a:ext uri="{FF2B5EF4-FFF2-40B4-BE49-F238E27FC236}">
                  <a16:creationId xmlns:a16="http://schemas.microsoft.com/office/drawing/2014/main" id="{84537A19-051F-46BE-A032-25D65E0ECD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" y="2105"/>
              <a:ext cx="9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0 1</a:t>
              </a:r>
              <a:r>
                <a:rPr lang="en-US" altLang="zh-TW" sz="1400">
                  <a:solidFill>
                    <a:schemeClr val="bg1"/>
                  </a:solidFill>
                  <a:latin typeface="Arial" panose="020B0604020202020204" pitchFamily="34" charset="0"/>
                </a:rPr>
                <a:t> 2 3 4 5</a:t>
              </a:r>
              <a:r>
                <a:rPr lang="en-US" altLang="zh-TW" sz="1400">
                  <a:latin typeface="Arial" panose="020B0604020202020204" pitchFamily="34" charset="0"/>
                </a:rPr>
                <a:t> 6 7 8 </a:t>
              </a:r>
            </a:p>
          </p:txBody>
        </p:sp>
      </p:grpSp>
      <p:grpSp>
        <p:nvGrpSpPr>
          <p:cNvPr id="103469" name="Group 94">
            <a:extLst>
              <a:ext uri="{FF2B5EF4-FFF2-40B4-BE49-F238E27FC236}">
                <a16:creationId xmlns:a16="http://schemas.microsoft.com/office/drawing/2014/main" id="{C48879C1-5A6D-4DC6-9ADC-64BD94ADDB5E}"/>
              </a:ext>
            </a:extLst>
          </p:cNvPr>
          <p:cNvGrpSpPr>
            <a:grpSpLocks/>
          </p:cNvGrpSpPr>
          <p:nvPr/>
        </p:nvGrpSpPr>
        <p:grpSpPr bwMode="auto">
          <a:xfrm>
            <a:off x="168275" y="5381625"/>
            <a:ext cx="1512888" cy="304800"/>
            <a:chOff x="112" y="2105"/>
            <a:chExt cx="953" cy="192"/>
          </a:xfrm>
        </p:grpSpPr>
        <p:sp>
          <p:nvSpPr>
            <p:cNvPr id="107573" name="Rectangle 95">
              <a:extLst>
                <a:ext uri="{FF2B5EF4-FFF2-40B4-BE49-F238E27FC236}">
                  <a16:creationId xmlns:a16="http://schemas.microsoft.com/office/drawing/2014/main" id="{27C0C3AC-B3C4-4983-A656-A4688DAD1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2127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07574" name="Text Box 96">
              <a:extLst>
                <a:ext uri="{FF2B5EF4-FFF2-40B4-BE49-F238E27FC236}">
                  <a16:creationId xmlns:a16="http://schemas.microsoft.com/office/drawing/2014/main" id="{5CA352A1-DB4C-4B83-97B3-17FB05A73C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" y="2105"/>
              <a:ext cx="9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0 1</a:t>
              </a:r>
              <a:r>
                <a:rPr lang="en-US" altLang="zh-TW" sz="1400">
                  <a:solidFill>
                    <a:schemeClr val="bg1"/>
                  </a:solidFill>
                  <a:latin typeface="Arial" panose="020B0604020202020204" pitchFamily="34" charset="0"/>
                </a:rPr>
                <a:t> 2 3 4 5</a:t>
              </a:r>
              <a:r>
                <a:rPr lang="en-US" altLang="zh-TW" sz="1400">
                  <a:latin typeface="Arial" panose="020B0604020202020204" pitchFamily="34" charset="0"/>
                </a:rPr>
                <a:t> 6 7 8 </a:t>
              </a:r>
            </a:p>
          </p:txBody>
        </p:sp>
      </p:grpSp>
      <p:pic>
        <p:nvPicPr>
          <p:cNvPr id="107566" name="Picture 97" descr="underline_base">
            <a:extLst>
              <a:ext uri="{FF2B5EF4-FFF2-40B4-BE49-F238E27FC236}">
                <a16:creationId xmlns:a16="http://schemas.microsoft.com/office/drawing/2014/main" id="{9F58741D-1C6B-4511-B8A1-D66550338384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744538"/>
            <a:ext cx="3656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67" name="Line 98">
            <a:extLst>
              <a:ext uri="{FF2B5EF4-FFF2-40B4-BE49-F238E27FC236}">
                <a16:creationId xmlns:a16="http://schemas.microsoft.com/office/drawing/2014/main" id="{34FC3ABB-7BF1-4817-B6E8-540E20C5CD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00" y="3757613"/>
            <a:ext cx="1033463" cy="563562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07568" name="Line 99">
            <a:extLst>
              <a:ext uri="{FF2B5EF4-FFF2-40B4-BE49-F238E27FC236}">
                <a16:creationId xmlns:a16="http://schemas.microsoft.com/office/drawing/2014/main" id="{EC045B1D-634C-4ABD-A474-E2204017FD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7450" y="4067175"/>
            <a:ext cx="1033463" cy="56356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03473" name="Line 100">
            <a:extLst>
              <a:ext uri="{FF2B5EF4-FFF2-40B4-BE49-F238E27FC236}">
                <a16:creationId xmlns:a16="http://schemas.microsoft.com/office/drawing/2014/main" id="{D7880E31-C0BC-4DB9-B4A1-0AE106B104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2688" y="5257800"/>
            <a:ext cx="1033462" cy="56356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03474" name="Line 101">
            <a:extLst>
              <a:ext uri="{FF2B5EF4-FFF2-40B4-BE49-F238E27FC236}">
                <a16:creationId xmlns:a16="http://schemas.microsoft.com/office/drawing/2014/main" id="{4E28D1F4-2ED6-4BC8-A7F0-B025006D77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76813" y="5511800"/>
            <a:ext cx="1033462" cy="56356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03475" name="Line 102">
            <a:extLst>
              <a:ext uri="{FF2B5EF4-FFF2-40B4-BE49-F238E27FC236}">
                <a16:creationId xmlns:a16="http://schemas.microsoft.com/office/drawing/2014/main" id="{7CA51D3E-D897-435D-A249-BD9920E22D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60938" y="5754688"/>
            <a:ext cx="1033462" cy="563562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03476" name="Line 103">
            <a:extLst>
              <a:ext uri="{FF2B5EF4-FFF2-40B4-BE49-F238E27FC236}">
                <a16:creationId xmlns:a16="http://schemas.microsoft.com/office/drawing/2014/main" id="{220639BD-87BF-422A-86EE-4A9CA99C34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5063" y="5997575"/>
            <a:ext cx="1033462" cy="56356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3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3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3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3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3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3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3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3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3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3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3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3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3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3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3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3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3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3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3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3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3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3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3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3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3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3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3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3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6" grpId="0"/>
      <p:bldP spid="103436" grpId="0"/>
      <p:bldP spid="103437" grpId="0"/>
      <p:bldP spid="1034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Footer Placeholder 5">
            <a:extLst>
              <a:ext uri="{FF2B5EF4-FFF2-40B4-BE49-F238E27FC236}">
                <a16:creationId xmlns:a16="http://schemas.microsoft.com/office/drawing/2014/main" id="{1893445A-1780-431E-9F0E-C22CDC1E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109571" name="Slide Number Placeholder 6">
            <a:extLst>
              <a:ext uri="{FF2B5EF4-FFF2-40B4-BE49-F238E27FC236}">
                <a16:creationId xmlns:a16="http://schemas.microsoft.com/office/drawing/2014/main" id="{5C9E8328-268F-48F1-91B2-52B4395A7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8EF2951C-3061-461B-92ED-1AB701DD5C97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09572" name="Picture 4" descr="underline_base">
            <a:extLst>
              <a:ext uri="{FF2B5EF4-FFF2-40B4-BE49-F238E27FC236}">
                <a16:creationId xmlns:a16="http://schemas.microsoft.com/office/drawing/2014/main" id="{5D8CC4B0-7762-427E-9D06-47FDE70B4A5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1000125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73" name="Rectangle 2">
            <a:extLst>
              <a:ext uri="{FF2B5EF4-FFF2-40B4-BE49-F238E27FC236}">
                <a16:creationId xmlns:a16="http://schemas.microsoft.com/office/drawing/2014/main" id="{221A0B3E-DA29-42FE-8946-819CF67AAB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/>
              <a:t>Selective repeat</a:t>
            </a:r>
            <a:endParaRPr lang="en-US" altLang="zh-TW"/>
          </a:p>
        </p:txBody>
      </p:sp>
      <p:sp>
        <p:nvSpPr>
          <p:cNvPr id="109574" name="Rectangle 3">
            <a:extLst>
              <a:ext uri="{FF2B5EF4-FFF2-40B4-BE49-F238E27FC236}">
                <a16:creationId xmlns:a16="http://schemas.microsoft.com/office/drawing/2014/main" id="{CC8502C9-F66A-461D-B237-5CB225F5C7D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52450" y="1466850"/>
            <a:ext cx="7562850" cy="4648200"/>
          </a:xfrm>
        </p:spPr>
        <p:txBody>
          <a:bodyPr/>
          <a:lstStyle/>
          <a:p>
            <a:pPr marL="514350" indent="-514350">
              <a:buFont typeface="Gill Sans MT" panose="020B0502020104020203" pitchFamily="34" charset="0"/>
              <a:buAutoNum type="arabicPeriod"/>
            </a:pPr>
            <a:r>
              <a:rPr lang="en-US" altLang="zh-TW" dirty="0">
                <a:solidFill>
                  <a:srgbClr val="FF0000"/>
                </a:solidFill>
              </a:rPr>
              <a:t>sender window</a:t>
            </a:r>
          </a:p>
          <a:p>
            <a:pPr marL="914400" lvl="1" indent="-457200"/>
            <a:r>
              <a:rPr lang="en-US" altLang="zh-TW" i="1" dirty="0"/>
              <a:t>N</a:t>
            </a:r>
            <a:r>
              <a:rPr lang="en-US" altLang="zh-TW" dirty="0"/>
              <a:t> consecutive seq #</a:t>
            </a:r>
            <a:r>
              <a:rPr lang="ja-JP" altLang="en-US" dirty="0"/>
              <a:t>’</a:t>
            </a:r>
            <a:r>
              <a:rPr lang="en-US" altLang="ja-JP" dirty="0"/>
              <a:t>s</a:t>
            </a:r>
          </a:p>
          <a:p>
            <a:pPr marL="914400" lvl="1" indent="-457200"/>
            <a:r>
              <a:rPr lang="en-US" altLang="zh-TW" dirty="0"/>
              <a:t>limits seq #s of sent, </a:t>
            </a:r>
            <a:r>
              <a:rPr lang="en-US" altLang="zh-TW" dirty="0" err="1"/>
              <a:t>unACKed</a:t>
            </a:r>
            <a:r>
              <a:rPr lang="en-US" altLang="zh-TW" dirty="0"/>
              <a:t> pkts</a:t>
            </a:r>
          </a:p>
          <a:p>
            <a:pPr marL="514350" indent="-514350">
              <a:buFont typeface="Gill Sans MT" panose="020B0502020104020203" pitchFamily="34" charset="0"/>
              <a:buAutoNum type="arabicPeriod"/>
            </a:pPr>
            <a:r>
              <a:rPr lang="en-US" altLang="zh-TW" dirty="0"/>
              <a:t>receiver </a:t>
            </a:r>
            <a:r>
              <a:rPr lang="en-US" altLang="zh-TW" i="1" dirty="0">
                <a:solidFill>
                  <a:srgbClr val="FF0000"/>
                </a:solidFill>
              </a:rPr>
              <a:t>individually</a:t>
            </a:r>
            <a:r>
              <a:rPr lang="en-US" altLang="zh-TW" dirty="0">
                <a:solidFill>
                  <a:srgbClr val="FF0000"/>
                </a:solidFill>
              </a:rPr>
              <a:t> acknowledges</a:t>
            </a:r>
            <a:r>
              <a:rPr lang="en-US" altLang="zh-TW" dirty="0"/>
              <a:t> all correctly received pkts</a:t>
            </a:r>
          </a:p>
          <a:p>
            <a:pPr marL="914400" lvl="1" indent="-457200"/>
            <a:r>
              <a:rPr lang="en-US" altLang="zh-TW" dirty="0">
                <a:solidFill>
                  <a:srgbClr val="0070C0"/>
                </a:solidFill>
              </a:rPr>
              <a:t>buffers</a:t>
            </a:r>
            <a:r>
              <a:rPr lang="en-US" altLang="zh-TW" dirty="0"/>
              <a:t> pkts, as needed, for eventual in-order delivery to upper layer</a:t>
            </a:r>
          </a:p>
          <a:p>
            <a:pPr marL="514350" indent="-514350">
              <a:buFont typeface="Gill Sans MT" panose="020B0502020104020203" pitchFamily="34" charset="0"/>
              <a:buAutoNum type="arabicPeriod"/>
            </a:pPr>
            <a:r>
              <a:rPr lang="en-US" altLang="zh-TW" dirty="0"/>
              <a:t>sender </a:t>
            </a:r>
            <a:r>
              <a:rPr lang="en-US" altLang="zh-TW" dirty="0">
                <a:solidFill>
                  <a:srgbClr val="FF0000"/>
                </a:solidFill>
              </a:rPr>
              <a:t>timer</a:t>
            </a:r>
            <a:r>
              <a:rPr lang="en-US" altLang="zh-TW" dirty="0"/>
              <a:t> for each </a:t>
            </a:r>
            <a:r>
              <a:rPr lang="en-US" altLang="zh-TW" dirty="0" err="1"/>
              <a:t>unACKed</a:t>
            </a:r>
            <a:r>
              <a:rPr lang="en-US" altLang="zh-TW" dirty="0"/>
              <a:t> pkt</a:t>
            </a:r>
          </a:p>
          <a:p>
            <a:pPr marL="914400" lvl="1" indent="-457200"/>
            <a:r>
              <a:rPr lang="en-US" altLang="zh-TW" dirty="0">
                <a:solidFill>
                  <a:srgbClr val="0070C0"/>
                </a:solidFill>
              </a:rPr>
              <a:t>Timeout</a:t>
            </a:r>
            <a:r>
              <a:rPr lang="en-US" altLang="zh-TW" dirty="0"/>
              <a:t>: sender only resends pkts for which ACK not received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Footer Placeholder 3">
            <a:extLst>
              <a:ext uri="{FF2B5EF4-FFF2-40B4-BE49-F238E27FC236}">
                <a16:creationId xmlns:a16="http://schemas.microsoft.com/office/drawing/2014/main" id="{49F1C66B-EDB0-4FFF-A16B-3CB0B7FF4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110595" name="Slide Number Placeholder 4">
            <a:extLst>
              <a:ext uri="{FF2B5EF4-FFF2-40B4-BE49-F238E27FC236}">
                <a16:creationId xmlns:a16="http://schemas.microsoft.com/office/drawing/2014/main" id="{C355E2B6-C1CF-4A4E-937B-7D734BA39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94521C28-4504-4B1C-8F83-432478392B84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10596" name="Rectangle 2">
            <a:extLst>
              <a:ext uri="{FF2B5EF4-FFF2-40B4-BE49-F238E27FC236}">
                <a16:creationId xmlns:a16="http://schemas.microsoft.com/office/drawing/2014/main" id="{1CD6976F-C91E-451C-97A2-009D9D680D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5750" y="182563"/>
            <a:ext cx="8486775" cy="898525"/>
          </a:xfrm>
        </p:spPr>
        <p:txBody>
          <a:bodyPr/>
          <a:lstStyle/>
          <a:p>
            <a:r>
              <a:rPr lang="en-US" altLang="zh-TW" sz="3600"/>
              <a:t>Selective repeat: sender, receiver windows</a:t>
            </a:r>
            <a:endParaRPr lang="en-US" altLang="zh-TW"/>
          </a:p>
        </p:txBody>
      </p:sp>
      <p:pic>
        <p:nvPicPr>
          <p:cNvPr id="110597" name="Picture 3" descr="sr_seqnum">
            <a:extLst>
              <a:ext uri="{FF2B5EF4-FFF2-40B4-BE49-F238E27FC236}">
                <a16:creationId xmlns:a16="http://schemas.microsoft.com/office/drawing/2014/main" id="{18047E64-D978-426C-A080-520E3D7CF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1404938"/>
            <a:ext cx="8235950" cy="491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598" name="Rectangle 4">
            <a:extLst>
              <a:ext uri="{FF2B5EF4-FFF2-40B4-BE49-F238E27FC236}">
                <a16:creationId xmlns:a16="http://schemas.microsoft.com/office/drawing/2014/main" id="{A3910F70-C538-41F5-99F5-DE2F61A0A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825" y="1917700"/>
            <a:ext cx="2141538" cy="614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10599" name="Rectangle 5">
            <a:extLst>
              <a:ext uri="{FF2B5EF4-FFF2-40B4-BE49-F238E27FC236}">
                <a16:creationId xmlns:a16="http://schemas.microsoft.com/office/drawing/2014/main" id="{9EE35931-0A9B-4566-9454-3246F1DD1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8825" y="4516438"/>
            <a:ext cx="2130425" cy="5794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pic>
        <p:nvPicPr>
          <p:cNvPr id="110600" name="Picture 6" descr="underline_base">
            <a:extLst>
              <a:ext uri="{FF2B5EF4-FFF2-40B4-BE49-F238E27FC236}">
                <a16:creationId xmlns:a16="http://schemas.microsoft.com/office/drawing/2014/main" id="{6C446343-802C-4CD5-9A1E-C23D97903C2A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82232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Footer Placeholder 5">
            <a:extLst>
              <a:ext uri="{FF2B5EF4-FFF2-40B4-BE49-F238E27FC236}">
                <a16:creationId xmlns:a16="http://schemas.microsoft.com/office/drawing/2014/main" id="{F5A1E1D8-C4BA-44C6-BBB9-0392E9292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112643" name="Slide Number Placeholder 6">
            <a:extLst>
              <a:ext uri="{FF2B5EF4-FFF2-40B4-BE49-F238E27FC236}">
                <a16:creationId xmlns:a16="http://schemas.microsoft.com/office/drawing/2014/main" id="{627F4CD3-6F1C-4DD2-84B7-652DAE6B5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F002DA6A-113D-4CA7-A34B-7466D06A8916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12644" name="Picture 13" descr="underline_base">
            <a:extLst>
              <a:ext uri="{FF2B5EF4-FFF2-40B4-BE49-F238E27FC236}">
                <a16:creationId xmlns:a16="http://schemas.microsoft.com/office/drawing/2014/main" id="{E3FBAEFC-029E-43D2-B215-0BD0D3BE64F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898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7" name="Rectangle 2">
            <a:extLst>
              <a:ext uri="{FF2B5EF4-FFF2-40B4-BE49-F238E27FC236}">
                <a16:creationId xmlns:a16="http://schemas.microsoft.com/office/drawing/2014/main" id="{90660E28-B2E5-42AB-9443-B0A41581F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247650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Selective repeat</a:t>
            </a:r>
          </a:p>
        </p:txBody>
      </p:sp>
      <p:sp>
        <p:nvSpPr>
          <p:cNvPr id="112646" name="Rectangle 3">
            <a:extLst>
              <a:ext uri="{FF2B5EF4-FFF2-40B4-BE49-F238E27FC236}">
                <a16:creationId xmlns:a16="http://schemas.microsoft.com/office/drawing/2014/main" id="{B0BBB9AC-75C1-41E8-A34D-DB35E5A5DB4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408305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CC0000"/>
                </a:solidFill>
              </a:rPr>
              <a:t>If received data from above:</a:t>
            </a:r>
          </a:p>
          <a:p>
            <a:r>
              <a:rPr lang="en-US" altLang="zh-TW" sz="2400" dirty="0"/>
              <a:t>if next available seq # in window </a:t>
            </a:r>
            <a:r>
              <a:rPr lang="en-US" altLang="zh-TW" sz="2400" dirty="0">
                <a:solidFill>
                  <a:srgbClr val="0070C0"/>
                </a:solidFill>
              </a:rPr>
              <a:t>(i.e., blue region available), send pkt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CC0000"/>
                </a:solidFill>
              </a:rPr>
              <a:t>ACK(n)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in </a:t>
            </a:r>
            <a:r>
              <a:rPr lang="en-US" altLang="zh-TW" sz="1600" dirty="0"/>
              <a:t>[</a:t>
            </a:r>
            <a:r>
              <a:rPr lang="en-US" altLang="zh-TW" sz="1600" dirty="0" err="1"/>
              <a:t>sendbase,sendbase+N</a:t>
            </a:r>
            <a:r>
              <a:rPr lang="en-US" altLang="zh-TW" sz="1600" dirty="0"/>
              <a:t>] </a:t>
            </a:r>
            <a:r>
              <a:rPr lang="en-US" altLang="zh-TW" sz="2000" dirty="0"/>
              <a:t>(i.e., </a:t>
            </a:r>
            <a:r>
              <a:rPr lang="en-US" altLang="zh-TW" sz="2000" dirty="0">
                <a:solidFill>
                  <a:srgbClr val="0070C0"/>
                </a:solidFill>
              </a:rPr>
              <a:t>sender window</a:t>
            </a:r>
            <a:r>
              <a:rPr lang="en-US" altLang="zh-TW" sz="2000" dirty="0"/>
              <a:t>):</a:t>
            </a:r>
            <a:endParaRPr lang="en-US" altLang="zh-TW" dirty="0"/>
          </a:p>
          <a:p>
            <a:r>
              <a:rPr lang="en-US" altLang="zh-TW" sz="2400" dirty="0">
                <a:solidFill>
                  <a:srgbClr val="0070C0"/>
                </a:solidFill>
              </a:rPr>
              <a:t>mark pkt n as received (yellow </a:t>
            </a:r>
            <a:r>
              <a:rPr lang="en-US" altLang="zh-TW" sz="2400" dirty="0">
                <a:solidFill>
                  <a:srgbClr val="0070C0"/>
                </a:solidFill>
                <a:sym typeface="Wingdings" panose="05000000000000000000" pitchFamily="2" charset="2"/>
              </a:rPr>
              <a:t> green)</a:t>
            </a:r>
            <a:endParaRPr lang="en-US" altLang="zh-TW" sz="2400" dirty="0">
              <a:solidFill>
                <a:srgbClr val="0070C0"/>
              </a:solidFill>
            </a:endParaRPr>
          </a:p>
          <a:p>
            <a:r>
              <a:rPr lang="en-US" altLang="zh-TW" sz="2400" dirty="0"/>
              <a:t>if n is smallest </a:t>
            </a:r>
            <a:r>
              <a:rPr lang="en-US" altLang="zh-TW" sz="2400" dirty="0" err="1"/>
              <a:t>unACKed</a:t>
            </a:r>
            <a:r>
              <a:rPr lang="en-US" altLang="zh-TW" sz="2400" dirty="0"/>
              <a:t> pkt, advance </a:t>
            </a:r>
            <a:r>
              <a:rPr lang="en-US" altLang="zh-TW" sz="2400" dirty="0" err="1"/>
              <a:t>send_base</a:t>
            </a:r>
            <a:r>
              <a:rPr lang="en-US" altLang="zh-TW" sz="2400" dirty="0"/>
              <a:t> to next </a:t>
            </a:r>
            <a:r>
              <a:rPr lang="en-US" altLang="zh-TW" sz="2400" dirty="0" err="1"/>
              <a:t>unACKed</a:t>
            </a:r>
            <a:r>
              <a:rPr lang="en-US" altLang="zh-TW" sz="2400" dirty="0"/>
              <a:t> seq #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CC0000"/>
                </a:solidFill>
              </a:rPr>
              <a:t>timeout(n):</a:t>
            </a:r>
          </a:p>
          <a:p>
            <a:r>
              <a:rPr lang="en-US" altLang="zh-TW" sz="2400" dirty="0">
                <a:solidFill>
                  <a:srgbClr val="0070C0"/>
                </a:solidFill>
              </a:rPr>
              <a:t>resend pkt n</a:t>
            </a:r>
            <a:r>
              <a:rPr lang="en-US" altLang="zh-TW" sz="2400" dirty="0"/>
              <a:t>, restart timer</a:t>
            </a:r>
          </a:p>
          <a:p>
            <a:endParaRPr lang="en-US" altLang="zh-TW" dirty="0"/>
          </a:p>
        </p:txBody>
      </p:sp>
      <p:sp>
        <p:nvSpPr>
          <p:cNvPr id="112647" name="Rectangle 4">
            <a:extLst>
              <a:ext uri="{FF2B5EF4-FFF2-40B4-BE49-F238E27FC236}">
                <a16:creationId xmlns:a16="http://schemas.microsoft.com/office/drawing/2014/main" id="{AA771EE4-8A9E-4135-91AD-4C5C8BF74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457325"/>
            <a:ext cx="3838575" cy="5275263"/>
          </a:xfrm>
          <a:prstGeom prst="rect">
            <a:avLst/>
          </a:prstGeom>
          <a:noFill/>
          <a:ln w="28575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grpSp>
        <p:nvGrpSpPr>
          <p:cNvPr id="112648" name="Group 5">
            <a:extLst>
              <a:ext uri="{FF2B5EF4-FFF2-40B4-BE49-F238E27FC236}">
                <a16:creationId xmlns:a16="http://schemas.microsoft.com/office/drawing/2014/main" id="{A43CBA8B-93C0-496A-ABB8-5F3D9FFA10A9}"/>
              </a:ext>
            </a:extLst>
          </p:cNvPr>
          <p:cNvGrpSpPr>
            <a:grpSpLocks/>
          </p:cNvGrpSpPr>
          <p:nvPr/>
        </p:nvGrpSpPr>
        <p:grpSpPr bwMode="auto">
          <a:xfrm>
            <a:off x="698500" y="1155700"/>
            <a:ext cx="1160463" cy="519113"/>
            <a:chOff x="1100" y="3896"/>
            <a:chExt cx="731" cy="327"/>
          </a:xfrm>
        </p:grpSpPr>
        <p:sp>
          <p:nvSpPr>
            <p:cNvPr id="112654" name="Rectangle 6">
              <a:extLst>
                <a:ext uri="{FF2B5EF4-FFF2-40B4-BE49-F238E27FC236}">
                  <a16:creationId xmlns:a16="http://schemas.microsoft.com/office/drawing/2014/main" id="{57F7F126-721C-4301-A0BC-0E6D750A6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" y="3984"/>
              <a:ext cx="612" cy="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12655" name="Text Box 7">
              <a:extLst>
                <a:ext uri="{FF2B5EF4-FFF2-40B4-BE49-F238E27FC236}">
                  <a16:creationId xmlns:a16="http://schemas.microsoft.com/office/drawing/2014/main" id="{18C2C58C-D55B-45FF-9E21-E74F188B6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0" y="3896"/>
              <a:ext cx="731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800">
                  <a:solidFill>
                    <a:srgbClr val="000099"/>
                  </a:solidFill>
                </a:rPr>
                <a:t>sender</a:t>
              </a:r>
            </a:p>
          </p:txBody>
        </p:sp>
      </p:grpSp>
      <p:sp>
        <p:nvSpPr>
          <p:cNvPr id="112649" name="Rectangle 8">
            <a:extLst>
              <a:ext uri="{FF2B5EF4-FFF2-40B4-BE49-F238E27FC236}">
                <a16:creationId xmlns:a16="http://schemas.microsoft.com/office/drawing/2014/main" id="{72CFE9B0-6F38-419E-B5CC-9077D6C71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25" y="1581150"/>
            <a:ext cx="38100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rgbClr val="CC0000"/>
                </a:solidFill>
              </a:rPr>
              <a:t>pkt n in </a:t>
            </a:r>
            <a:r>
              <a:rPr lang="en-US" altLang="zh-TW" sz="1800" dirty="0">
                <a:solidFill>
                  <a:srgbClr val="CC0000"/>
                </a:solidFill>
              </a:rPr>
              <a:t>[</a:t>
            </a:r>
            <a:r>
              <a:rPr lang="en-US" altLang="zh-TW" sz="1800" dirty="0" err="1">
                <a:solidFill>
                  <a:srgbClr val="CC0000"/>
                </a:solidFill>
              </a:rPr>
              <a:t>rcvbase</a:t>
            </a:r>
            <a:r>
              <a:rPr lang="en-US" altLang="zh-TW" sz="1800" dirty="0">
                <a:solidFill>
                  <a:srgbClr val="CC0000"/>
                </a:solidFill>
              </a:rPr>
              <a:t>, rcvbase+N-1] </a:t>
            </a:r>
            <a:r>
              <a:rPr lang="en-US" altLang="zh-TW" sz="1800" dirty="0"/>
              <a:t>(i.e., receiver window)</a:t>
            </a:r>
            <a:endParaRPr lang="en-US" altLang="zh-TW" sz="2800" dirty="0"/>
          </a:p>
          <a:p>
            <a:r>
              <a:rPr lang="en-US" altLang="zh-TW" sz="2400" dirty="0"/>
              <a:t>send ACK(n)</a:t>
            </a:r>
          </a:p>
          <a:p>
            <a:pPr lvl="1"/>
            <a:r>
              <a:rPr lang="en-US" altLang="zh-TW" sz="2000" dirty="0">
                <a:solidFill>
                  <a:srgbClr val="0070C0"/>
                </a:solidFill>
              </a:rPr>
              <a:t>out-of-order</a:t>
            </a:r>
            <a:r>
              <a:rPr lang="en-US" altLang="zh-TW" sz="2000" dirty="0"/>
              <a:t>: buffer</a:t>
            </a:r>
          </a:p>
          <a:p>
            <a:pPr lvl="1"/>
            <a:r>
              <a:rPr lang="en-US" altLang="zh-TW" sz="2000" dirty="0">
                <a:solidFill>
                  <a:srgbClr val="0070C0"/>
                </a:solidFill>
              </a:rPr>
              <a:t>in-order</a:t>
            </a:r>
            <a:r>
              <a:rPr lang="en-US" altLang="zh-TW" sz="2000" dirty="0"/>
              <a:t>: deliver (also deliver buffered, in-order pkts), advance window to next not-yet-received pkt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rgbClr val="CC0000"/>
                </a:solidFill>
              </a:rPr>
              <a:t>pkt n in </a:t>
            </a:r>
            <a:r>
              <a:rPr lang="en-US" altLang="zh-TW" sz="1800" dirty="0">
                <a:solidFill>
                  <a:srgbClr val="CC0000"/>
                </a:solidFill>
              </a:rPr>
              <a:t>[rcvbase-N,rcvbase-1]</a:t>
            </a:r>
            <a:endParaRPr lang="en-US" altLang="zh-TW" sz="2800" dirty="0">
              <a:solidFill>
                <a:srgbClr val="CC0000"/>
              </a:solidFill>
            </a:endParaRPr>
          </a:p>
          <a:p>
            <a:r>
              <a:rPr lang="en-US" altLang="zh-TW" sz="2400" dirty="0"/>
              <a:t>ACK(n)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rgbClr val="CC0000"/>
                </a:solidFill>
              </a:rPr>
              <a:t>otherwise: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</a:p>
          <a:p>
            <a:r>
              <a:rPr lang="en-US" altLang="zh-TW" sz="2400" dirty="0"/>
              <a:t>ignore </a:t>
            </a:r>
            <a:endParaRPr lang="en-US" altLang="zh-TW" sz="2800" dirty="0"/>
          </a:p>
          <a:p>
            <a:endParaRPr lang="en-US" altLang="zh-TW" sz="2800" dirty="0"/>
          </a:p>
        </p:txBody>
      </p:sp>
      <p:sp>
        <p:nvSpPr>
          <p:cNvPr id="112650" name="Rectangle 9">
            <a:extLst>
              <a:ext uri="{FF2B5EF4-FFF2-40B4-BE49-F238E27FC236}">
                <a16:creationId xmlns:a16="http://schemas.microsoft.com/office/drawing/2014/main" id="{19F8C7CB-E1A4-4ECA-B612-31BCC2558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525" y="1438275"/>
            <a:ext cx="3838575" cy="4610100"/>
          </a:xfrm>
          <a:prstGeom prst="rect">
            <a:avLst/>
          </a:prstGeom>
          <a:noFill/>
          <a:ln w="28575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grpSp>
        <p:nvGrpSpPr>
          <p:cNvPr id="112651" name="Group 10">
            <a:extLst>
              <a:ext uri="{FF2B5EF4-FFF2-40B4-BE49-F238E27FC236}">
                <a16:creationId xmlns:a16="http://schemas.microsoft.com/office/drawing/2014/main" id="{47143902-6F4C-4FAE-8EFF-2EB20079341F}"/>
              </a:ext>
            </a:extLst>
          </p:cNvPr>
          <p:cNvGrpSpPr>
            <a:grpSpLocks/>
          </p:cNvGrpSpPr>
          <p:nvPr/>
        </p:nvGrpSpPr>
        <p:grpSpPr bwMode="auto">
          <a:xfrm>
            <a:off x="5186363" y="1127125"/>
            <a:ext cx="1365250" cy="519113"/>
            <a:chOff x="3339" y="158"/>
            <a:chExt cx="860" cy="327"/>
          </a:xfrm>
        </p:grpSpPr>
        <p:sp>
          <p:nvSpPr>
            <p:cNvPr id="112652" name="Rectangle 11">
              <a:extLst>
                <a:ext uri="{FF2B5EF4-FFF2-40B4-BE49-F238E27FC236}">
                  <a16:creationId xmlns:a16="http://schemas.microsoft.com/office/drawing/2014/main" id="{D8E78DD0-8462-4E79-8ABD-D6C80B0D3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64"/>
              <a:ext cx="822" cy="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12653" name="Text Box 12">
              <a:extLst>
                <a:ext uri="{FF2B5EF4-FFF2-40B4-BE49-F238E27FC236}">
                  <a16:creationId xmlns:a16="http://schemas.microsoft.com/office/drawing/2014/main" id="{1498843E-EFD2-4DA4-805A-F28483350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" y="158"/>
              <a:ext cx="8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800">
                  <a:solidFill>
                    <a:srgbClr val="000099"/>
                  </a:solidFill>
                </a:rPr>
                <a:t>receiver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Footer Placeholder 3">
            <a:extLst>
              <a:ext uri="{FF2B5EF4-FFF2-40B4-BE49-F238E27FC236}">
                <a16:creationId xmlns:a16="http://schemas.microsoft.com/office/drawing/2014/main" id="{A5152265-CDAF-40CE-AC9E-B49669FE5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114691" name="Slide Number Placeholder 4">
            <a:extLst>
              <a:ext uri="{FF2B5EF4-FFF2-40B4-BE49-F238E27FC236}">
                <a16:creationId xmlns:a16="http://schemas.microsoft.com/office/drawing/2014/main" id="{3F286F47-2515-4667-A431-F6794450A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D68E70DA-79E7-46F8-AE99-BCD6C530EAE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14692" name="Picture 94" descr="underline_base">
            <a:extLst>
              <a:ext uri="{FF2B5EF4-FFF2-40B4-BE49-F238E27FC236}">
                <a16:creationId xmlns:a16="http://schemas.microsoft.com/office/drawing/2014/main" id="{34BB8E4F-3E26-4CB6-B0C4-42045708503E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" y="806450"/>
            <a:ext cx="5027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1" name="Rectangle 2">
            <a:extLst>
              <a:ext uri="{FF2B5EF4-FFF2-40B4-BE49-F238E27FC236}">
                <a16:creationId xmlns:a16="http://schemas.microsoft.com/office/drawing/2014/main" id="{2C538F4D-D012-4414-A478-5DB7E3520B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500" y="198438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ea typeface="ＭＳ Ｐゴシック" charset="0"/>
                <a:cs typeface="+mj-cs"/>
              </a:rPr>
              <a:t>Selective repeat in action</a:t>
            </a:r>
          </a:p>
        </p:txBody>
      </p:sp>
      <p:pic>
        <p:nvPicPr>
          <p:cNvPr id="114694" name="Picture 72">
            <a:extLst>
              <a:ext uri="{FF2B5EF4-FFF2-40B4-BE49-F238E27FC236}">
                <a16:creationId xmlns:a16="http://schemas.microsoft.com/office/drawing/2014/main" id="{C4AE61C4-094D-45D6-8E7E-E682881AC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950" y="977900"/>
            <a:ext cx="6386513" cy="578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Footer Placeholder 5">
            <a:extLst>
              <a:ext uri="{FF2B5EF4-FFF2-40B4-BE49-F238E27FC236}">
                <a16:creationId xmlns:a16="http://schemas.microsoft.com/office/drawing/2014/main" id="{62623EE3-E016-4CA4-80F7-409A126A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117763" name="Slide Number Placeholder 6">
            <a:extLst>
              <a:ext uri="{FF2B5EF4-FFF2-40B4-BE49-F238E27FC236}">
                <a16:creationId xmlns:a16="http://schemas.microsoft.com/office/drawing/2014/main" id="{DC65246E-0AD2-4779-B8DE-A7C27AF0E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249A2569-F5F0-4D14-B42F-62FCF9BB74A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57348" name="Rectangle 2">
            <a:extLst>
              <a:ext uri="{FF2B5EF4-FFF2-40B4-BE49-F238E27FC236}">
                <a16:creationId xmlns:a16="http://schemas.microsoft.com/office/drawing/2014/main" id="{58CE8EB9-E522-41D8-A672-E686FE9AB8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Chapter 3 outline</a:t>
            </a:r>
          </a:p>
        </p:txBody>
      </p:sp>
      <p:sp>
        <p:nvSpPr>
          <p:cNvPr id="57349" name="Rectangle 3">
            <a:extLst>
              <a:ext uri="{FF2B5EF4-FFF2-40B4-BE49-F238E27FC236}">
                <a16:creationId xmlns:a16="http://schemas.microsoft.com/office/drawing/2014/main" id="{1555E974-1069-4B33-B0A7-5E9A673F5BD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3.1 transport-layer services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3.2 multiplexing and demultiplexing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3.3 connectionless transport: UDP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3.4 principles of reliable data transfer</a:t>
            </a:r>
          </a:p>
        </p:txBody>
      </p:sp>
      <p:sp>
        <p:nvSpPr>
          <p:cNvPr id="57350" name="Rectangle 4">
            <a:extLst>
              <a:ext uri="{FF2B5EF4-FFF2-40B4-BE49-F238E27FC236}">
                <a16:creationId xmlns:a16="http://schemas.microsoft.com/office/drawing/2014/main" id="{E42B9B0B-A658-44CA-856D-BCA12A43794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251325" cy="4648200"/>
          </a:xfrm>
        </p:spPr>
        <p:txBody>
          <a:bodyPr/>
          <a:lstStyle/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ea typeface="ＭＳ Ｐゴシック" charset="0"/>
                <a:cs typeface="+mn-cs"/>
              </a:rPr>
              <a:t>3.5 connection-oriented transport: TCP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segment structure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reliable data transfer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flow control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connection management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3.6 principles of congestion control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3.7 TCP congestion control</a:t>
            </a:r>
          </a:p>
        </p:txBody>
      </p:sp>
      <p:pic>
        <p:nvPicPr>
          <p:cNvPr id="117767" name="Picture 5" descr="underline_base">
            <a:extLst>
              <a:ext uri="{FF2B5EF4-FFF2-40B4-BE49-F238E27FC236}">
                <a16:creationId xmlns:a16="http://schemas.microsoft.com/office/drawing/2014/main" id="{79717728-7659-4700-A586-306C8B79C80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1017588"/>
            <a:ext cx="4387850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Footer Placeholder 5">
            <a:extLst>
              <a:ext uri="{FF2B5EF4-FFF2-40B4-BE49-F238E27FC236}">
                <a16:creationId xmlns:a16="http://schemas.microsoft.com/office/drawing/2014/main" id="{8689DC9E-1F7F-4653-8A73-0E163B25E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118787" name="Slide Number Placeholder 6">
            <a:extLst>
              <a:ext uri="{FF2B5EF4-FFF2-40B4-BE49-F238E27FC236}">
                <a16:creationId xmlns:a16="http://schemas.microsoft.com/office/drawing/2014/main" id="{F0CA6070-C4E1-428D-B398-C0E974B49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C176940A-8E61-4B42-A955-3779E963A9D4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18788" name="Rectangle 2">
            <a:extLst>
              <a:ext uri="{FF2B5EF4-FFF2-40B4-BE49-F238E27FC236}">
                <a16:creationId xmlns:a16="http://schemas.microsoft.com/office/drawing/2014/main" id="{57709C7A-8C40-49CB-B574-3BF1914EA5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5600" y="252413"/>
            <a:ext cx="8243888" cy="885825"/>
          </a:xfrm>
        </p:spPr>
        <p:txBody>
          <a:bodyPr/>
          <a:lstStyle/>
          <a:p>
            <a:r>
              <a:rPr lang="en-US" altLang="zh-TW"/>
              <a:t>TCP: Overview  </a:t>
            </a:r>
            <a:r>
              <a:rPr lang="en-US" altLang="zh-TW" sz="2400"/>
              <a:t>RFCs: 793,1122,1323, 2018, 2581</a:t>
            </a:r>
            <a:endParaRPr lang="en-US" altLang="zh-TW"/>
          </a:p>
        </p:txBody>
      </p:sp>
      <p:sp>
        <p:nvSpPr>
          <p:cNvPr id="58373" name="Rectangle 3">
            <a:extLst>
              <a:ext uri="{FF2B5EF4-FFF2-40B4-BE49-F238E27FC236}">
                <a16:creationId xmlns:a16="http://schemas.microsoft.com/office/drawing/2014/main" id="{3EED3A02-0982-407B-A0ED-A540661C7D7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810125" y="1552575"/>
            <a:ext cx="3895725" cy="4648200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dirty="0">
                <a:solidFill>
                  <a:srgbClr val="CC0000"/>
                </a:solidFill>
                <a:ea typeface="ＭＳ Ｐゴシック" charset="0"/>
                <a:cs typeface="+mn-cs"/>
              </a:rPr>
              <a:t>full duplex data: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bi-directional data flow in same connection</a:t>
            </a:r>
          </a:p>
          <a:p>
            <a:pPr>
              <a:buFont typeface="Wingdings" charset="0"/>
              <a:buChar char="v"/>
              <a:defRPr/>
            </a:pPr>
            <a:r>
              <a:rPr lang="en-US" dirty="0">
                <a:solidFill>
                  <a:srgbClr val="CC0000"/>
                </a:solidFill>
                <a:ea typeface="ＭＳ Ｐゴシック" charset="0"/>
                <a:cs typeface="+mn-cs"/>
              </a:rPr>
              <a:t>connection-oriented:</a:t>
            </a:r>
            <a:r>
              <a:rPr lang="en-US" dirty="0">
                <a:ea typeface="ＭＳ Ｐゴシック" charset="0"/>
                <a:cs typeface="+mn-cs"/>
              </a:rPr>
              <a:t> 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handshaking (exchange of control msgs) initializes sender, receiver state before data exchange</a:t>
            </a:r>
          </a:p>
          <a:p>
            <a:pPr>
              <a:buFont typeface="Wingdings" charset="0"/>
              <a:buChar char="v"/>
              <a:defRPr/>
            </a:pPr>
            <a:r>
              <a:rPr lang="en-US" dirty="0">
                <a:solidFill>
                  <a:srgbClr val="CC0000"/>
                </a:solidFill>
                <a:ea typeface="ＭＳ Ｐゴシック" charset="0"/>
                <a:cs typeface="+mn-cs"/>
              </a:rPr>
              <a:t>flow controlled: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sender will not overwhelm receiver</a:t>
            </a:r>
          </a:p>
        </p:txBody>
      </p:sp>
      <p:sp>
        <p:nvSpPr>
          <p:cNvPr id="118790" name="Rectangle 4">
            <a:extLst>
              <a:ext uri="{FF2B5EF4-FFF2-40B4-BE49-F238E27FC236}">
                <a16:creationId xmlns:a16="http://schemas.microsoft.com/office/drawing/2014/main" id="{3FE54AFF-79A4-4EE3-9B36-A19A50EA940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71500" y="1543050"/>
            <a:ext cx="3981450" cy="4648200"/>
          </a:xfrm>
        </p:spPr>
        <p:txBody>
          <a:bodyPr/>
          <a:lstStyle/>
          <a:p>
            <a:r>
              <a:rPr lang="en-US" altLang="zh-TW">
                <a:solidFill>
                  <a:srgbClr val="CC0000"/>
                </a:solidFill>
              </a:rPr>
              <a:t>point-to-point:</a:t>
            </a:r>
          </a:p>
          <a:p>
            <a:pPr lvl="1"/>
            <a:r>
              <a:rPr lang="en-US" altLang="zh-TW"/>
              <a:t>one sender, one receiver</a:t>
            </a:r>
            <a:r>
              <a:rPr lang="en-US" altLang="zh-TW">
                <a:solidFill>
                  <a:srgbClr val="FF0000"/>
                </a:solidFill>
              </a:rPr>
              <a:t> </a:t>
            </a:r>
          </a:p>
          <a:p>
            <a:r>
              <a:rPr lang="en-US" altLang="zh-TW">
                <a:solidFill>
                  <a:srgbClr val="CC0000"/>
                </a:solidFill>
              </a:rPr>
              <a:t>reliable, in-order </a:t>
            </a:r>
            <a:r>
              <a:rPr lang="en-US" altLang="zh-TW" i="1">
                <a:solidFill>
                  <a:srgbClr val="0070C0"/>
                </a:solidFill>
              </a:rPr>
              <a:t>byte steam:</a:t>
            </a:r>
          </a:p>
          <a:p>
            <a:pPr lvl="1"/>
            <a:r>
              <a:rPr lang="en-US" altLang="zh-TW"/>
              <a:t>no </a:t>
            </a:r>
            <a:r>
              <a:rPr lang="ja-JP" altLang="en-US"/>
              <a:t>“</a:t>
            </a:r>
            <a:r>
              <a:rPr lang="en-US" altLang="ja-JP"/>
              <a:t>message boundaries</a:t>
            </a:r>
            <a:r>
              <a:rPr lang="ja-JP" altLang="en-US"/>
              <a:t>”</a:t>
            </a:r>
            <a:endParaRPr lang="en-US" altLang="ja-JP"/>
          </a:p>
          <a:p>
            <a:r>
              <a:rPr lang="en-US" altLang="zh-TW">
                <a:solidFill>
                  <a:srgbClr val="CC0000"/>
                </a:solidFill>
              </a:rPr>
              <a:t>pipelined:</a:t>
            </a:r>
          </a:p>
          <a:p>
            <a:pPr lvl="1"/>
            <a:r>
              <a:rPr lang="en-US" altLang="zh-TW"/>
              <a:t>TCP congestion and flow control set window size</a:t>
            </a:r>
            <a:endParaRPr lang="en-US" altLang="zh-TW" i="1"/>
          </a:p>
          <a:p>
            <a:endParaRPr lang="en-US" altLang="zh-TW"/>
          </a:p>
        </p:txBody>
      </p:sp>
      <p:pic>
        <p:nvPicPr>
          <p:cNvPr id="118791" name="Picture 6" descr="underline_base">
            <a:extLst>
              <a:ext uri="{FF2B5EF4-FFF2-40B4-BE49-F238E27FC236}">
                <a16:creationId xmlns:a16="http://schemas.microsoft.com/office/drawing/2014/main" id="{452C24EE-F862-4BD4-BA3A-D67D16D6E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925513"/>
            <a:ext cx="8228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Footer Placeholder 3">
            <a:extLst>
              <a:ext uri="{FF2B5EF4-FFF2-40B4-BE49-F238E27FC236}">
                <a16:creationId xmlns:a16="http://schemas.microsoft.com/office/drawing/2014/main" id="{8AC8BD0F-C423-437F-BAFE-825A735FB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119811" name="Slide Number Placeholder 4">
            <a:extLst>
              <a:ext uri="{FF2B5EF4-FFF2-40B4-BE49-F238E27FC236}">
                <a16:creationId xmlns:a16="http://schemas.microsoft.com/office/drawing/2014/main" id="{435540FD-B7E1-4F77-8DAC-C9DF799B2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0A8502A0-9239-4493-8FF4-02A63EE42997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19812" name="Picture 57" descr="underline_base">
            <a:extLst>
              <a:ext uri="{FF2B5EF4-FFF2-40B4-BE49-F238E27FC236}">
                <a16:creationId xmlns:a16="http://schemas.microsoft.com/office/drawing/2014/main" id="{CBE76003-B063-4523-B2FE-950A571CECF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773113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813" name="Rectangle 2">
            <a:extLst>
              <a:ext uri="{FF2B5EF4-FFF2-40B4-BE49-F238E27FC236}">
                <a16:creationId xmlns:a16="http://schemas.microsoft.com/office/drawing/2014/main" id="{9711A993-66CF-45F0-9857-CE8859E5F7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90500"/>
            <a:ext cx="7772400" cy="781050"/>
          </a:xfrm>
        </p:spPr>
        <p:txBody>
          <a:bodyPr/>
          <a:lstStyle/>
          <a:p>
            <a:r>
              <a:rPr lang="en-US" altLang="zh-TW" sz="4000"/>
              <a:t>TCP segment structure</a:t>
            </a:r>
            <a:endParaRPr lang="en-US" altLang="zh-TW"/>
          </a:p>
        </p:txBody>
      </p:sp>
      <p:sp>
        <p:nvSpPr>
          <p:cNvPr id="119814" name="Rectangle 4">
            <a:extLst>
              <a:ext uri="{FF2B5EF4-FFF2-40B4-BE49-F238E27FC236}">
                <a16:creationId xmlns:a16="http://schemas.microsoft.com/office/drawing/2014/main" id="{5A3467E0-EC54-4602-BB7F-CE7643AA9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7188" y="1512888"/>
            <a:ext cx="3951287" cy="4824412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19815" name="Rectangle 5">
            <a:extLst>
              <a:ext uri="{FF2B5EF4-FFF2-40B4-BE49-F238E27FC236}">
                <a16:creationId xmlns:a16="http://schemas.microsoft.com/office/drawing/2014/main" id="{9BB58CA3-8332-4A35-854D-91B411978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463" y="1628775"/>
            <a:ext cx="3951287" cy="48053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119816" name="Text Box 6">
            <a:extLst>
              <a:ext uri="{FF2B5EF4-FFF2-40B4-BE49-F238E27FC236}">
                <a16:creationId xmlns:a16="http://schemas.microsoft.com/office/drawing/2014/main" id="{ABB7CFB9-C927-435E-9FCB-104DADD97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5925" y="1587500"/>
            <a:ext cx="166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source port #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19817" name="Text Box 7">
            <a:extLst>
              <a:ext uri="{FF2B5EF4-FFF2-40B4-BE49-F238E27FC236}">
                <a16:creationId xmlns:a16="http://schemas.microsoft.com/office/drawing/2014/main" id="{8CD0E827-235D-4110-A449-23DE7DAC0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188" y="1592263"/>
            <a:ext cx="1381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dest port #</a:t>
            </a:r>
            <a:endParaRPr lang="en-US" altLang="zh-TW" sz="1800">
              <a:latin typeface="Arial" panose="020B0604020202020204" pitchFamily="34" charset="0"/>
            </a:endParaRPr>
          </a:p>
        </p:txBody>
      </p:sp>
      <p:sp>
        <p:nvSpPr>
          <p:cNvPr id="119818" name="Line 8">
            <a:extLst>
              <a:ext uri="{FF2B5EF4-FFF2-40B4-BE49-F238E27FC236}">
                <a16:creationId xmlns:a16="http://schemas.microsoft.com/office/drawing/2014/main" id="{201E90C6-C7C6-499F-BFC3-86A8B227E89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4638" y="2003425"/>
            <a:ext cx="3946525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19" name="Line 9">
            <a:extLst>
              <a:ext uri="{FF2B5EF4-FFF2-40B4-BE49-F238E27FC236}">
                <a16:creationId xmlns:a16="http://schemas.microsoft.com/office/drawing/2014/main" id="{D9205C0C-81F2-4C76-B835-103A24F86F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08288" y="2382838"/>
            <a:ext cx="39512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20" name="Line 10">
            <a:extLst>
              <a:ext uri="{FF2B5EF4-FFF2-40B4-BE49-F238E27FC236}">
                <a16:creationId xmlns:a16="http://schemas.microsoft.com/office/drawing/2014/main" id="{8479336E-B5D9-4499-A3CC-EABEBCC9E9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54563" y="1628775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21" name="Text Box 11">
            <a:extLst>
              <a:ext uri="{FF2B5EF4-FFF2-40B4-BE49-F238E27FC236}">
                <a16:creationId xmlns:a16="http://schemas.microsoft.com/office/drawing/2014/main" id="{6702F17C-4E8F-4315-8B31-ADD1D35FE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7363" y="1098550"/>
            <a:ext cx="857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32 bits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19822" name="Line 12">
            <a:extLst>
              <a:ext uri="{FF2B5EF4-FFF2-40B4-BE49-F238E27FC236}">
                <a16:creationId xmlns:a16="http://schemas.microsoft.com/office/drawing/2014/main" id="{12C8103A-07EF-4302-A0CA-8DFBF6424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7488" y="1344613"/>
            <a:ext cx="1427162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23" name="Line 13">
            <a:extLst>
              <a:ext uri="{FF2B5EF4-FFF2-40B4-BE49-F238E27FC236}">
                <a16:creationId xmlns:a16="http://schemas.microsoft.com/office/drawing/2014/main" id="{311BD26F-D773-46E3-A181-087727CF6D82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2789238" y="1355725"/>
            <a:ext cx="13414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24" name="Text Box 14">
            <a:extLst>
              <a:ext uri="{FF2B5EF4-FFF2-40B4-BE49-F238E27FC236}">
                <a16:creationId xmlns:a16="http://schemas.microsoft.com/office/drawing/2014/main" id="{B970767A-86AD-42AA-9A1C-CC992EF6F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5" y="4567238"/>
            <a:ext cx="20050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application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data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(variable length)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19825" name="Text Box 15">
            <a:extLst>
              <a:ext uri="{FF2B5EF4-FFF2-40B4-BE49-F238E27FC236}">
                <a16:creationId xmlns:a16="http://schemas.microsoft.com/office/drawing/2014/main" id="{5725D120-8AA3-4D9D-A761-C21DFD540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75" y="1982788"/>
            <a:ext cx="2486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Arial" panose="020B0604020202020204" pitchFamily="34" charset="0"/>
              </a:rPr>
              <a:t>sequence number</a:t>
            </a:r>
            <a:endParaRPr lang="en-US" altLang="zh-TW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19826" name="Line 16">
            <a:extLst>
              <a:ext uri="{FF2B5EF4-FFF2-40B4-BE49-F238E27FC236}">
                <a16:creationId xmlns:a16="http://schemas.microsoft.com/office/drawing/2014/main" id="{1D1C0D8C-481A-49A6-BEA8-216943BAE1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7813" y="2763838"/>
            <a:ext cx="39512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27" name="Text Box 17">
            <a:extLst>
              <a:ext uri="{FF2B5EF4-FFF2-40B4-BE49-F238E27FC236}">
                <a16:creationId xmlns:a16="http://schemas.microsoft.com/office/drawing/2014/main" id="{1089B83C-2266-49E1-B6B5-A61A9B96C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4825" y="2382838"/>
            <a:ext cx="3409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solidFill>
                  <a:srgbClr val="FF0000"/>
                </a:solidFill>
                <a:latin typeface="Arial" panose="020B0604020202020204" pitchFamily="34" charset="0"/>
              </a:rPr>
              <a:t>acknowledgement number</a:t>
            </a:r>
          </a:p>
        </p:txBody>
      </p:sp>
      <p:sp>
        <p:nvSpPr>
          <p:cNvPr id="119828" name="Line 18">
            <a:extLst>
              <a:ext uri="{FF2B5EF4-FFF2-40B4-BE49-F238E27FC236}">
                <a16:creationId xmlns:a16="http://schemas.microsoft.com/office/drawing/2014/main" id="{8C113E2B-E04F-4F79-AA8B-903144BBE5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3050" y="3159125"/>
            <a:ext cx="39512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29" name="Line 19">
            <a:extLst>
              <a:ext uri="{FF2B5EF4-FFF2-40B4-BE49-F238E27FC236}">
                <a16:creationId xmlns:a16="http://schemas.microsoft.com/office/drawing/2014/main" id="{FAEFB306-CD99-4AB3-B686-56004670B7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08288" y="3549650"/>
            <a:ext cx="39512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30" name="Line 20">
            <a:extLst>
              <a:ext uri="{FF2B5EF4-FFF2-40B4-BE49-F238E27FC236}">
                <a16:creationId xmlns:a16="http://schemas.microsoft.com/office/drawing/2014/main" id="{399E8D8D-EEFA-4009-B326-EF63751403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08288" y="4111625"/>
            <a:ext cx="39512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31" name="Line 21">
            <a:extLst>
              <a:ext uri="{FF2B5EF4-FFF2-40B4-BE49-F238E27FC236}">
                <a16:creationId xmlns:a16="http://schemas.microsoft.com/office/drawing/2014/main" id="{29C8F401-8D56-4C51-A8C1-F738A7B957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68850" y="2767013"/>
            <a:ext cx="4763" cy="7778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32" name="Text Box 22">
            <a:extLst>
              <a:ext uri="{FF2B5EF4-FFF2-40B4-BE49-F238E27FC236}">
                <a16:creationId xmlns:a16="http://schemas.microsoft.com/office/drawing/2014/main" id="{06A4A3CC-1EC4-4B52-9BE8-5AA6DCC40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0450" y="2770188"/>
            <a:ext cx="174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receive window</a:t>
            </a:r>
          </a:p>
        </p:txBody>
      </p:sp>
      <p:sp>
        <p:nvSpPr>
          <p:cNvPr id="119833" name="Text Box 23">
            <a:extLst>
              <a:ext uri="{FF2B5EF4-FFF2-40B4-BE49-F238E27FC236}">
                <a16:creationId xmlns:a16="http://schemas.microsoft.com/office/drawing/2014/main" id="{2D9EF24A-E70E-48FC-9F52-6AC70CF6B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850" y="3165475"/>
            <a:ext cx="1822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Urg data pointer</a:t>
            </a:r>
          </a:p>
        </p:txBody>
      </p:sp>
      <p:sp>
        <p:nvSpPr>
          <p:cNvPr id="119834" name="Text Box 24">
            <a:extLst>
              <a:ext uri="{FF2B5EF4-FFF2-40B4-BE49-F238E27FC236}">
                <a16:creationId xmlns:a16="http://schemas.microsoft.com/office/drawing/2014/main" id="{038C02F4-CDCD-4BB6-B6AC-5A1C59CF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763" y="3146425"/>
            <a:ext cx="1212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checksum</a:t>
            </a:r>
          </a:p>
        </p:txBody>
      </p:sp>
      <p:sp>
        <p:nvSpPr>
          <p:cNvPr id="119835" name="Text Box 25">
            <a:extLst>
              <a:ext uri="{FF2B5EF4-FFF2-40B4-BE49-F238E27FC236}">
                <a16:creationId xmlns:a16="http://schemas.microsoft.com/office/drawing/2014/main" id="{FFCE4DCA-AED4-4163-9BAB-8C3BBC0E6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2313" y="2798763"/>
            <a:ext cx="307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F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19836" name="Line 26">
            <a:extLst>
              <a:ext uri="{FF2B5EF4-FFF2-40B4-BE49-F238E27FC236}">
                <a16:creationId xmlns:a16="http://schemas.microsoft.com/office/drawing/2014/main" id="{491F3335-2B7E-4D34-BA1F-0DF109CF37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11688" y="2757488"/>
            <a:ext cx="0" cy="3921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37" name="Line 27">
            <a:extLst>
              <a:ext uri="{FF2B5EF4-FFF2-40B4-BE49-F238E27FC236}">
                <a16:creationId xmlns:a16="http://schemas.microsoft.com/office/drawing/2014/main" id="{1263CD1D-59F3-44B8-B8B6-66B05B8E6F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49763" y="2762250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38" name="Line 28">
            <a:extLst>
              <a:ext uri="{FF2B5EF4-FFF2-40B4-BE49-F238E27FC236}">
                <a16:creationId xmlns:a16="http://schemas.microsoft.com/office/drawing/2014/main" id="{F36A6BEC-214F-4507-8ABA-EEB7917AE0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83075" y="2762250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39" name="Line 29">
            <a:extLst>
              <a:ext uri="{FF2B5EF4-FFF2-40B4-BE49-F238E27FC236}">
                <a16:creationId xmlns:a16="http://schemas.microsoft.com/office/drawing/2014/main" id="{8B0D7AA5-FF52-4964-AB90-6C6CCA4FE0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21150" y="2767013"/>
            <a:ext cx="0" cy="3921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40" name="Line 30">
            <a:extLst>
              <a:ext uri="{FF2B5EF4-FFF2-40B4-BE49-F238E27FC236}">
                <a16:creationId xmlns:a16="http://schemas.microsoft.com/office/drawing/2014/main" id="{B24819BF-E8A0-4B70-BB19-775623EEB7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3988" y="2762250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41" name="Line 31">
            <a:extLst>
              <a:ext uri="{FF2B5EF4-FFF2-40B4-BE49-F238E27FC236}">
                <a16:creationId xmlns:a16="http://schemas.microsoft.com/office/drawing/2014/main" id="{9D3809AB-124E-40CF-86D3-42A3D3AC34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92538" y="2771775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42" name="Text Box 32">
            <a:extLst>
              <a:ext uri="{FF2B5EF4-FFF2-40B4-BE49-F238E27FC236}">
                <a16:creationId xmlns:a16="http://schemas.microsoft.com/office/drawing/2014/main" id="{DD80127C-EEC0-4DF8-BD4F-BA938D497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25" y="2794000"/>
            <a:ext cx="3190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S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19843" name="Text Box 33">
            <a:extLst>
              <a:ext uri="{FF2B5EF4-FFF2-40B4-BE49-F238E27FC236}">
                <a16:creationId xmlns:a16="http://schemas.microsoft.com/office/drawing/2014/main" id="{B0B05E3E-6806-4E5F-97F4-2196D6CEE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588" y="2794000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R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19844" name="Text Box 34">
            <a:extLst>
              <a:ext uri="{FF2B5EF4-FFF2-40B4-BE49-F238E27FC236}">
                <a16:creationId xmlns:a16="http://schemas.microsoft.com/office/drawing/2014/main" id="{55D3D886-F08B-4C4A-9F84-63B373434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2789238"/>
            <a:ext cx="3190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P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19845" name="Text Box 35">
            <a:extLst>
              <a:ext uri="{FF2B5EF4-FFF2-40B4-BE49-F238E27FC236}">
                <a16:creationId xmlns:a16="http://schemas.microsoft.com/office/drawing/2014/main" id="{83017765-0626-4242-8921-D495B0C67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2789238"/>
            <a:ext cx="3190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A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19846" name="Text Box 36">
            <a:extLst>
              <a:ext uri="{FF2B5EF4-FFF2-40B4-BE49-F238E27FC236}">
                <a16:creationId xmlns:a16="http://schemas.microsoft.com/office/drawing/2014/main" id="{EC20C214-6076-49CF-A491-9D600697B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5" y="2789238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U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19847" name="Text Box 37">
            <a:extLst>
              <a:ext uri="{FF2B5EF4-FFF2-40B4-BE49-F238E27FC236}">
                <a16:creationId xmlns:a16="http://schemas.microsoft.com/office/drawing/2014/main" id="{902D9D5D-1263-40FD-A61D-84CD6256C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2697163"/>
            <a:ext cx="5778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head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len</a:t>
            </a:r>
            <a:endParaRPr lang="en-US" altLang="zh-TW" sz="1800">
              <a:latin typeface="Arial" panose="020B0604020202020204" pitchFamily="34" charset="0"/>
            </a:endParaRPr>
          </a:p>
        </p:txBody>
      </p:sp>
      <p:sp>
        <p:nvSpPr>
          <p:cNvPr id="119848" name="Text Box 38">
            <a:extLst>
              <a:ext uri="{FF2B5EF4-FFF2-40B4-BE49-F238E27FC236}">
                <a16:creationId xmlns:a16="http://schemas.microsoft.com/office/drawing/2014/main" id="{198F9B6F-B94B-431E-B997-79F43F2AD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0" y="2697163"/>
            <a:ext cx="5683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not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used</a:t>
            </a:r>
            <a:endParaRPr lang="en-US" altLang="zh-TW" sz="1800">
              <a:latin typeface="Arial" panose="020B0604020202020204" pitchFamily="34" charset="0"/>
            </a:endParaRPr>
          </a:p>
        </p:txBody>
      </p:sp>
      <p:sp>
        <p:nvSpPr>
          <p:cNvPr id="119849" name="Line 39">
            <a:extLst>
              <a:ext uri="{FF2B5EF4-FFF2-40B4-BE49-F238E27FC236}">
                <a16:creationId xmlns:a16="http://schemas.microsoft.com/office/drawing/2014/main" id="{52669C04-90B7-448D-BBAB-28519E89C5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87713" y="2762250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50" name="Text Box 40">
            <a:extLst>
              <a:ext uri="{FF2B5EF4-FFF2-40B4-BE49-F238E27FC236}">
                <a16:creationId xmlns:a16="http://schemas.microsoft.com/office/drawing/2014/main" id="{ABE86606-F862-4BB9-A580-EC22C0611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75" y="3648075"/>
            <a:ext cx="289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options (variable length)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19851" name="Text Box 42">
            <a:extLst>
              <a:ext uri="{FF2B5EF4-FFF2-40B4-BE49-F238E27FC236}">
                <a16:creationId xmlns:a16="http://schemas.microsoft.com/office/drawing/2014/main" id="{865C1B35-4249-4C79-B6E3-5C7041BFF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538" y="2151063"/>
            <a:ext cx="2181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ACK: ACK # valid</a:t>
            </a:r>
            <a:endParaRPr lang="en-US" altLang="zh-TW" sz="1000">
              <a:latin typeface="Arial" panose="020B0604020202020204" pitchFamily="34" charset="0"/>
            </a:endParaRPr>
          </a:p>
        </p:txBody>
      </p:sp>
      <p:sp>
        <p:nvSpPr>
          <p:cNvPr id="119852" name="Text Box 44">
            <a:extLst>
              <a:ext uri="{FF2B5EF4-FFF2-40B4-BE49-F238E27FC236}">
                <a16:creationId xmlns:a16="http://schemas.microsoft.com/office/drawing/2014/main" id="{7ACA8D7B-FA44-4A73-B8CB-CD6D7F8F4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" y="3627438"/>
            <a:ext cx="27114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RST, SYN, FIN: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70C0"/>
                </a:solidFill>
                <a:latin typeface="Arial" panose="020B0604020202020204" pitchFamily="34" charset="0"/>
              </a:rPr>
              <a:t>connection management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(setup, teardown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commands)</a:t>
            </a:r>
          </a:p>
        </p:txBody>
      </p:sp>
      <p:sp>
        <p:nvSpPr>
          <p:cNvPr id="119853" name="Line 46">
            <a:extLst>
              <a:ext uri="{FF2B5EF4-FFF2-40B4-BE49-F238E27FC236}">
                <a16:creationId xmlns:a16="http://schemas.microsoft.com/office/drawing/2014/main" id="{AE07AEF7-8668-4B2B-B3E4-8D1B9914B2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6488" y="2487613"/>
            <a:ext cx="1658937" cy="4413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54" name="Freeform 48">
            <a:extLst>
              <a:ext uri="{FF2B5EF4-FFF2-40B4-BE49-F238E27FC236}">
                <a16:creationId xmlns:a16="http://schemas.microsoft.com/office/drawing/2014/main" id="{4B308EFF-CD4E-4AC8-8177-6AD01B0DE60C}"/>
              </a:ext>
            </a:extLst>
          </p:cNvPr>
          <p:cNvSpPr>
            <a:spLocks/>
          </p:cNvSpPr>
          <p:nvPr/>
        </p:nvSpPr>
        <p:spPr bwMode="auto">
          <a:xfrm>
            <a:off x="2390775" y="3105150"/>
            <a:ext cx="2314575" cy="704850"/>
          </a:xfrm>
          <a:custGeom>
            <a:avLst/>
            <a:gdLst>
              <a:gd name="T0" fmla="*/ 0 w 1458"/>
              <a:gd name="T1" fmla="*/ 2147483646 h 444"/>
              <a:gd name="T2" fmla="*/ 2147483646 w 1458"/>
              <a:gd name="T3" fmla="*/ 0 h 444"/>
              <a:gd name="T4" fmla="*/ 2147483646 w 1458"/>
              <a:gd name="T5" fmla="*/ 2147483646 h 444"/>
              <a:gd name="T6" fmla="*/ 0 60000 65536"/>
              <a:gd name="T7" fmla="*/ 0 60000 65536"/>
              <a:gd name="T8" fmla="*/ 0 60000 65536"/>
              <a:gd name="T9" fmla="*/ 0 w 1458"/>
              <a:gd name="T10" fmla="*/ 0 h 444"/>
              <a:gd name="T11" fmla="*/ 1458 w 1458"/>
              <a:gd name="T12" fmla="*/ 444 h 4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58" h="444">
                <a:moveTo>
                  <a:pt x="0" y="444"/>
                </a:moveTo>
                <a:lnTo>
                  <a:pt x="1248" y="0"/>
                </a:lnTo>
                <a:lnTo>
                  <a:pt x="1458" y="6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55" name="Text Box 49">
            <a:extLst>
              <a:ext uri="{FF2B5EF4-FFF2-40B4-BE49-F238E27FC236}">
                <a16:creationId xmlns:a16="http://schemas.microsoft.com/office/drawing/2014/main" id="{987EA30F-C175-431C-A5AB-11C18B393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025" y="3008313"/>
            <a:ext cx="17049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# bytes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rcvr willing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to accept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zh-TW" sz="18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 control</a:t>
            </a:r>
          </a:p>
        </p:txBody>
      </p:sp>
      <p:sp>
        <p:nvSpPr>
          <p:cNvPr id="119856" name="Text Box 50">
            <a:extLst>
              <a:ext uri="{FF2B5EF4-FFF2-40B4-BE49-F238E27FC236}">
                <a16:creationId xmlns:a16="http://schemas.microsoft.com/office/drawing/2014/main" id="{74C517A5-F67F-4AC6-B66F-C39107745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2638" y="1522413"/>
            <a:ext cx="19161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 dirty="0">
                <a:solidFill>
                  <a:srgbClr val="FF0000"/>
                </a:solidFill>
                <a:latin typeface="Arial" panose="020B0604020202020204" pitchFamily="34" charset="0"/>
              </a:rPr>
              <a:t>counting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 dirty="0">
                <a:solidFill>
                  <a:srgbClr val="FF0000"/>
                </a:solidFill>
                <a:latin typeface="Arial" panose="020B0604020202020204" pitchFamily="34" charset="0"/>
              </a:rPr>
              <a:t>by bytes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 dirty="0">
                <a:solidFill>
                  <a:srgbClr val="FF0000"/>
                </a:solidFill>
                <a:latin typeface="Arial" panose="020B0604020202020204" pitchFamily="34" charset="0"/>
              </a:rPr>
              <a:t>of data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 dirty="0">
                <a:solidFill>
                  <a:srgbClr val="FF0000"/>
                </a:solidFill>
                <a:latin typeface="Arial" panose="020B0604020202020204" pitchFamily="34" charset="0"/>
              </a:rPr>
              <a:t>(not segments!)</a:t>
            </a:r>
          </a:p>
        </p:txBody>
      </p:sp>
      <p:sp>
        <p:nvSpPr>
          <p:cNvPr id="119857" name="Text Box 51">
            <a:extLst>
              <a:ext uri="{FF2B5EF4-FFF2-40B4-BE49-F238E27FC236}">
                <a16:creationId xmlns:a16="http://schemas.microsoft.com/office/drawing/2014/main" id="{9B0AE7E0-85D7-4A91-9B88-D86A1B5FA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63" y="4960938"/>
            <a:ext cx="13652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Internet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0070C0"/>
                </a:solidFill>
                <a:latin typeface="Arial" panose="020B0604020202020204" pitchFamily="34" charset="0"/>
              </a:rPr>
              <a:t>checksum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(as in UDP)</a:t>
            </a:r>
          </a:p>
        </p:txBody>
      </p:sp>
      <p:sp>
        <p:nvSpPr>
          <p:cNvPr id="119858" name="Line 52">
            <a:extLst>
              <a:ext uri="{FF2B5EF4-FFF2-40B4-BE49-F238E27FC236}">
                <a16:creationId xmlns:a16="http://schemas.microsoft.com/office/drawing/2014/main" id="{33342DC7-F680-43D7-8581-5B9B868ADC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66950" y="3429000"/>
            <a:ext cx="2105025" cy="1981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59" name="Line 53">
            <a:extLst>
              <a:ext uri="{FF2B5EF4-FFF2-40B4-BE49-F238E27FC236}">
                <a16:creationId xmlns:a16="http://schemas.microsoft.com/office/drawing/2014/main" id="{12060D2A-8F18-45AF-901A-0D8959F63D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86550" y="3019425"/>
            <a:ext cx="809625" cy="4667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60" name="Line 54">
            <a:extLst>
              <a:ext uri="{FF2B5EF4-FFF2-40B4-BE49-F238E27FC236}">
                <a16:creationId xmlns:a16="http://schemas.microsoft.com/office/drawing/2014/main" id="{7D1A4996-88E1-4C12-9FD0-19352AA3BC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9875" y="1724025"/>
            <a:ext cx="552450" cy="8858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9861" name="Line 55">
            <a:extLst>
              <a:ext uri="{FF2B5EF4-FFF2-40B4-BE49-F238E27FC236}">
                <a16:creationId xmlns:a16="http://schemas.microsoft.com/office/drawing/2014/main" id="{C1126CE6-7627-4138-B942-603E65C695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81775" y="1714500"/>
            <a:ext cx="571500" cy="5238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35" descr="underline_base">
            <a:extLst>
              <a:ext uri="{FF2B5EF4-FFF2-40B4-BE49-F238E27FC236}">
                <a16:creationId xmlns:a16="http://schemas.microsoft.com/office/drawing/2014/main" id="{CE18D22D-5D47-4984-9B04-EE6D71935FA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815975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1" name="Rectangle 4">
            <a:extLst>
              <a:ext uri="{FF2B5EF4-FFF2-40B4-BE49-F238E27FC236}">
                <a16:creationId xmlns:a16="http://schemas.microsoft.com/office/drawing/2014/main" id="{E681A1A0-04EE-4603-9B28-CA70754FD6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6713" y="150813"/>
            <a:ext cx="7772400" cy="885825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TCP seq. numbers</a:t>
            </a:r>
          </a:p>
        </p:txBody>
      </p:sp>
      <p:sp>
        <p:nvSpPr>
          <p:cNvPr id="90116" name="Rectangle 5">
            <a:extLst>
              <a:ext uri="{FF2B5EF4-FFF2-40B4-BE49-F238E27FC236}">
                <a16:creationId xmlns:a16="http://schemas.microsoft.com/office/drawing/2014/main" id="{270E5543-4AAA-466B-8C41-2CE2B14BCD9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55600" y="1339850"/>
            <a:ext cx="8420100" cy="4648200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solidFill>
                  <a:srgbClr val="FF0000"/>
                </a:solidFill>
              </a:rPr>
              <a:t>Maximum segment size (MSS)</a:t>
            </a:r>
            <a:r>
              <a:rPr lang="en-US" altLang="zh-TW" dirty="0"/>
              <a:t>: Maximum amount of data that can be grabbed and placed in a segment</a:t>
            </a:r>
          </a:p>
          <a:p>
            <a:pPr>
              <a:defRPr/>
            </a:pPr>
            <a:r>
              <a:rPr lang="en-US" altLang="zh-TW" dirty="0">
                <a:solidFill>
                  <a:srgbClr val="FF0000"/>
                </a:solidFill>
              </a:rPr>
              <a:t>Sequence number</a:t>
            </a:r>
            <a:r>
              <a:rPr lang="en-US" altLang="zh-TW" dirty="0"/>
              <a:t> for a segment: Byte-stream number of the first byte in the segment</a:t>
            </a:r>
          </a:p>
          <a:p>
            <a:pPr>
              <a:defRPr/>
            </a:pPr>
            <a:r>
              <a:rPr lang="en-US" altLang="zh-TW" dirty="0"/>
              <a:t>E.g., file size = 500,000 bytes and MSS = 1,000 bytes</a:t>
            </a:r>
          </a:p>
          <a:p>
            <a:pPr lvl="1">
              <a:defRPr/>
            </a:pPr>
            <a:r>
              <a:rPr lang="en-US" altLang="zh-TW" dirty="0"/>
              <a:t>Seq # of 1</a:t>
            </a:r>
            <a:r>
              <a:rPr lang="en-US" altLang="zh-TW" baseline="30000" dirty="0"/>
              <a:t>st</a:t>
            </a:r>
            <a:r>
              <a:rPr lang="en-US" altLang="zh-TW" dirty="0"/>
              <a:t> segment: 0; 2</a:t>
            </a:r>
            <a:r>
              <a:rPr lang="en-US" altLang="zh-TW" baseline="30000" dirty="0"/>
              <a:t>nd</a:t>
            </a:r>
            <a:r>
              <a:rPr lang="en-US" altLang="zh-TW" dirty="0"/>
              <a:t> segment: 1000</a:t>
            </a:r>
          </a:p>
          <a:p>
            <a:pPr marL="234950" indent="-123825">
              <a:buFont typeface="Wingdings" panose="05000000000000000000" pitchFamily="2" charset="2"/>
              <a:buChar char="l"/>
              <a:defRPr/>
            </a:pPr>
            <a:endParaRPr lang="en-US" altLang="zh-TW" dirty="0">
              <a:solidFill>
                <a:srgbClr val="0070C0"/>
              </a:solidFill>
            </a:endParaRPr>
          </a:p>
          <a:p>
            <a:pPr marL="234950" indent="-123825">
              <a:buFont typeface="Wingdings" panose="05000000000000000000" pitchFamily="2" charset="2"/>
              <a:buChar char="l"/>
              <a:defRPr/>
            </a:pPr>
            <a:endParaRPr lang="en-US" altLang="zh-TW" dirty="0"/>
          </a:p>
          <a:p>
            <a:pPr marL="512763" lvl="1" indent="-163513">
              <a:defRPr/>
            </a:pPr>
            <a:endParaRPr lang="en-US" altLang="ja-JP" sz="2000" dirty="0"/>
          </a:p>
        </p:txBody>
      </p:sp>
      <p:pic>
        <p:nvPicPr>
          <p:cNvPr id="121861" name="Picture 109">
            <a:extLst>
              <a:ext uri="{FF2B5EF4-FFF2-40B4-BE49-F238E27FC236}">
                <a16:creationId xmlns:a16="http://schemas.microsoft.com/office/drawing/2014/main" id="{FEDA6FFB-76B4-470E-B2B9-13592B1C0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75" y="3843338"/>
            <a:ext cx="7742238" cy="271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Footer Placeholder 5">
            <a:extLst>
              <a:ext uri="{FF2B5EF4-FFF2-40B4-BE49-F238E27FC236}">
                <a16:creationId xmlns:a16="http://schemas.microsoft.com/office/drawing/2014/main" id="{8D7AA9BC-D468-42CE-A2C1-19F0EADC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123907" name="Slide Number Placeholder 6">
            <a:extLst>
              <a:ext uri="{FF2B5EF4-FFF2-40B4-BE49-F238E27FC236}">
                <a16:creationId xmlns:a16="http://schemas.microsoft.com/office/drawing/2014/main" id="{D54AC9AB-808B-4887-9DBE-3CC7DE25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CA230FAE-7745-4032-A37F-05FDDA73128B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23908" name="Picture 35" descr="underline_base">
            <a:extLst>
              <a:ext uri="{FF2B5EF4-FFF2-40B4-BE49-F238E27FC236}">
                <a16:creationId xmlns:a16="http://schemas.microsoft.com/office/drawing/2014/main" id="{30D09485-B3B9-4FDB-B6B8-36C71758DEE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815975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1" name="Rectangle 4">
            <a:extLst>
              <a:ext uri="{FF2B5EF4-FFF2-40B4-BE49-F238E27FC236}">
                <a16:creationId xmlns:a16="http://schemas.microsoft.com/office/drawing/2014/main" id="{99248D9A-F873-4970-8EEF-35EC98B007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6713" y="150813"/>
            <a:ext cx="7772400" cy="885825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TCP ACKs</a:t>
            </a:r>
          </a:p>
        </p:txBody>
      </p:sp>
      <p:sp>
        <p:nvSpPr>
          <p:cNvPr id="91142" name="Rectangle 5">
            <a:extLst>
              <a:ext uri="{FF2B5EF4-FFF2-40B4-BE49-F238E27FC236}">
                <a16:creationId xmlns:a16="http://schemas.microsoft.com/office/drawing/2014/main" id="{12FEB11A-BC15-4863-8719-33065D2D51B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55600" y="1339850"/>
            <a:ext cx="8150225" cy="4648200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solidFill>
                  <a:srgbClr val="C00000"/>
                </a:solidFill>
              </a:rPr>
              <a:t>ACK number that receiver puts in its segment </a:t>
            </a:r>
          </a:p>
          <a:p>
            <a:pPr marL="0" indent="0">
              <a:buNone/>
              <a:defRPr/>
            </a:pPr>
            <a:r>
              <a:rPr lang="en-US" altLang="zh-TW" dirty="0">
                <a:solidFill>
                  <a:srgbClr val="C00000"/>
                </a:solidFill>
              </a:rPr>
              <a:t>= seq # of </a:t>
            </a:r>
            <a:r>
              <a:rPr lang="en-US" altLang="zh-TW" u="sng" dirty="0">
                <a:solidFill>
                  <a:srgbClr val="C00000"/>
                </a:solidFill>
              </a:rPr>
              <a:t>next</a:t>
            </a:r>
            <a:r>
              <a:rPr lang="en-US" altLang="zh-TW" dirty="0">
                <a:solidFill>
                  <a:srgbClr val="C00000"/>
                </a:solidFill>
              </a:rPr>
              <a:t> byte expected from other side</a:t>
            </a:r>
          </a:p>
          <a:p>
            <a:pPr lvl="1">
              <a:defRPr/>
            </a:pPr>
            <a:r>
              <a:rPr lang="en-US" altLang="zh-TW" dirty="0"/>
              <a:t>E.g., Host A has received all bytes 0 through 535 from B</a:t>
            </a:r>
          </a:p>
          <a:p>
            <a:pPr marL="457200" lvl="1" indent="0">
              <a:buNone/>
              <a:defRPr/>
            </a:pPr>
            <a:r>
              <a:rPr lang="en-US" altLang="zh-TW" dirty="0"/>
              <a:t>-&gt; ACK number = 536</a:t>
            </a:r>
          </a:p>
          <a:p>
            <a:pPr marL="512763" lvl="1" indent="-163513">
              <a:defRPr/>
            </a:pPr>
            <a:r>
              <a:rPr lang="en-US" altLang="zh-TW" dirty="0"/>
              <a:t>E.g., Host A has received one segment from Host B containing bytes 0 through 535 and another segment containing bytes 900 through 1,000</a:t>
            </a:r>
          </a:p>
          <a:p>
            <a:pPr marL="349250" lvl="1" indent="0">
              <a:buNone/>
              <a:defRPr/>
            </a:pPr>
            <a:r>
              <a:rPr lang="en-US" altLang="zh-TW" dirty="0"/>
              <a:t>-&gt; ACK number = 536 </a:t>
            </a:r>
          </a:p>
          <a:p>
            <a:pPr marL="349250" lvl="1" indent="0">
              <a:buNone/>
              <a:defRPr/>
            </a:pPr>
            <a:r>
              <a:rPr lang="en-US" altLang="zh-TW" dirty="0"/>
              <a:t>(acknowledges bytes up to the first missing byte of 536)</a:t>
            </a:r>
          </a:p>
          <a:p>
            <a:pPr>
              <a:defRPr/>
            </a:pPr>
            <a:r>
              <a:rPr lang="en-US" altLang="zh-TW" dirty="0">
                <a:solidFill>
                  <a:srgbClr val="FF0000"/>
                </a:solidFill>
              </a:rPr>
              <a:t>Cumulative ACK</a:t>
            </a:r>
            <a:r>
              <a:rPr lang="en-US" altLang="zh-TW" dirty="0"/>
              <a:t>: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HK" dirty="0"/>
              <a:t>TCP acknowledges bytes </a:t>
            </a:r>
            <a:r>
              <a:rPr lang="en-US" altLang="zh-HK" i="1" dirty="0">
                <a:solidFill>
                  <a:srgbClr val="0070C0"/>
                </a:solidFill>
              </a:rPr>
              <a:t>up to</a:t>
            </a:r>
            <a:r>
              <a:rPr lang="en-US" altLang="zh-HK" dirty="0">
                <a:solidFill>
                  <a:srgbClr val="0070C0"/>
                </a:solidFill>
              </a:rPr>
              <a:t> the first missing byte </a:t>
            </a:r>
            <a:r>
              <a:rPr lang="en-US" altLang="zh-HK" dirty="0"/>
              <a:t>in the stream</a:t>
            </a:r>
            <a:endParaRPr lang="en-US" altLang="zh-TW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altLang="zh-TW" sz="2400" dirty="0">
                <a:solidFill>
                  <a:srgbClr val="CC0000"/>
                </a:solidFill>
              </a:rPr>
              <a:t>Q:</a:t>
            </a:r>
            <a:r>
              <a:rPr lang="en-US" altLang="zh-TW" sz="2400" dirty="0"/>
              <a:t> how receiver handles </a:t>
            </a:r>
            <a:r>
              <a:rPr lang="en-US" altLang="zh-TW" sz="2400" dirty="0">
                <a:solidFill>
                  <a:srgbClr val="0070C0"/>
                </a:solidFill>
              </a:rPr>
              <a:t>out-of-order</a:t>
            </a:r>
            <a:r>
              <a:rPr lang="en-US" altLang="zh-TW" sz="2400" dirty="0"/>
              <a:t> segments</a:t>
            </a:r>
          </a:p>
          <a:p>
            <a:pPr marL="512763" lvl="1" indent="-163513">
              <a:defRPr/>
            </a:pPr>
            <a:r>
              <a:rPr lang="en-US" altLang="zh-TW" dirty="0"/>
              <a:t>A: TCP spec </a:t>
            </a:r>
            <a:r>
              <a:rPr lang="en-US" altLang="zh-TW" dirty="0" err="1"/>
              <a:t>doesn</a:t>
            </a:r>
            <a:r>
              <a:rPr lang="ja-JP" altLang="en-US" dirty="0"/>
              <a:t>’</a:t>
            </a:r>
            <a:r>
              <a:rPr lang="en-US" altLang="ja-JP" dirty="0"/>
              <a:t>t say, - up to implementor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Footer Placeholder 5">
            <a:extLst>
              <a:ext uri="{FF2B5EF4-FFF2-40B4-BE49-F238E27FC236}">
                <a16:creationId xmlns:a16="http://schemas.microsoft.com/office/drawing/2014/main" id="{B444CC7C-ACA9-4EC5-8084-2A06CC8A3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34025" y="6416675"/>
            <a:ext cx="2895600" cy="287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125955" name="Slide Number Placeholder 6">
            <a:extLst>
              <a:ext uri="{FF2B5EF4-FFF2-40B4-BE49-F238E27FC236}">
                <a16:creationId xmlns:a16="http://schemas.microsoft.com/office/drawing/2014/main" id="{2379E8CB-9F9A-4D3F-A2A5-5BDA92506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75CFC21A-A912-402C-A0BD-608F6B801E01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25956" name="Picture 35" descr="underline_base">
            <a:extLst>
              <a:ext uri="{FF2B5EF4-FFF2-40B4-BE49-F238E27FC236}">
                <a16:creationId xmlns:a16="http://schemas.microsoft.com/office/drawing/2014/main" id="{9F56913B-B8AB-486E-B11C-232C7D156AF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815975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5957" name="Rectangle 4">
            <a:extLst>
              <a:ext uri="{FF2B5EF4-FFF2-40B4-BE49-F238E27FC236}">
                <a16:creationId xmlns:a16="http://schemas.microsoft.com/office/drawing/2014/main" id="{DE6F76BD-7F1B-4FB1-9C85-C77A985C6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6713" y="150813"/>
            <a:ext cx="7772400" cy="885825"/>
          </a:xfrm>
        </p:spPr>
        <p:txBody>
          <a:bodyPr/>
          <a:lstStyle/>
          <a:p>
            <a:r>
              <a:rPr lang="en-US" altLang="zh-TW"/>
              <a:t>TCP seq. numbers</a:t>
            </a:r>
          </a:p>
        </p:txBody>
      </p:sp>
      <p:grpSp>
        <p:nvGrpSpPr>
          <p:cNvPr id="2" name="Group 192">
            <a:extLst>
              <a:ext uri="{FF2B5EF4-FFF2-40B4-BE49-F238E27FC236}">
                <a16:creationId xmlns:a16="http://schemas.microsoft.com/office/drawing/2014/main" id="{B6394859-A021-47D1-BCC7-C1083DB8945A}"/>
              </a:ext>
            </a:extLst>
          </p:cNvPr>
          <p:cNvGrpSpPr>
            <a:grpSpLocks/>
          </p:cNvGrpSpPr>
          <p:nvPr/>
        </p:nvGrpSpPr>
        <p:grpSpPr bwMode="auto">
          <a:xfrm>
            <a:off x="3594100" y="3816350"/>
            <a:ext cx="2897188" cy="2541588"/>
            <a:chOff x="3599" y="2404"/>
            <a:chExt cx="1825" cy="1601"/>
          </a:xfrm>
        </p:grpSpPr>
        <p:sp>
          <p:nvSpPr>
            <p:cNvPr id="126040" name="Rectangle 167">
              <a:extLst>
                <a:ext uri="{FF2B5EF4-FFF2-40B4-BE49-F238E27FC236}">
                  <a16:creationId xmlns:a16="http://schemas.microsoft.com/office/drawing/2014/main" id="{47628396-066D-4956-A798-DD0E7289D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3" y="3587"/>
              <a:ext cx="1202" cy="13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grpSp>
          <p:nvGrpSpPr>
            <p:cNvPr id="126041" name="Group 148">
              <a:extLst>
                <a:ext uri="{FF2B5EF4-FFF2-40B4-BE49-F238E27FC236}">
                  <a16:creationId xmlns:a16="http://schemas.microsoft.com/office/drawing/2014/main" id="{B00593EB-56D4-4327-AD6D-4492D1D40C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3" y="3291"/>
              <a:ext cx="1252" cy="714"/>
              <a:chOff x="1976" y="2984"/>
              <a:chExt cx="1252" cy="714"/>
            </a:xfrm>
          </p:grpSpPr>
          <p:sp>
            <p:nvSpPr>
              <p:cNvPr id="126044" name="Rectangle 149">
                <a:extLst>
                  <a:ext uri="{FF2B5EF4-FFF2-40B4-BE49-F238E27FC236}">
                    <a16:creationId xmlns:a16="http://schemas.microsoft.com/office/drawing/2014/main" id="{3F750B0C-312E-4151-B00C-942165F32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4" y="2995"/>
                <a:ext cx="1210" cy="70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26045" name="Text Box 150">
                <a:extLst>
                  <a:ext uri="{FF2B5EF4-FFF2-40B4-BE49-F238E27FC236}">
                    <a16:creationId xmlns:a16="http://schemas.microsoft.com/office/drawing/2014/main" id="{F89B5AC0-D07A-4C80-A63A-7A6691064D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1" y="2984"/>
                <a:ext cx="58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source port #</a:t>
                </a:r>
              </a:p>
            </p:txBody>
          </p:sp>
          <p:sp>
            <p:nvSpPr>
              <p:cNvPr id="126046" name="Text Box 151">
                <a:extLst>
                  <a:ext uri="{FF2B5EF4-FFF2-40B4-BE49-F238E27FC236}">
                    <a16:creationId xmlns:a16="http://schemas.microsoft.com/office/drawing/2014/main" id="{BE9FB579-4418-4AB8-B04D-FD07093815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8" y="2987"/>
                <a:ext cx="49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dest port #</a:t>
                </a:r>
              </a:p>
            </p:txBody>
          </p:sp>
          <p:sp>
            <p:nvSpPr>
              <p:cNvPr id="126047" name="Text Box 152">
                <a:extLst>
                  <a:ext uri="{FF2B5EF4-FFF2-40B4-BE49-F238E27FC236}">
                    <a16:creationId xmlns:a16="http://schemas.microsoft.com/office/drawing/2014/main" id="{889995DE-E305-4C56-B55D-738307A4F8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3117"/>
                <a:ext cx="91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Arial" panose="020B0604020202020204" pitchFamily="34" charset="0"/>
                  </a:rPr>
                  <a:t>sequence number</a:t>
                </a:r>
              </a:p>
            </p:txBody>
          </p:sp>
          <p:sp>
            <p:nvSpPr>
              <p:cNvPr id="126048" name="Text Box 153">
                <a:extLst>
                  <a:ext uri="{FF2B5EF4-FFF2-40B4-BE49-F238E27FC236}">
                    <a16:creationId xmlns:a16="http://schemas.microsoft.com/office/drawing/2014/main" id="{F1F2111B-3C3D-42AE-9FE8-FD12966E7B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6" y="3257"/>
                <a:ext cx="125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solidFill>
                      <a:schemeClr val="bg1"/>
                    </a:solidFill>
                    <a:latin typeface="Arial" panose="020B0604020202020204" pitchFamily="34" charset="0"/>
                  </a:rPr>
                  <a:t>acknowledgement number</a:t>
                </a:r>
              </a:p>
            </p:txBody>
          </p:sp>
          <p:sp>
            <p:nvSpPr>
              <p:cNvPr id="126049" name="Text Box 154">
                <a:extLst>
                  <a:ext uri="{FF2B5EF4-FFF2-40B4-BE49-F238E27FC236}">
                    <a16:creationId xmlns:a16="http://schemas.microsoft.com/office/drawing/2014/main" id="{A93ADA50-0292-4200-89A4-DF721A823A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3" y="3544"/>
                <a:ext cx="47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checksum</a:t>
                </a:r>
              </a:p>
            </p:txBody>
          </p:sp>
          <p:sp>
            <p:nvSpPr>
              <p:cNvPr id="126050" name="Line 155">
                <a:extLst>
                  <a:ext uri="{FF2B5EF4-FFF2-40B4-BE49-F238E27FC236}">
                    <a16:creationId xmlns:a16="http://schemas.microsoft.com/office/drawing/2014/main" id="{3B1A7DFA-81B4-49DB-8E3A-174E9B022E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138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26051" name="Line 156">
                <a:extLst>
                  <a:ext uri="{FF2B5EF4-FFF2-40B4-BE49-F238E27FC236}">
                    <a16:creationId xmlns:a16="http://schemas.microsoft.com/office/drawing/2014/main" id="{B6CDD641-5711-4C94-964F-B561A866D4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274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26052" name="Line 157">
                <a:extLst>
                  <a:ext uri="{FF2B5EF4-FFF2-40B4-BE49-F238E27FC236}">
                    <a16:creationId xmlns:a16="http://schemas.microsoft.com/office/drawing/2014/main" id="{7DD7D72E-FFA7-4C27-84A8-DDEA36C979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2" y="3414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26053" name="Line 158">
                <a:extLst>
                  <a:ext uri="{FF2B5EF4-FFF2-40B4-BE49-F238E27FC236}">
                    <a16:creationId xmlns:a16="http://schemas.microsoft.com/office/drawing/2014/main" id="{79D818F3-47A0-4739-A886-826FBD595C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8" y="2994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26054" name="Line 159">
                <a:extLst>
                  <a:ext uri="{FF2B5EF4-FFF2-40B4-BE49-F238E27FC236}">
                    <a16:creationId xmlns:a16="http://schemas.microsoft.com/office/drawing/2014/main" id="{D9EC2AE0-A3D8-4947-920A-31ED6E204F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8" y="3416"/>
                <a:ext cx="0" cy="2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26055" name="Line 160">
                <a:extLst>
                  <a:ext uri="{FF2B5EF4-FFF2-40B4-BE49-F238E27FC236}">
                    <a16:creationId xmlns:a16="http://schemas.microsoft.com/office/drawing/2014/main" id="{ED91985A-BF63-4D5D-BE77-6C7A2FBE99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548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26056" name="Text Box 161">
                <a:extLst>
                  <a:ext uri="{FF2B5EF4-FFF2-40B4-BE49-F238E27FC236}">
                    <a16:creationId xmlns:a16="http://schemas.microsoft.com/office/drawing/2014/main" id="{9D2B8909-FBD7-40CD-9523-59E14F7791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8" y="3390"/>
                <a:ext cx="32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Arial" panose="020B0604020202020204" pitchFamily="34" charset="0"/>
                  </a:rPr>
                  <a:t>rwnd</a:t>
                </a:r>
              </a:p>
            </p:txBody>
          </p:sp>
          <p:sp>
            <p:nvSpPr>
              <p:cNvPr id="126057" name="Text Box 162">
                <a:extLst>
                  <a:ext uri="{FF2B5EF4-FFF2-40B4-BE49-F238E27FC236}">
                    <a16:creationId xmlns:a16="http://schemas.microsoft.com/office/drawing/2014/main" id="{89A42FA2-8C81-4DE0-B7D3-71AC11C475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1" y="3544"/>
                <a:ext cx="49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urg pointer</a:t>
                </a:r>
              </a:p>
            </p:txBody>
          </p:sp>
          <p:sp>
            <p:nvSpPr>
              <p:cNvPr id="126058" name="Line 163">
                <a:extLst>
                  <a:ext uri="{FF2B5EF4-FFF2-40B4-BE49-F238E27FC236}">
                    <a16:creationId xmlns:a16="http://schemas.microsoft.com/office/drawing/2014/main" id="{632F7AC7-8D0E-4CD7-8C52-A6CB327E11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8" y="3413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26059" name="Line 164">
                <a:extLst>
                  <a:ext uri="{FF2B5EF4-FFF2-40B4-BE49-F238E27FC236}">
                    <a16:creationId xmlns:a16="http://schemas.microsoft.com/office/drawing/2014/main" id="{40DC3D0C-BD48-4931-BEEA-C2F1F875B8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3412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sp>
          <p:nvSpPr>
            <p:cNvPr id="126042" name="Text Box 166">
              <a:extLst>
                <a:ext uri="{FF2B5EF4-FFF2-40B4-BE49-F238E27FC236}">
                  <a16:creationId xmlns:a16="http://schemas.microsoft.com/office/drawing/2014/main" id="{5882E2BE-FD35-4E6C-8D51-34CDE8C47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4" y="3092"/>
              <a:ext cx="17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dirty="0">
                  <a:solidFill>
                    <a:srgbClr val="0070C0"/>
                  </a:solidFill>
                  <a:latin typeface="Tahoma" panose="020B0604030504040204" pitchFamily="34" charset="0"/>
                </a:rPr>
                <a:t>incoming segment to sender</a:t>
              </a:r>
            </a:p>
          </p:txBody>
        </p:sp>
        <p:sp>
          <p:nvSpPr>
            <p:cNvPr id="126043" name="Freeform 168">
              <a:extLst>
                <a:ext uri="{FF2B5EF4-FFF2-40B4-BE49-F238E27FC236}">
                  <a16:creationId xmlns:a16="http://schemas.microsoft.com/office/drawing/2014/main" id="{8C5C4CC9-7156-4445-834B-5A36CD95F8BE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599" y="2404"/>
              <a:ext cx="107" cy="1194"/>
            </a:xfrm>
            <a:custGeom>
              <a:avLst/>
              <a:gdLst>
                <a:gd name="T0" fmla="*/ 0 w 107"/>
                <a:gd name="T1" fmla="*/ 0 h 910"/>
                <a:gd name="T2" fmla="*/ 107 w 107"/>
                <a:gd name="T3" fmla="*/ 0 h 910"/>
                <a:gd name="T4" fmla="*/ 107 w 107"/>
                <a:gd name="T5" fmla="*/ 47617698 h 910"/>
                <a:gd name="T6" fmla="*/ 0 60000 65536"/>
                <a:gd name="T7" fmla="*/ 0 60000 65536"/>
                <a:gd name="T8" fmla="*/ 0 60000 65536"/>
                <a:gd name="T9" fmla="*/ 0 w 107"/>
                <a:gd name="T10" fmla="*/ 0 h 910"/>
                <a:gd name="T11" fmla="*/ 107 w 107"/>
                <a:gd name="T12" fmla="*/ 910 h 9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7" h="910">
                  <a:moveTo>
                    <a:pt x="0" y="0"/>
                  </a:moveTo>
                  <a:lnTo>
                    <a:pt x="107" y="0"/>
                  </a:lnTo>
                  <a:lnTo>
                    <a:pt x="107" y="910"/>
                  </a:lnTo>
                </a:path>
              </a:pathLst>
            </a:custGeom>
            <a:noFill/>
            <a:ln w="952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4" name="Group 195">
            <a:extLst>
              <a:ext uri="{FF2B5EF4-FFF2-40B4-BE49-F238E27FC236}">
                <a16:creationId xmlns:a16="http://schemas.microsoft.com/office/drawing/2014/main" id="{B91EE877-BC46-4960-800A-AD848A2D9ECF}"/>
              </a:ext>
            </a:extLst>
          </p:cNvPr>
          <p:cNvGrpSpPr>
            <a:grpSpLocks/>
          </p:cNvGrpSpPr>
          <p:nvPr/>
        </p:nvGrpSpPr>
        <p:grpSpPr bwMode="auto">
          <a:xfrm>
            <a:off x="4370388" y="5849938"/>
            <a:ext cx="358775" cy="304800"/>
            <a:chOff x="5144" y="3677"/>
            <a:chExt cx="226" cy="192"/>
          </a:xfrm>
        </p:grpSpPr>
        <p:sp>
          <p:nvSpPr>
            <p:cNvPr id="126038" name="Rectangle 194">
              <a:extLst>
                <a:ext uri="{FF2B5EF4-FFF2-40B4-BE49-F238E27FC236}">
                  <a16:creationId xmlns:a16="http://schemas.microsoft.com/office/drawing/2014/main" id="{A03CAA51-D2D0-4CD5-9729-84F4347D2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2" y="3716"/>
              <a:ext cx="88" cy="13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26039" name="Text Box 193">
              <a:extLst>
                <a:ext uri="{FF2B5EF4-FFF2-40B4-BE49-F238E27FC236}">
                  <a16:creationId xmlns:a16="http://schemas.microsoft.com/office/drawing/2014/main" id="{DE7BCCCA-E991-4661-8792-F436B9B357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4" y="3677"/>
              <a:ext cx="22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chemeClr val="bg1"/>
                  </a:solidFill>
                  <a:latin typeface="Arial Narrow" panose="020B0606020202030204" pitchFamily="34" charset="0"/>
                </a:rPr>
                <a:t>A</a:t>
              </a:r>
            </a:p>
          </p:txBody>
        </p:sp>
      </p:grpSp>
      <p:sp>
        <p:nvSpPr>
          <p:cNvPr id="125960" name="Rectangle 37">
            <a:extLst>
              <a:ext uri="{FF2B5EF4-FFF2-40B4-BE49-F238E27FC236}">
                <a16:creationId xmlns:a16="http://schemas.microsoft.com/office/drawing/2014/main" id="{AFCC49EB-830B-4005-9E64-FA4CF5DCE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950" y="3038475"/>
            <a:ext cx="65088" cy="6223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33CC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61" name="Rectangle 39">
            <a:extLst>
              <a:ext uri="{FF2B5EF4-FFF2-40B4-BE49-F238E27FC236}">
                <a16:creationId xmlns:a16="http://schemas.microsoft.com/office/drawing/2014/main" id="{26B4EBAA-33B0-410C-9BDC-77B88AE65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7788" y="3040063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62" name="Rectangle 40">
            <a:extLst>
              <a:ext uri="{FF2B5EF4-FFF2-40B4-BE49-F238E27FC236}">
                <a16:creationId xmlns:a16="http://schemas.microsoft.com/office/drawing/2014/main" id="{7792732E-62A6-4966-AC61-0BD4879EE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6213" y="3038475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63" name="Rectangle 41">
            <a:extLst>
              <a:ext uri="{FF2B5EF4-FFF2-40B4-BE49-F238E27FC236}">
                <a16:creationId xmlns:a16="http://schemas.microsoft.com/office/drawing/2014/main" id="{1381FB40-E7BE-44A9-93D0-C9075818A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3050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64" name="Rectangle 42">
            <a:extLst>
              <a:ext uri="{FF2B5EF4-FFF2-40B4-BE49-F238E27FC236}">
                <a16:creationId xmlns:a16="http://schemas.microsoft.com/office/drawing/2014/main" id="{9052F639-F572-4374-BA2F-90D44F1ED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8300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65" name="Rectangle 43">
            <a:extLst>
              <a:ext uri="{FF2B5EF4-FFF2-40B4-BE49-F238E27FC236}">
                <a16:creationId xmlns:a16="http://schemas.microsoft.com/office/drawing/2014/main" id="{FBBEA665-A082-46B6-9B61-1B757A976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3038475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66" name="Rectangle 45">
            <a:extLst>
              <a:ext uri="{FF2B5EF4-FFF2-40B4-BE49-F238E27FC236}">
                <a16:creationId xmlns:a16="http://schemas.microsoft.com/office/drawing/2014/main" id="{7A620DF4-96EF-4573-A381-76BD97F67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7213" y="3038475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67" name="Rectangle 46">
            <a:extLst>
              <a:ext uri="{FF2B5EF4-FFF2-40B4-BE49-F238E27FC236}">
                <a16:creationId xmlns:a16="http://schemas.microsoft.com/office/drawing/2014/main" id="{BAAA6242-181B-4740-95A1-93001B2AD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2463" y="3038475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68" name="Rectangle 47">
            <a:extLst>
              <a:ext uri="{FF2B5EF4-FFF2-40B4-BE49-F238E27FC236}">
                <a16:creationId xmlns:a16="http://schemas.microsoft.com/office/drawing/2014/main" id="{E2C5A5E6-3BDF-4CA4-AAA0-634AD6FAF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3" y="3038475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69" name="Rectangle 50">
            <a:extLst>
              <a:ext uri="{FF2B5EF4-FFF2-40B4-BE49-F238E27FC236}">
                <a16:creationId xmlns:a16="http://schemas.microsoft.com/office/drawing/2014/main" id="{312E28B9-0321-47C8-A793-AB0CA0BA7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075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70" name="Rectangle 51">
            <a:extLst>
              <a:ext uri="{FF2B5EF4-FFF2-40B4-BE49-F238E27FC236}">
                <a16:creationId xmlns:a16="http://schemas.microsoft.com/office/drawing/2014/main" id="{E1FA38BC-7B8D-4A40-B55F-BF04F1C7E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040063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71" name="Rectangle 52">
            <a:extLst>
              <a:ext uri="{FF2B5EF4-FFF2-40B4-BE49-F238E27FC236}">
                <a16:creationId xmlns:a16="http://schemas.microsoft.com/office/drawing/2014/main" id="{EB6B6BF6-BC14-4006-B72D-DDFDC02C9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9338" y="3038475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72" name="Rectangle 53">
            <a:extLst>
              <a:ext uri="{FF2B5EF4-FFF2-40B4-BE49-F238E27FC236}">
                <a16:creationId xmlns:a16="http://schemas.microsoft.com/office/drawing/2014/main" id="{3B8D442D-CBBB-47E9-A2A6-05E4D5BA6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6175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73" name="Rectangle 54">
            <a:extLst>
              <a:ext uri="{FF2B5EF4-FFF2-40B4-BE49-F238E27FC236}">
                <a16:creationId xmlns:a16="http://schemas.microsoft.com/office/drawing/2014/main" id="{F838B00D-57E3-42AC-AEA0-DB5058D9C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3013" y="3038475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74" name="Rectangle 55">
            <a:extLst>
              <a:ext uri="{FF2B5EF4-FFF2-40B4-BE49-F238E27FC236}">
                <a16:creationId xmlns:a16="http://schemas.microsoft.com/office/drawing/2014/main" id="{54306CE1-827C-4443-9E68-D3319874B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263" y="3038475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75" name="Rectangle 56">
            <a:extLst>
              <a:ext uri="{FF2B5EF4-FFF2-40B4-BE49-F238E27FC236}">
                <a16:creationId xmlns:a16="http://schemas.microsoft.com/office/drawing/2014/main" id="{E39558FC-88A5-4EAE-B0C0-51C997D29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0338" y="3038475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76" name="Rectangle 57">
            <a:extLst>
              <a:ext uri="{FF2B5EF4-FFF2-40B4-BE49-F238E27FC236}">
                <a16:creationId xmlns:a16="http://schemas.microsoft.com/office/drawing/2014/main" id="{5E4D1439-2BBE-4978-BDCA-1A41A6873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5588" y="3038475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77" name="Rectangle 58">
            <a:extLst>
              <a:ext uri="{FF2B5EF4-FFF2-40B4-BE49-F238E27FC236}">
                <a16:creationId xmlns:a16="http://schemas.microsoft.com/office/drawing/2014/main" id="{888CBCFB-78DB-425E-9C6E-1D3EFBE10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2425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78" name="Rectangle 59">
            <a:extLst>
              <a:ext uri="{FF2B5EF4-FFF2-40B4-BE49-F238E27FC236}">
                <a16:creationId xmlns:a16="http://schemas.microsoft.com/office/drawing/2014/main" id="{9C0C6EA2-78D9-46E0-AE44-26DF7FFF3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325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79" name="Rectangle 60">
            <a:extLst>
              <a:ext uri="{FF2B5EF4-FFF2-40B4-BE49-F238E27FC236}">
                <a16:creationId xmlns:a16="http://schemas.microsoft.com/office/drawing/2014/main" id="{7E223589-3432-452B-B4AB-20C05BAAD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6575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80" name="Rectangle 61">
            <a:extLst>
              <a:ext uri="{FF2B5EF4-FFF2-40B4-BE49-F238E27FC236}">
                <a16:creationId xmlns:a16="http://schemas.microsoft.com/office/drawing/2014/main" id="{A0ED7A48-4EE4-434C-A63E-E4A19DA28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238" y="3036888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81" name="Rectangle 62">
            <a:extLst>
              <a:ext uri="{FF2B5EF4-FFF2-40B4-BE49-F238E27FC236}">
                <a16:creationId xmlns:a16="http://schemas.microsoft.com/office/drawing/2014/main" id="{F348F81A-B50A-4262-B104-02E6F90AB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3036888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82" name="Rectangle 63">
            <a:extLst>
              <a:ext uri="{FF2B5EF4-FFF2-40B4-BE49-F238E27FC236}">
                <a16:creationId xmlns:a16="http://schemas.microsoft.com/office/drawing/2014/main" id="{7EE7DBCD-2DA9-4B43-B722-91E3952C9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9150" y="3036888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83" name="Rectangle 64">
            <a:extLst>
              <a:ext uri="{FF2B5EF4-FFF2-40B4-BE49-F238E27FC236}">
                <a16:creationId xmlns:a16="http://schemas.microsoft.com/office/drawing/2014/main" id="{AAD52EE0-8C0D-4A18-B3CB-3EF207FE0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036888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84" name="Rectangle 65">
            <a:extLst>
              <a:ext uri="{FF2B5EF4-FFF2-40B4-BE49-F238E27FC236}">
                <a16:creationId xmlns:a16="http://schemas.microsoft.com/office/drawing/2014/main" id="{9979E48B-341D-4AD1-BBEF-BA0BED768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3300" y="3036888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85" name="Rectangle 66">
            <a:extLst>
              <a:ext uri="{FF2B5EF4-FFF2-40B4-BE49-F238E27FC236}">
                <a16:creationId xmlns:a16="http://schemas.microsoft.com/office/drawing/2014/main" id="{4B1F0B2A-A192-47D6-A710-CD38BBE73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8550" y="3036888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86" name="Rectangle 68">
            <a:extLst>
              <a:ext uri="{FF2B5EF4-FFF2-40B4-BE49-F238E27FC236}">
                <a16:creationId xmlns:a16="http://schemas.microsoft.com/office/drawing/2014/main" id="{7F957FDE-E8A7-4B93-A66D-1CF0EF914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5388" y="3038475"/>
            <a:ext cx="65087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87" name="Rectangle 69">
            <a:extLst>
              <a:ext uri="{FF2B5EF4-FFF2-40B4-BE49-F238E27FC236}">
                <a16:creationId xmlns:a16="http://schemas.microsoft.com/office/drawing/2014/main" id="{3EAAC22F-BAEB-489D-8731-9C2A6FA2D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2225" y="3040063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88" name="Rectangle 70">
            <a:extLst>
              <a:ext uri="{FF2B5EF4-FFF2-40B4-BE49-F238E27FC236}">
                <a16:creationId xmlns:a16="http://schemas.microsoft.com/office/drawing/2014/main" id="{7D2F135E-2340-4ADD-BB9C-89A6C5887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9063" y="3038475"/>
            <a:ext cx="65087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89" name="Rectangle 71">
            <a:extLst>
              <a:ext uri="{FF2B5EF4-FFF2-40B4-BE49-F238E27FC236}">
                <a16:creationId xmlns:a16="http://schemas.microsoft.com/office/drawing/2014/main" id="{E1BD363D-223A-4ACA-9A9C-43B7C2B32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7488" y="3038475"/>
            <a:ext cx="65087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90" name="Rectangle 72">
            <a:extLst>
              <a:ext uri="{FF2B5EF4-FFF2-40B4-BE49-F238E27FC236}">
                <a16:creationId xmlns:a16="http://schemas.microsoft.com/office/drawing/2014/main" id="{FDA5486F-9737-46F8-873C-7CFF2D687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2738" y="3038475"/>
            <a:ext cx="65087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91" name="Rectangle 73">
            <a:extLst>
              <a:ext uri="{FF2B5EF4-FFF2-40B4-BE49-F238E27FC236}">
                <a16:creationId xmlns:a16="http://schemas.microsoft.com/office/drawing/2014/main" id="{CFA76DD4-4A5E-4A39-9D09-7017CE4E2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7988" y="3038475"/>
            <a:ext cx="65087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92" name="Rectangle 74">
            <a:extLst>
              <a:ext uri="{FF2B5EF4-FFF2-40B4-BE49-F238E27FC236}">
                <a16:creationId xmlns:a16="http://schemas.microsoft.com/office/drawing/2014/main" id="{FF1C02A9-9BBC-477F-AAC9-8FD6C8AA9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3038475"/>
            <a:ext cx="65087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93" name="Rectangle 75">
            <a:extLst>
              <a:ext uri="{FF2B5EF4-FFF2-40B4-BE49-F238E27FC236}">
                <a16:creationId xmlns:a16="http://schemas.microsoft.com/office/drawing/2014/main" id="{0D6DC2FD-60E4-4B36-B397-75314B628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94" name="Rectangle 76">
            <a:extLst>
              <a:ext uri="{FF2B5EF4-FFF2-40B4-BE49-F238E27FC236}">
                <a16:creationId xmlns:a16="http://schemas.microsoft.com/office/drawing/2014/main" id="{AAD0F5D9-505D-4A27-AB41-A64999FCC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2150" y="3038475"/>
            <a:ext cx="65088" cy="622300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95" name="Rectangle 78">
            <a:extLst>
              <a:ext uri="{FF2B5EF4-FFF2-40B4-BE49-F238E27FC236}">
                <a16:creationId xmlns:a16="http://schemas.microsoft.com/office/drawing/2014/main" id="{455BC90D-2B99-454C-9807-40BACE906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8088" y="3776663"/>
            <a:ext cx="3408362" cy="88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96" name="Rectangle 79">
            <a:extLst>
              <a:ext uri="{FF2B5EF4-FFF2-40B4-BE49-F238E27FC236}">
                <a16:creationId xmlns:a16="http://schemas.microsoft.com/office/drawing/2014/main" id="{E12E7920-DABA-41AA-A862-A11C729A8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813" y="2928938"/>
            <a:ext cx="3408362" cy="88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25997" name="Line 80">
            <a:extLst>
              <a:ext uri="{FF2B5EF4-FFF2-40B4-BE49-F238E27FC236}">
                <a16:creationId xmlns:a16="http://schemas.microsoft.com/office/drawing/2014/main" id="{51DE8EF2-0D43-4E3F-B186-3D33F15CC3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6038" y="3890963"/>
            <a:ext cx="86836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25998" name="Line 82">
            <a:extLst>
              <a:ext uri="{FF2B5EF4-FFF2-40B4-BE49-F238E27FC236}">
                <a16:creationId xmlns:a16="http://schemas.microsoft.com/office/drawing/2014/main" id="{D47A7EA8-3797-4AF4-B134-640671CF7B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1075" y="3892550"/>
            <a:ext cx="868363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25999" name="Line 83">
            <a:extLst>
              <a:ext uri="{FF2B5EF4-FFF2-40B4-BE49-F238E27FC236}">
                <a16:creationId xmlns:a16="http://schemas.microsoft.com/office/drawing/2014/main" id="{48233896-9A4C-4B3D-AE40-D2171FA7F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4913" y="3890963"/>
            <a:ext cx="80168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26000" name="Line 84">
            <a:extLst>
              <a:ext uri="{FF2B5EF4-FFF2-40B4-BE49-F238E27FC236}">
                <a16:creationId xmlns:a16="http://schemas.microsoft.com/office/drawing/2014/main" id="{03B906FA-9748-41B4-8541-E71B77A380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5000" y="3892550"/>
            <a:ext cx="52863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26001" name="Line 87">
            <a:extLst>
              <a:ext uri="{FF2B5EF4-FFF2-40B4-BE49-F238E27FC236}">
                <a16:creationId xmlns:a16="http://schemas.microsoft.com/office/drawing/2014/main" id="{BDC1B1E2-2968-4AE1-A37E-A3F934B904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8113" y="3914775"/>
            <a:ext cx="0" cy="23336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26002" name="Line 88">
            <a:extLst>
              <a:ext uri="{FF2B5EF4-FFF2-40B4-BE49-F238E27FC236}">
                <a16:creationId xmlns:a16="http://schemas.microsoft.com/office/drawing/2014/main" id="{7D832420-203B-40EE-B50F-479F6CAB92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6838" y="3910013"/>
            <a:ext cx="0" cy="2333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26003" name="Line 89">
            <a:extLst>
              <a:ext uri="{FF2B5EF4-FFF2-40B4-BE49-F238E27FC236}">
                <a16:creationId xmlns:a16="http://schemas.microsoft.com/office/drawing/2014/main" id="{141DBB9D-0AF0-4969-AFEF-12A03FB17A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5988" y="3910013"/>
            <a:ext cx="0" cy="2333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26004" name="Line 90">
            <a:extLst>
              <a:ext uri="{FF2B5EF4-FFF2-40B4-BE49-F238E27FC236}">
                <a16:creationId xmlns:a16="http://schemas.microsoft.com/office/drawing/2014/main" id="{0CD960D4-7409-48E1-AFC9-947ADF062F0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3213" y="3910013"/>
            <a:ext cx="0" cy="2333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26005" name="Text Box 91">
            <a:extLst>
              <a:ext uri="{FF2B5EF4-FFF2-40B4-BE49-F238E27FC236}">
                <a16:creationId xmlns:a16="http://schemas.microsoft.com/office/drawing/2014/main" id="{00960DDF-5C74-43DE-9916-EBFFAD56C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4288" y="4138613"/>
            <a:ext cx="69373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sent 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ACKed</a:t>
            </a:r>
          </a:p>
        </p:txBody>
      </p:sp>
      <p:sp>
        <p:nvSpPr>
          <p:cNvPr id="126006" name="Text Box 92">
            <a:extLst>
              <a:ext uri="{FF2B5EF4-FFF2-40B4-BE49-F238E27FC236}">
                <a16:creationId xmlns:a16="http://schemas.microsoft.com/office/drawing/2014/main" id="{EFA2FABD-E025-4755-A92E-2EDECD2F8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5363" y="4144963"/>
            <a:ext cx="1066800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sent, not-yet ACKed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(</a:t>
            </a:r>
            <a:r>
              <a:rPr lang="ja-JP" altLang="en-US" sz="1400">
                <a:latin typeface="Tahoma" panose="020B0604030504040204" pitchFamily="34" charset="0"/>
              </a:rPr>
              <a:t>“</a:t>
            </a:r>
            <a:r>
              <a:rPr lang="en-US" altLang="ja-JP" sz="1400">
                <a:latin typeface="Tahoma" panose="020B0604030504040204" pitchFamily="34" charset="0"/>
              </a:rPr>
              <a:t>in-flight</a:t>
            </a:r>
            <a:r>
              <a:rPr lang="ja-JP" altLang="en-US" sz="1400">
                <a:latin typeface="Tahoma" panose="020B0604030504040204" pitchFamily="34" charset="0"/>
              </a:rPr>
              <a:t>”</a:t>
            </a:r>
            <a:r>
              <a:rPr lang="en-US" altLang="ja-JP" sz="1400">
                <a:latin typeface="Tahoma" panose="020B0604030504040204" pitchFamily="34" charset="0"/>
              </a:rPr>
              <a:t>)</a:t>
            </a:r>
            <a:endParaRPr lang="en-US" altLang="zh-TW" sz="1400">
              <a:latin typeface="Tahoma" panose="020B0604030504040204" pitchFamily="34" charset="0"/>
            </a:endParaRPr>
          </a:p>
        </p:txBody>
      </p:sp>
      <p:sp>
        <p:nvSpPr>
          <p:cNvPr id="126007" name="Text Box 93">
            <a:extLst>
              <a:ext uri="{FF2B5EF4-FFF2-40B4-BE49-F238E27FC236}">
                <a16:creationId xmlns:a16="http://schemas.microsoft.com/office/drawing/2014/main" id="{16395029-52A3-4B3B-80FA-5A1990B4B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4850" y="4140200"/>
            <a:ext cx="106680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usable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but not 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yet sent</a:t>
            </a:r>
          </a:p>
        </p:txBody>
      </p:sp>
      <p:sp>
        <p:nvSpPr>
          <p:cNvPr id="126008" name="Text Box 94">
            <a:extLst>
              <a:ext uri="{FF2B5EF4-FFF2-40B4-BE49-F238E27FC236}">
                <a16:creationId xmlns:a16="http://schemas.microsoft.com/office/drawing/2014/main" id="{AC28A3D7-72B9-42F1-8830-C5BABAF49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4144963"/>
            <a:ext cx="8191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not 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usable</a:t>
            </a:r>
          </a:p>
        </p:txBody>
      </p:sp>
      <p:sp>
        <p:nvSpPr>
          <p:cNvPr id="126009" name="Text Box 96">
            <a:extLst>
              <a:ext uri="{FF2B5EF4-FFF2-40B4-BE49-F238E27FC236}">
                <a16:creationId xmlns:a16="http://schemas.microsoft.com/office/drawing/2014/main" id="{B5FFCF26-4FC7-40E0-B562-64253091D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4738" y="2573338"/>
            <a:ext cx="11318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window size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i="1">
                <a:latin typeface="Tahoma" panose="020B0604030504040204" pitchFamily="34" charset="0"/>
              </a:rPr>
              <a:t> N</a:t>
            </a:r>
          </a:p>
        </p:txBody>
      </p:sp>
      <p:grpSp>
        <p:nvGrpSpPr>
          <p:cNvPr id="126010" name="Group 99">
            <a:extLst>
              <a:ext uri="{FF2B5EF4-FFF2-40B4-BE49-F238E27FC236}">
                <a16:creationId xmlns:a16="http://schemas.microsoft.com/office/drawing/2014/main" id="{6F99BC07-51DF-4AB2-8663-D84015CF7661}"/>
              </a:ext>
            </a:extLst>
          </p:cNvPr>
          <p:cNvGrpSpPr>
            <a:grpSpLocks/>
          </p:cNvGrpSpPr>
          <p:nvPr/>
        </p:nvGrpSpPr>
        <p:grpSpPr bwMode="auto">
          <a:xfrm>
            <a:off x="4381500" y="2797175"/>
            <a:ext cx="593725" cy="136525"/>
            <a:chOff x="4250" y="1692"/>
            <a:chExt cx="374" cy="86"/>
          </a:xfrm>
        </p:grpSpPr>
        <p:sp>
          <p:nvSpPr>
            <p:cNvPr id="126036" name="Line 97">
              <a:extLst>
                <a:ext uri="{FF2B5EF4-FFF2-40B4-BE49-F238E27FC236}">
                  <a16:creationId xmlns:a16="http://schemas.microsoft.com/office/drawing/2014/main" id="{8E62CA3F-8032-4D8C-A1B3-AC329B75DB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0" y="1738"/>
              <a:ext cx="37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126037" name="Line 98">
              <a:extLst>
                <a:ext uri="{FF2B5EF4-FFF2-40B4-BE49-F238E27FC236}">
                  <a16:creationId xmlns:a16="http://schemas.microsoft.com/office/drawing/2014/main" id="{EBAD1378-A2C7-4B5C-9FE7-2C354144F8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1692"/>
              <a:ext cx="0" cy="8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26011" name="Group 100">
            <a:extLst>
              <a:ext uri="{FF2B5EF4-FFF2-40B4-BE49-F238E27FC236}">
                <a16:creationId xmlns:a16="http://schemas.microsoft.com/office/drawing/2014/main" id="{ADA5D23A-DC17-411B-AE75-5F3250654F21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3489325" y="2822575"/>
            <a:ext cx="593725" cy="136525"/>
            <a:chOff x="4250" y="1692"/>
            <a:chExt cx="374" cy="86"/>
          </a:xfrm>
        </p:grpSpPr>
        <p:sp>
          <p:nvSpPr>
            <p:cNvPr id="126034" name="Line 101">
              <a:extLst>
                <a:ext uri="{FF2B5EF4-FFF2-40B4-BE49-F238E27FC236}">
                  <a16:creationId xmlns:a16="http://schemas.microsoft.com/office/drawing/2014/main" id="{99D87858-17BC-4804-AFA3-050D2D35AA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3" y="1741"/>
              <a:ext cx="37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126035" name="Line 102">
              <a:extLst>
                <a:ext uri="{FF2B5EF4-FFF2-40B4-BE49-F238E27FC236}">
                  <a16:creationId xmlns:a16="http://schemas.microsoft.com/office/drawing/2014/main" id="{B903298D-E6FD-49EA-B9AA-384986E51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5" y="1695"/>
              <a:ext cx="0" cy="8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126012" name="Text Box 196">
            <a:extLst>
              <a:ext uri="{FF2B5EF4-FFF2-40B4-BE49-F238E27FC236}">
                <a16:creationId xmlns:a16="http://schemas.microsoft.com/office/drawing/2014/main" id="{FBA7A900-3205-494E-BFD9-EB72744CA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0188" y="3592513"/>
            <a:ext cx="31781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TW" sz="1400" i="1">
                <a:latin typeface="Tahoma" panose="020B0604030504040204" pitchFamily="34" charset="0"/>
              </a:rPr>
              <a:t>sender sequence number space </a:t>
            </a:r>
          </a:p>
        </p:txBody>
      </p:sp>
      <p:grpSp>
        <p:nvGrpSpPr>
          <p:cNvPr id="7" name="Group 199">
            <a:extLst>
              <a:ext uri="{FF2B5EF4-FFF2-40B4-BE49-F238E27FC236}">
                <a16:creationId xmlns:a16="http://schemas.microsoft.com/office/drawing/2014/main" id="{92AB38B1-3B9B-40A0-9F52-964D101EF2A0}"/>
              </a:ext>
            </a:extLst>
          </p:cNvPr>
          <p:cNvGrpSpPr>
            <a:grpSpLocks/>
          </p:cNvGrpSpPr>
          <p:nvPr/>
        </p:nvGrpSpPr>
        <p:grpSpPr bwMode="auto">
          <a:xfrm>
            <a:off x="2273300" y="1068388"/>
            <a:ext cx="2952750" cy="1954212"/>
            <a:chOff x="2768" y="673"/>
            <a:chExt cx="1860" cy="1231"/>
          </a:xfrm>
        </p:grpSpPr>
        <p:sp>
          <p:nvSpPr>
            <p:cNvPr id="126014" name="Rectangle 171">
              <a:extLst>
                <a:ext uri="{FF2B5EF4-FFF2-40B4-BE49-F238E27FC236}">
                  <a16:creationId xmlns:a16="http://schemas.microsoft.com/office/drawing/2014/main" id="{AD5B6579-4162-41C7-95E9-8942ADF582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0" y="1028"/>
              <a:ext cx="1202" cy="13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grpSp>
          <p:nvGrpSpPr>
            <p:cNvPr id="126015" name="Group 172">
              <a:extLst>
                <a:ext uri="{FF2B5EF4-FFF2-40B4-BE49-F238E27FC236}">
                  <a16:creationId xmlns:a16="http://schemas.microsoft.com/office/drawing/2014/main" id="{A81F2581-EE07-4742-B2DE-7CDAC5802A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0" y="872"/>
              <a:ext cx="1252" cy="714"/>
              <a:chOff x="1976" y="2984"/>
              <a:chExt cx="1252" cy="714"/>
            </a:xfrm>
          </p:grpSpPr>
          <p:sp>
            <p:nvSpPr>
              <p:cNvPr id="126018" name="Rectangle 173">
                <a:extLst>
                  <a:ext uri="{FF2B5EF4-FFF2-40B4-BE49-F238E27FC236}">
                    <a16:creationId xmlns:a16="http://schemas.microsoft.com/office/drawing/2014/main" id="{95BFE542-EFFD-4A18-8171-FF9F0DFD8B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4" y="2995"/>
                <a:ext cx="1210" cy="70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26019" name="Text Box 174">
                <a:extLst>
                  <a:ext uri="{FF2B5EF4-FFF2-40B4-BE49-F238E27FC236}">
                    <a16:creationId xmlns:a16="http://schemas.microsoft.com/office/drawing/2014/main" id="{3BA6E8B4-EF97-443B-84AC-18146F346A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1" y="2984"/>
                <a:ext cx="58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source port #</a:t>
                </a:r>
              </a:p>
            </p:txBody>
          </p:sp>
          <p:sp>
            <p:nvSpPr>
              <p:cNvPr id="126020" name="Text Box 175">
                <a:extLst>
                  <a:ext uri="{FF2B5EF4-FFF2-40B4-BE49-F238E27FC236}">
                    <a16:creationId xmlns:a16="http://schemas.microsoft.com/office/drawing/2014/main" id="{7C026AB3-615E-4F31-8098-FFF7750F50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8" y="2987"/>
                <a:ext cx="49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dest port #</a:t>
                </a:r>
              </a:p>
            </p:txBody>
          </p:sp>
          <p:sp>
            <p:nvSpPr>
              <p:cNvPr id="126021" name="Text Box 176">
                <a:extLst>
                  <a:ext uri="{FF2B5EF4-FFF2-40B4-BE49-F238E27FC236}">
                    <a16:creationId xmlns:a16="http://schemas.microsoft.com/office/drawing/2014/main" id="{9ACC8AAC-FE6E-487B-8158-E9729F40AA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3117"/>
                <a:ext cx="91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solidFill>
                      <a:schemeClr val="bg1"/>
                    </a:solidFill>
                    <a:latin typeface="Arial" panose="020B0604020202020204" pitchFamily="34" charset="0"/>
                  </a:rPr>
                  <a:t>sequence number</a:t>
                </a:r>
              </a:p>
            </p:txBody>
          </p:sp>
          <p:sp>
            <p:nvSpPr>
              <p:cNvPr id="126022" name="Text Box 177">
                <a:extLst>
                  <a:ext uri="{FF2B5EF4-FFF2-40B4-BE49-F238E27FC236}">
                    <a16:creationId xmlns:a16="http://schemas.microsoft.com/office/drawing/2014/main" id="{D43CF39B-0C8F-4446-A636-7F3E90215E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6" y="3257"/>
                <a:ext cx="125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Arial" panose="020B0604020202020204" pitchFamily="34" charset="0"/>
                  </a:rPr>
                  <a:t>acknowledgement number</a:t>
                </a:r>
              </a:p>
            </p:txBody>
          </p:sp>
          <p:sp>
            <p:nvSpPr>
              <p:cNvPr id="126023" name="Text Box 178">
                <a:extLst>
                  <a:ext uri="{FF2B5EF4-FFF2-40B4-BE49-F238E27FC236}">
                    <a16:creationId xmlns:a16="http://schemas.microsoft.com/office/drawing/2014/main" id="{CA53BB29-4D48-4782-ADBC-427674C9EB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3" y="3544"/>
                <a:ext cx="47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checksum</a:t>
                </a:r>
              </a:p>
            </p:txBody>
          </p:sp>
          <p:sp>
            <p:nvSpPr>
              <p:cNvPr id="126024" name="Line 179">
                <a:extLst>
                  <a:ext uri="{FF2B5EF4-FFF2-40B4-BE49-F238E27FC236}">
                    <a16:creationId xmlns:a16="http://schemas.microsoft.com/office/drawing/2014/main" id="{8EF31A63-2FDD-4967-BC7D-8B11FF75F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138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26025" name="Line 180">
                <a:extLst>
                  <a:ext uri="{FF2B5EF4-FFF2-40B4-BE49-F238E27FC236}">
                    <a16:creationId xmlns:a16="http://schemas.microsoft.com/office/drawing/2014/main" id="{E897E0F4-0169-4B96-9AC0-708E97D45B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274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26026" name="Line 181">
                <a:extLst>
                  <a:ext uri="{FF2B5EF4-FFF2-40B4-BE49-F238E27FC236}">
                    <a16:creationId xmlns:a16="http://schemas.microsoft.com/office/drawing/2014/main" id="{F46E24D3-3D5C-4097-9BAB-D4418A67D5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2" y="3414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26027" name="Line 182">
                <a:extLst>
                  <a:ext uri="{FF2B5EF4-FFF2-40B4-BE49-F238E27FC236}">
                    <a16:creationId xmlns:a16="http://schemas.microsoft.com/office/drawing/2014/main" id="{153A514B-951D-4A21-B53F-B58532E2F5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8" y="2994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26028" name="Line 183">
                <a:extLst>
                  <a:ext uri="{FF2B5EF4-FFF2-40B4-BE49-F238E27FC236}">
                    <a16:creationId xmlns:a16="http://schemas.microsoft.com/office/drawing/2014/main" id="{680FE218-D140-4D90-938B-EB2631A457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8" y="3416"/>
                <a:ext cx="0" cy="2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26029" name="Line 184">
                <a:extLst>
                  <a:ext uri="{FF2B5EF4-FFF2-40B4-BE49-F238E27FC236}">
                    <a16:creationId xmlns:a16="http://schemas.microsoft.com/office/drawing/2014/main" id="{282072DA-9B6A-431D-A8CA-0796B366FF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548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26030" name="Text Box 185">
                <a:extLst>
                  <a:ext uri="{FF2B5EF4-FFF2-40B4-BE49-F238E27FC236}">
                    <a16:creationId xmlns:a16="http://schemas.microsoft.com/office/drawing/2014/main" id="{D87786E8-2BCB-4384-8FE6-2F73E5C2D8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8" y="3390"/>
                <a:ext cx="32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200">
                    <a:latin typeface="Arial" panose="020B0604020202020204" pitchFamily="34" charset="0"/>
                  </a:rPr>
                  <a:t>rwnd</a:t>
                </a:r>
              </a:p>
            </p:txBody>
          </p:sp>
          <p:sp>
            <p:nvSpPr>
              <p:cNvPr id="126031" name="Text Box 186">
                <a:extLst>
                  <a:ext uri="{FF2B5EF4-FFF2-40B4-BE49-F238E27FC236}">
                    <a16:creationId xmlns:a16="http://schemas.microsoft.com/office/drawing/2014/main" id="{53DD84F5-0C28-4E42-BE9C-C153FF652E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1" y="3544"/>
                <a:ext cx="49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urg pointer</a:t>
                </a:r>
              </a:p>
            </p:txBody>
          </p:sp>
          <p:sp>
            <p:nvSpPr>
              <p:cNvPr id="126032" name="Line 187">
                <a:extLst>
                  <a:ext uri="{FF2B5EF4-FFF2-40B4-BE49-F238E27FC236}">
                    <a16:creationId xmlns:a16="http://schemas.microsoft.com/office/drawing/2014/main" id="{A5EB2C4F-E53E-4A2A-A63A-A26D150C88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8" y="3413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26033" name="Line 188">
                <a:extLst>
                  <a:ext uri="{FF2B5EF4-FFF2-40B4-BE49-F238E27FC236}">
                    <a16:creationId xmlns:a16="http://schemas.microsoft.com/office/drawing/2014/main" id="{2440D8BD-D21E-42B7-8A47-FFCA0F35F8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3412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sp>
          <p:nvSpPr>
            <p:cNvPr id="126016" name="Text Box 189">
              <a:extLst>
                <a:ext uri="{FF2B5EF4-FFF2-40B4-BE49-F238E27FC236}">
                  <a16:creationId xmlns:a16="http://schemas.microsoft.com/office/drawing/2014/main" id="{0A0C7B5C-4571-4C1F-ADA6-8C0708A1CE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8" y="673"/>
              <a:ext cx="186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dirty="0">
                  <a:solidFill>
                    <a:srgbClr val="0070C0"/>
                  </a:solidFill>
                  <a:latin typeface="Tahoma" panose="020B0604030504040204" pitchFamily="34" charset="0"/>
                </a:rPr>
                <a:t>outgoing segment from sender</a:t>
              </a:r>
            </a:p>
          </p:txBody>
        </p:sp>
        <p:sp>
          <p:nvSpPr>
            <p:cNvPr id="126017" name="Freeform 190">
              <a:extLst>
                <a:ext uri="{FF2B5EF4-FFF2-40B4-BE49-F238E27FC236}">
                  <a16:creationId xmlns:a16="http://schemas.microsoft.com/office/drawing/2014/main" id="{AA77DDF5-336D-4582-A38B-F21BB143B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1080"/>
              <a:ext cx="107" cy="824"/>
            </a:xfrm>
            <a:custGeom>
              <a:avLst/>
              <a:gdLst>
                <a:gd name="T0" fmla="*/ 0 w 107"/>
                <a:gd name="T1" fmla="*/ 0 h 910"/>
                <a:gd name="T2" fmla="*/ 107 w 107"/>
                <a:gd name="T3" fmla="*/ 0 h 910"/>
                <a:gd name="T4" fmla="*/ 107 w 107"/>
                <a:gd name="T5" fmla="*/ 17 h 910"/>
                <a:gd name="T6" fmla="*/ 0 60000 65536"/>
                <a:gd name="T7" fmla="*/ 0 60000 65536"/>
                <a:gd name="T8" fmla="*/ 0 60000 65536"/>
                <a:gd name="T9" fmla="*/ 0 w 107"/>
                <a:gd name="T10" fmla="*/ 0 h 910"/>
                <a:gd name="T11" fmla="*/ 107 w 107"/>
                <a:gd name="T12" fmla="*/ 910 h 9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7" h="910">
                  <a:moveTo>
                    <a:pt x="0" y="0"/>
                  </a:moveTo>
                  <a:lnTo>
                    <a:pt x="107" y="0"/>
                  </a:lnTo>
                  <a:lnTo>
                    <a:pt x="107" y="910"/>
                  </a:lnTo>
                </a:path>
              </a:pathLst>
            </a:custGeom>
            <a:noFill/>
            <a:ln w="952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Footer Placeholder 5">
            <a:extLst>
              <a:ext uri="{FF2B5EF4-FFF2-40B4-BE49-F238E27FC236}">
                <a16:creationId xmlns:a16="http://schemas.microsoft.com/office/drawing/2014/main" id="{890E5570-2668-41CC-920E-901F0608F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126979" name="Slide Number Placeholder 6">
            <a:extLst>
              <a:ext uri="{FF2B5EF4-FFF2-40B4-BE49-F238E27FC236}">
                <a16:creationId xmlns:a16="http://schemas.microsoft.com/office/drawing/2014/main" id="{6DF23025-1C2F-42C6-A24E-C761821E6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973C8B88-EE6C-472B-9D80-AF0365098363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26980" name="Picture 2" descr="underline_base">
            <a:extLst>
              <a:ext uri="{FF2B5EF4-FFF2-40B4-BE49-F238E27FC236}">
                <a16:creationId xmlns:a16="http://schemas.microsoft.com/office/drawing/2014/main" id="{EFC9B131-AC64-473A-9372-B01617D822A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815975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7" name="Rectangle 5">
            <a:extLst>
              <a:ext uri="{FF2B5EF4-FFF2-40B4-BE49-F238E27FC236}">
                <a16:creationId xmlns:a16="http://schemas.microsoft.com/office/drawing/2014/main" id="{86930D0B-22D7-4ABE-84F8-E60D17AF6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6713" y="150813"/>
            <a:ext cx="7772400" cy="885825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TCP seq. numbers, </a:t>
            </a:r>
            <a:r>
              <a:rPr lang="en-US" sz="4000" dirty="0">
                <a:ea typeface="ＭＳ Ｐゴシック" charset="0"/>
                <a:cs typeface="+mj-cs"/>
              </a:rPr>
              <a:t>ACK</a:t>
            </a:r>
            <a:r>
              <a:rPr lang="en-US" dirty="0">
                <a:ea typeface="ＭＳ Ｐゴシック" charset="0"/>
                <a:cs typeface="+mj-cs"/>
              </a:rPr>
              <a:t>s</a:t>
            </a:r>
          </a:p>
        </p:txBody>
      </p:sp>
      <p:grpSp>
        <p:nvGrpSpPr>
          <p:cNvPr id="126982" name="群組 28">
            <a:extLst>
              <a:ext uri="{FF2B5EF4-FFF2-40B4-BE49-F238E27FC236}">
                <a16:creationId xmlns:a16="http://schemas.microsoft.com/office/drawing/2014/main" id="{2F558D81-3B65-4581-AE8A-66F72632F63D}"/>
              </a:ext>
            </a:extLst>
          </p:cNvPr>
          <p:cNvGrpSpPr>
            <a:grpSpLocks/>
          </p:cNvGrpSpPr>
          <p:nvPr/>
        </p:nvGrpSpPr>
        <p:grpSpPr bwMode="auto">
          <a:xfrm>
            <a:off x="4748213" y="1430338"/>
            <a:ext cx="4098925" cy="4262437"/>
            <a:chOff x="2233613" y="1430338"/>
            <a:chExt cx="4799012" cy="4227512"/>
          </a:xfrm>
        </p:grpSpPr>
        <p:sp>
          <p:nvSpPr>
            <p:cNvPr id="126984" name="Line 3">
              <a:extLst>
                <a:ext uri="{FF2B5EF4-FFF2-40B4-BE49-F238E27FC236}">
                  <a16:creationId xmlns:a16="http://schemas.microsoft.com/office/drawing/2014/main" id="{286D98AD-E2C6-4C8F-9A0E-61F654CF98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9775" y="4483100"/>
              <a:ext cx="2590800" cy="50641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26985" name="Line 4">
              <a:extLst>
                <a:ext uri="{FF2B5EF4-FFF2-40B4-BE49-F238E27FC236}">
                  <a16:creationId xmlns:a16="http://schemas.microsoft.com/office/drawing/2014/main" id="{143E8E0C-B03A-4338-ABD6-A1BA7F60D9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063" y="2714625"/>
              <a:ext cx="2586037" cy="5715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26986" name="Text Box 7">
              <a:extLst>
                <a:ext uri="{FF2B5EF4-FFF2-40B4-BE49-F238E27FC236}">
                  <a16:creationId xmlns:a16="http://schemas.microsoft.com/office/drawing/2014/main" id="{860E4254-DFCC-4536-834B-85E20213AC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4438" y="2320925"/>
              <a:ext cx="809625" cy="754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User</a:t>
              </a:r>
            </a:p>
            <a:p>
              <a:pPr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types</a:t>
              </a:r>
            </a:p>
            <a:p>
              <a:pPr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ja-JP" altLang="en-US" sz="1600">
                  <a:latin typeface="Tahoma" panose="020B0604030504040204" pitchFamily="34" charset="0"/>
                </a:rPr>
                <a:t>‘</a:t>
              </a:r>
              <a:r>
                <a:rPr lang="en-US" altLang="ja-JP" sz="1600">
                  <a:latin typeface="Tahoma" panose="020B0604030504040204" pitchFamily="34" charset="0"/>
                </a:rPr>
                <a:t>C</a:t>
              </a:r>
              <a:r>
                <a:rPr lang="ja-JP" altLang="en-US" sz="1600">
                  <a:latin typeface="Tahoma" panose="020B0604030504040204" pitchFamily="34" charset="0"/>
                </a:rPr>
                <a:t>’</a:t>
              </a:r>
              <a:endParaRPr lang="en-US" altLang="zh-TW" sz="1000">
                <a:latin typeface="Tahoma" panose="020B0604030504040204" pitchFamily="34" charset="0"/>
              </a:endParaRPr>
            </a:p>
          </p:txBody>
        </p:sp>
        <p:sp>
          <p:nvSpPr>
            <p:cNvPr id="126987" name="Text Box 8">
              <a:extLst>
                <a:ext uri="{FF2B5EF4-FFF2-40B4-BE49-F238E27FC236}">
                  <a16:creationId xmlns:a16="http://schemas.microsoft.com/office/drawing/2014/main" id="{000EC27D-A25A-4991-912E-76FF4C33E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3613" y="3933825"/>
              <a:ext cx="1084262" cy="974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host ACKs</a:t>
              </a:r>
            </a:p>
            <a:p>
              <a:pPr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receipt </a:t>
              </a:r>
            </a:p>
            <a:p>
              <a:pPr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of echoed</a:t>
              </a:r>
            </a:p>
            <a:p>
              <a:pPr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ja-JP" altLang="en-US" sz="1600">
                  <a:latin typeface="Tahoma" panose="020B0604030504040204" pitchFamily="34" charset="0"/>
                </a:rPr>
                <a:t>‘</a:t>
              </a:r>
              <a:r>
                <a:rPr lang="en-US" altLang="ja-JP" sz="1600">
                  <a:latin typeface="Tahoma" panose="020B0604030504040204" pitchFamily="34" charset="0"/>
                </a:rPr>
                <a:t>C</a:t>
              </a:r>
              <a:r>
                <a:rPr lang="ja-JP" altLang="en-US" sz="1600">
                  <a:latin typeface="Tahoma" panose="020B0604030504040204" pitchFamily="34" charset="0"/>
                </a:rPr>
                <a:t>’</a:t>
              </a:r>
              <a:endParaRPr lang="en-US" altLang="zh-TW" sz="1000">
                <a:latin typeface="Tahoma" panose="020B0604030504040204" pitchFamily="34" charset="0"/>
              </a:endParaRPr>
            </a:p>
          </p:txBody>
        </p:sp>
        <p:sp>
          <p:nvSpPr>
            <p:cNvPr id="126988" name="Text Box 9">
              <a:extLst>
                <a:ext uri="{FF2B5EF4-FFF2-40B4-BE49-F238E27FC236}">
                  <a16:creationId xmlns:a16="http://schemas.microsoft.com/office/drawing/2014/main" id="{31F0187F-4B27-400F-8522-4E15AC38B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4388" y="3055938"/>
              <a:ext cx="1138237" cy="1069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host ACKs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receipt of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ja-JP" altLang="en-US" sz="1600">
                  <a:latin typeface="Tahoma" panose="020B0604030504040204" pitchFamily="34" charset="0"/>
                </a:rPr>
                <a:t>‘</a:t>
              </a:r>
              <a:r>
                <a:rPr lang="en-US" altLang="ja-JP" sz="1600">
                  <a:latin typeface="Tahoma" panose="020B0604030504040204" pitchFamily="34" charset="0"/>
                </a:rPr>
                <a:t>C</a:t>
              </a:r>
              <a:r>
                <a:rPr lang="ja-JP" altLang="en-US" sz="1600">
                  <a:latin typeface="Tahoma" panose="020B0604030504040204" pitchFamily="34" charset="0"/>
                </a:rPr>
                <a:t>’</a:t>
              </a:r>
              <a:r>
                <a:rPr lang="en-US" altLang="ja-JP" sz="1600">
                  <a:latin typeface="Tahoma" panose="020B0604030504040204" pitchFamily="34" charset="0"/>
                </a:rPr>
                <a:t>, echoes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back </a:t>
              </a:r>
              <a:r>
                <a:rPr lang="ja-JP" altLang="en-US" sz="1600">
                  <a:latin typeface="Tahoma" panose="020B0604030504040204" pitchFamily="34" charset="0"/>
                </a:rPr>
                <a:t>‘</a:t>
              </a:r>
              <a:r>
                <a:rPr lang="en-US" altLang="ja-JP" sz="1600">
                  <a:latin typeface="Tahoma" panose="020B0604030504040204" pitchFamily="34" charset="0"/>
                </a:rPr>
                <a:t>C</a:t>
              </a:r>
              <a:r>
                <a:rPr lang="ja-JP" altLang="en-US" sz="1600">
                  <a:latin typeface="Tahoma" panose="020B0604030504040204" pitchFamily="34" charset="0"/>
                </a:rPr>
                <a:t>’</a:t>
              </a:r>
              <a:endParaRPr lang="en-US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26989" name="Line 10">
              <a:extLst>
                <a:ext uri="{FF2B5EF4-FFF2-40B4-BE49-F238E27FC236}">
                  <a16:creationId xmlns:a16="http://schemas.microsoft.com/office/drawing/2014/main" id="{C481B11E-BF07-4E92-BA9C-2B7760A27C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84538" y="3487738"/>
              <a:ext cx="2554287" cy="8001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26990" name="Text Box 11">
              <a:extLst>
                <a:ext uri="{FF2B5EF4-FFF2-40B4-BE49-F238E27FC236}">
                  <a16:creationId xmlns:a16="http://schemas.microsoft.com/office/drawing/2014/main" id="{C9EBDED8-19C3-43B5-8734-C9206D937F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8213" y="5291138"/>
              <a:ext cx="2379662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99"/>
                  </a:solidFill>
                  <a:latin typeface="Tahoma" panose="020B0604030504040204" pitchFamily="34" charset="0"/>
                </a:rPr>
                <a:t>simple telnet scenario</a:t>
              </a:r>
              <a:endParaRPr lang="en-US" altLang="zh-TW" sz="1000">
                <a:solidFill>
                  <a:srgbClr val="000099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6991" name="Text Box 13">
              <a:extLst>
                <a:ext uri="{FF2B5EF4-FFF2-40B4-BE49-F238E27FC236}">
                  <a16:creationId xmlns:a16="http://schemas.microsoft.com/office/drawing/2014/main" id="{246E3AF0-ED11-425C-8032-338049FE06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8938" y="1430338"/>
              <a:ext cx="77311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Host B</a:t>
              </a:r>
            </a:p>
          </p:txBody>
        </p:sp>
        <p:sp>
          <p:nvSpPr>
            <p:cNvPr id="126992" name="Text Box 17">
              <a:extLst>
                <a:ext uri="{FF2B5EF4-FFF2-40B4-BE49-F238E27FC236}">
                  <a16:creationId xmlns:a16="http://schemas.microsoft.com/office/drawing/2014/main" id="{3D163882-E65A-4ED2-986C-A4B4E13585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8775" y="1436688"/>
              <a:ext cx="7731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Host A</a:t>
              </a:r>
            </a:p>
          </p:txBody>
        </p:sp>
        <p:sp>
          <p:nvSpPr>
            <p:cNvPr id="126993" name="Rectangle 18">
              <a:extLst>
                <a:ext uri="{FF2B5EF4-FFF2-40B4-BE49-F238E27FC236}">
                  <a16:creationId xmlns:a16="http://schemas.microsoft.com/office/drawing/2014/main" id="{76551B60-F481-457C-910E-2045C6FFD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863" y="2806700"/>
              <a:ext cx="814387" cy="3794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26994" name="Text Box 19">
              <a:extLst>
                <a:ext uri="{FF2B5EF4-FFF2-40B4-BE49-F238E27FC236}">
                  <a16:creationId xmlns:a16="http://schemas.microsoft.com/office/drawing/2014/main" id="{10F2A1AA-1A84-4EA6-9E7B-5599989629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8838" y="2859088"/>
              <a:ext cx="24225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ahoma" panose="020B0604030504040204" pitchFamily="34" charset="0"/>
                </a:rPr>
                <a:t>Seq=42, ACK=79, data = </a:t>
              </a:r>
              <a:r>
                <a:rPr lang="ja-JP" altLang="en-US" sz="1400">
                  <a:latin typeface="Tahoma" panose="020B0604030504040204" pitchFamily="34" charset="0"/>
                </a:rPr>
                <a:t>‘</a:t>
              </a:r>
              <a:r>
                <a:rPr lang="en-US" altLang="ja-JP" sz="1400">
                  <a:latin typeface="Tahoma" panose="020B0604030504040204" pitchFamily="34" charset="0"/>
                </a:rPr>
                <a:t>C</a:t>
              </a:r>
              <a:r>
                <a:rPr lang="ja-JP" altLang="en-US" sz="1400">
                  <a:latin typeface="Tahoma" panose="020B0604030504040204" pitchFamily="34" charset="0"/>
                </a:rPr>
                <a:t>’</a:t>
              </a:r>
              <a:endParaRPr lang="en-US" altLang="zh-TW" sz="1400">
                <a:latin typeface="Tahoma" panose="020B0604030504040204" pitchFamily="34" charset="0"/>
              </a:endParaRPr>
            </a:p>
          </p:txBody>
        </p:sp>
        <p:sp>
          <p:nvSpPr>
            <p:cNvPr id="126995" name="Rectangle 20">
              <a:extLst>
                <a:ext uri="{FF2B5EF4-FFF2-40B4-BE49-F238E27FC236}">
                  <a16:creationId xmlns:a16="http://schemas.microsoft.com/office/drawing/2014/main" id="{8AC7E978-2219-4695-916F-E22666213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1788" y="3765550"/>
              <a:ext cx="823912" cy="2460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26996" name="Text Box 21">
              <a:extLst>
                <a:ext uri="{FF2B5EF4-FFF2-40B4-BE49-F238E27FC236}">
                  <a16:creationId xmlns:a16="http://schemas.microsoft.com/office/drawing/2014/main" id="{A1AB8349-87FC-43ED-85BF-4B0712E66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2013" y="3754438"/>
              <a:ext cx="2417762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Seq=79, ACK=43, data = </a:t>
              </a:r>
              <a:r>
                <a:rPr lang="ja-JP" altLang="en-US" sz="1400">
                  <a:latin typeface="Arial" panose="020B0604020202020204" pitchFamily="34" charset="0"/>
                </a:rPr>
                <a:t>‘</a:t>
              </a:r>
              <a:r>
                <a:rPr lang="en-US" altLang="ja-JP" sz="1400">
                  <a:latin typeface="Arial" panose="020B0604020202020204" pitchFamily="34" charset="0"/>
                </a:rPr>
                <a:t>C</a:t>
              </a:r>
              <a:r>
                <a:rPr lang="ja-JP" altLang="en-US" sz="1400">
                  <a:latin typeface="Arial" panose="020B0604020202020204" pitchFamily="34" charset="0"/>
                </a:rPr>
                <a:t>’</a:t>
              </a:r>
              <a:endParaRPr lang="en-US" altLang="zh-TW" sz="1000">
                <a:latin typeface="Times New Roman" panose="02020603050405020304" pitchFamily="18" charset="0"/>
              </a:endParaRPr>
            </a:p>
          </p:txBody>
        </p:sp>
        <p:sp>
          <p:nvSpPr>
            <p:cNvPr id="126997" name="Rectangle 22">
              <a:extLst>
                <a:ext uri="{FF2B5EF4-FFF2-40B4-BE49-F238E27FC236}">
                  <a16:creationId xmlns:a16="http://schemas.microsoft.com/office/drawing/2014/main" id="{8B6274E3-F3C6-4FB7-B13E-CD3459D58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463" y="4613275"/>
              <a:ext cx="958850" cy="3571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26998" name="Text Box 23">
              <a:extLst>
                <a:ext uri="{FF2B5EF4-FFF2-40B4-BE49-F238E27FC236}">
                  <a16:creationId xmlns:a16="http://schemas.microsoft.com/office/drawing/2014/main" id="{4C497289-994F-4FBA-8D2B-7E055D9441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7788" y="4627563"/>
              <a:ext cx="15652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Seq=43, ACK=80</a:t>
              </a:r>
              <a:endParaRPr lang="en-US" altLang="zh-TW" sz="1000">
                <a:latin typeface="Times New Roman" panose="02020603050405020304" pitchFamily="18" charset="0"/>
              </a:endParaRPr>
            </a:p>
          </p:txBody>
        </p:sp>
        <p:sp>
          <p:nvSpPr>
            <p:cNvPr id="126999" name="Line 24">
              <a:extLst>
                <a:ext uri="{FF2B5EF4-FFF2-40B4-BE49-F238E27FC236}">
                  <a16:creationId xmlns:a16="http://schemas.microsoft.com/office/drawing/2014/main" id="{19C2935C-70D1-4F97-A25C-AE10F3AA17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1838" y="2473325"/>
              <a:ext cx="0" cy="25876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127000" name="Line 25">
              <a:extLst>
                <a:ext uri="{FF2B5EF4-FFF2-40B4-BE49-F238E27FC236}">
                  <a16:creationId xmlns:a16="http://schemas.microsoft.com/office/drawing/2014/main" id="{3C3AECC9-31F9-475B-9860-3EA95CC5BB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4075" y="2525713"/>
              <a:ext cx="0" cy="25876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grpSp>
          <p:nvGrpSpPr>
            <p:cNvPr id="127001" name="Group 27">
              <a:extLst>
                <a:ext uri="{FF2B5EF4-FFF2-40B4-BE49-F238E27FC236}">
                  <a16:creationId xmlns:a16="http://schemas.microsoft.com/office/drawing/2014/main" id="{2C1B7130-F882-47DC-9F14-B32BDE630B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3838" y="1652588"/>
              <a:ext cx="755650" cy="782637"/>
              <a:chOff x="-44" y="1473"/>
              <a:chExt cx="981" cy="1105"/>
            </a:xfrm>
          </p:grpSpPr>
          <p:pic>
            <p:nvPicPr>
              <p:cNvPr id="127005" name="Picture 28" descr="desktop_computer_stylized_medium">
                <a:extLst>
                  <a:ext uri="{FF2B5EF4-FFF2-40B4-BE49-F238E27FC236}">
                    <a16:creationId xmlns:a16="http://schemas.microsoft.com/office/drawing/2014/main" id="{71DF23C4-7880-4101-952A-0235D41A3C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7006" name="Freeform 29">
                <a:extLst>
                  <a:ext uri="{FF2B5EF4-FFF2-40B4-BE49-F238E27FC236}">
                    <a16:creationId xmlns:a16="http://schemas.microsoft.com/office/drawing/2014/main" id="{2F2341AD-59CB-49A4-9DA6-1CAB1C6EFBE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36298130 w 356"/>
                  <a:gd name="T3" fmla="*/ 4810829 h 368"/>
                  <a:gd name="T4" fmla="*/ 43059907 w 356"/>
                  <a:gd name="T5" fmla="*/ 100260457 h 368"/>
                  <a:gd name="T6" fmla="*/ 9489792 w 356"/>
                  <a:gd name="T7" fmla="*/ 1253866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127002" name="Group 30">
              <a:extLst>
                <a:ext uri="{FF2B5EF4-FFF2-40B4-BE49-F238E27FC236}">
                  <a16:creationId xmlns:a16="http://schemas.microsoft.com/office/drawing/2014/main" id="{0E9A7B2A-FBD8-449D-8F0F-EEBD4812D5E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626100" y="1692275"/>
              <a:ext cx="788988" cy="862013"/>
              <a:chOff x="-44" y="1473"/>
              <a:chExt cx="981" cy="1105"/>
            </a:xfrm>
          </p:grpSpPr>
          <p:pic>
            <p:nvPicPr>
              <p:cNvPr id="127003" name="Picture 31" descr="desktop_computer_stylized_medium">
                <a:extLst>
                  <a:ext uri="{FF2B5EF4-FFF2-40B4-BE49-F238E27FC236}">
                    <a16:creationId xmlns:a16="http://schemas.microsoft.com/office/drawing/2014/main" id="{10F6200B-0B49-45BD-8199-02DC4F84CC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7004" name="Freeform 32">
                <a:extLst>
                  <a:ext uri="{FF2B5EF4-FFF2-40B4-BE49-F238E27FC236}">
                    <a16:creationId xmlns:a16="http://schemas.microsoft.com/office/drawing/2014/main" id="{F96EA359-3329-4E9B-A320-63FF24ED1C7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36298130 w 356"/>
                  <a:gd name="T3" fmla="*/ 4810829 h 368"/>
                  <a:gd name="T4" fmla="*/ 43059907 w 356"/>
                  <a:gd name="T5" fmla="*/ 100260457 h 368"/>
                  <a:gd name="T6" fmla="*/ 9489792 w 356"/>
                  <a:gd name="T7" fmla="*/ 1253866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</p:grpSp>
      <p:sp>
        <p:nvSpPr>
          <p:cNvPr id="31" name="Rectangle 1027">
            <a:extLst>
              <a:ext uri="{FF2B5EF4-FFF2-40B4-BE49-F238E27FC236}">
                <a16:creationId xmlns:a16="http://schemas.microsoft.com/office/drawing/2014/main" id="{34678D4E-D316-4D42-81F3-528CB0EC3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063" y="1436688"/>
            <a:ext cx="4429125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800" kern="0" dirty="0">
                <a:latin typeface="+mn-lt"/>
                <a:ea typeface="ＭＳ Ｐゴシック" charset="0"/>
              </a:rPr>
              <a:t>E.g.: Telnet application: Host A (client) types a character and Host B (server) echoes back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800" kern="0" dirty="0">
                <a:latin typeface="+mn-lt"/>
                <a:ea typeface="ＭＳ Ｐゴシック" charset="0"/>
              </a:rPr>
              <a:t>suppose the starting sequence numbers are 42 and 79 for the client and server, respectively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800" kern="0" dirty="0">
                <a:latin typeface="+mn-lt"/>
                <a:ea typeface="ＭＳ Ｐゴシック" charset="0"/>
              </a:rPr>
              <a:t>Segment 1: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800" kern="0" dirty="0">
                <a:latin typeface="+mn-lt"/>
                <a:ea typeface="ＭＳ Ｐゴシック" charset="0"/>
              </a:rPr>
              <a:t>Client is waiting for byte 79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Footer Placeholder 5">
            <a:extLst>
              <a:ext uri="{FF2B5EF4-FFF2-40B4-BE49-F238E27FC236}">
                <a16:creationId xmlns:a16="http://schemas.microsoft.com/office/drawing/2014/main" id="{A3106EC6-0F2A-4C10-87DE-F6E8DEB51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129027" name="Slide Number Placeholder 6">
            <a:extLst>
              <a:ext uri="{FF2B5EF4-FFF2-40B4-BE49-F238E27FC236}">
                <a16:creationId xmlns:a16="http://schemas.microsoft.com/office/drawing/2014/main" id="{077E9F14-0A63-415A-AC25-863A6F858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D89783D6-4B4A-476B-9D8E-B598B992369A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29028" name="Picture 2" descr="underline_base">
            <a:extLst>
              <a:ext uri="{FF2B5EF4-FFF2-40B4-BE49-F238E27FC236}">
                <a16:creationId xmlns:a16="http://schemas.microsoft.com/office/drawing/2014/main" id="{817CE25E-8557-4663-828B-633152C5903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815975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7" name="Rectangle 5">
            <a:extLst>
              <a:ext uri="{FF2B5EF4-FFF2-40B4-BE49-F238E27FC236}">
                <a16:creationId xmlns:a16="http://schemas.microsoft.com/office/drawing/2014/main" id="{D0EEEB76-C528-4CA7-A077-E15CC3AADF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6713" y="150813"/>
            <a:ext cx="7772400" cy="885825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TCP seq. numbers, </a:t>
            </a:r>
            <a:r>
              <a:rPr lang="en-US" sz="4000" dirty="0">
                <a:ea typeface="ＭＳ Ｐゴシック" charset="0"/>
                <a:cs typeface="+mj-cs"/>
              </a:rPr>
              <a:t>ACK</a:t>
            </a:r>
            <a:r>
              <a:rPr lang="en-US" dirty="0">
                <a:ea typeface="ＭＳ Ｐゴシック" charset="0"/>
                <a:cs typeface="+mj-cs"/>
              </a:rPr>
              <a:t>s</a:t>
            </a:r>
          </a:p>
        </p:txBody>
      </p:sp>
      <p:grpSp>
        <p:nvGrpSpPr>
          <p:cNvPr id="129030" name="群組 28">
            <a:extLst>
              <a:ext uri="{FF2B5EF4-FFF2-40B4-BE49-F238E27FC236}">
                <a16:creationId xmlns:a16="http://schemas.microsoft.com/office/drawing/2014/main" id="{9A768FD7-B5EF-456F-A0BD-68F5A623B61C}"/>
              </a:ext>
            </a:extLst>
          </p:cNvPr>
          <p:cNvGrpSpPr>
            <a:grpSpLocks/>
          </p:cNvGrpSpPr>
          <p:nvPr/>
        </p:nvGrpSpPr>
        <p:grpSpPr bwMode="auto">
          <a:xfrm>
            <a:off x="4748213" y="1430338"/>
            <a:ext cx="4098925" cy="4262437"/>
            <a:chOff x="2233613" y="1430338"/>
            <a:chExt cx="4799012" cy="4227512"/>
          </a:xfrm>
        </p:grpSpPr>
        <p:sp>
          <p:nvSpPr>
            <p:cNvPr id="129032" name="Line 3">
              <a:extLst>
                <a:ext uri="{FF2B5EF4-FFF2-40B4-BE49-F238E27FC236}">
                  <a16:creationId xmlns:a16="http://schemas.microsoft.com/office/drawing/2014/main" id="{CF319393-0F1C-4D31-90AB-350C13005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9775" y="4483100"/>
              <a:ext cx="2590800" cy="50641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29033" name="Line 4">
              <a:extLst>
                <a:ext uri="{FF2B5EF4-FFF2-40B4-BE49-F238E27FC236}">
                  <a16:creationId xmlns:a16="http://schemas.microsoft.com/office/drawing/2014/main" id="{CCA7A378-B418-4CF9-A178-CF144848E2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063" y="2714625"/>
              <a:ext cx="2586037" cy="5715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29034" name="Text Box 7">
              <a:extLst>
                <a:ext uri="{FF2B5EF4-FFF2-40B4-BE49-F238E27FC236}">
                  <a16:creationId xmlns:a16="http://schemas.microsoft.com/office/drawing/2014/main" id="{81FD38B8-2CBA-41AF-9D38-ED30CF2D99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4438" y="2320925"/>
              <a:ext cx="809625" cy="754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User</a:t>
              </a:r>
            </a:p>
            <a:p>
              <a:pPr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types</a:t>
              </a:r>
            </a:p>
            <a:p>
              <a:pPr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ja-JP" altLang="en-US" sz="1600">
                  <a:latin typeface="Tahoma" panose="020B0604030504040204" pitchFamily="34" charset="0"/>
                </a:rPr>
                <a:t>‘</a:t>
              </a:r>
              <a:r>
                <a:rPr lang="en-US" altLang="ja-JP" sz="1600">
                  <a:latin typeface="Tahoma" panose="020B0604030504040204" pitchFamily="34" charset="0"/>
                </a:rPr>
                <a:t>C</a:t>
              </a:r>
              <a:r>
                <a:rPr lang="ja-JP" altLang="en-US" sz="1600">
                  <a:latin typeface="Tahoma" panose="020B0604030504040204" pitchFamily="34" charset="0"/>
                </a:rPr>
                <a:t>’</a:t>
              </a:r>
              <a:endParaRPr lang="en-US" altLang="zh-TW" sz="1000">
                <a:latin typeface="Tahoma" panose="020B0604030504040204" pitchFamily="34" charset="0"/>
              </a:endParaRPr>
            </a:p>
          </p:txBody>
        </p:sp>
        <p:sp>
          <p:nvSpPr>
            <p:cNvPr id="129035" name="Text Box 8">
              <a:extLst>
                <a:ext uri="{FF2B5EF4-FFF2-40B4-BE49-F238E27FC236}">
                  <a16:creationId xmlns:a16="http://schemas.microsoft.com/office/drawing/2014/main" id="{4494C62F-9E03-4AD6-A7B7-D41FD6F054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3613" y="3933825"/>
              <a:ext cx="1084262" cy="974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host ACKs</a:t>
              </a:r>
            </a:p>
            <a:p>
              <a:pPr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receipt </a:t>
              </a:r>
            </a:p>
            <a:p>
              <a:pPr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of echoed</a:t>
              </a:r>
            </a:p>
            <a:p>
              <a:pPr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ja-JP" altLang="en-US" sz="1600">
                  <a:latin typeface="Tahoma" panose="020B0604030504040204" pitchFamily="34" charset="0"/>
                </a:rPr>
                <a:t>‘</a:t>
              </a:r>
              <a:r>
                <a:rPr lang="en-US" altLang="ja-JP" sz="1600">
                  <a:latin typeface="Tahoma" panose="020B0604030504040204" pitchFamily="34" charset="0"/>
                </a:rPr>
                <a:t>C</a:t>
              </a:r>
              <a:r>
                <a:rPr lang="ja-JP" altLang="en-US" sz="1600">
                  <a:latin typeface="Tahoma" panose="020B0604030504040204" pitchFamily="34" charset="0"/>
                </a:rPr>
                <a:t>’</a:t>
              </a:r>
              <a:endParaRPr lang="en-US" altLang="zh-TW" sz="1000">
                <a:latin typeface="Tahoma" panose="020B0604030504040204" pitchFamily="34" charset="0"/>
              </a:endParaRPr>
            </a:p>
          </p:txBody>
        </p:sp>
        <p:sp>
          <p:nvSpPr>
            <p:cNvPr id="129036" name="Text Box 9">
              <a:extLst>
                <a:ext uri="{FF2B5EF4-FFF2-40B4-BE49-F238E27FC236}">
                  <a16:creationId xmlns:a16="http://schemas.microsoft.com/office/drawing/2014/main" id="{B1630AF4-0D43-4D44-A16F-F7A07DB1E5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4388" y="3055938"/>
              <a:ext cx="1138237" cy="1069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host ACKs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receipt of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ja-JP" altLang="en-US" sz="1600">
                  <a:latin typeface="Tahoma" panose="020B0604030504040204" pitchFamily="34" charset="0"/>
                </a:rPr>
                <a:t>‘</a:t>
              </a:r>
              <a:r>
                <a:rPr lang="en-US" altLang="ja-JP" sz="1600">
                  <a:latin typeface="Tahoma" panose="020B0604030504040204" pitchFamily="34" charset="0"/>
                </a:rPr>
                <a:t>C</a:t>
              </a:r>
              <a:r>
                <a:rPr lang="ja-JP" altLang="en-US" sz="1600">
                  <a:latin typeface="Tahoma" panose="020B0604030504040204" pitchFamily="34" charset="0"/>
                </a:rPr>
                <a:t>’</a:t>
              </a:r>
              <a:r>
                <a:rPr lang="en-US" altLang="ja-JP" sz="1600">
                  <a:latin typeface="Tahoma" panose="020B0604030504040204" pitchFamily="34" charset="0"/>
                </a:rPr>
                <a:t>, echoes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back </a:t>
              </a:r>
              <a:r>
                <a:rPr lang="ja-JP" altLang="en-US" sz="1600">
                  <a:latin typeface="Tahoma" panose="020B0604030504040204" pitchFamily="34" charset="0"/>
                </a:rPr>
                <a:t>‘</a:t>
              </a:r>
              <a:r>
                <a:rPr lang="en-US" altLang="ja-JP" sz="1600">
                  <a:latin typeface="Tahoma" panose="020B0604030504040204" pitchFamily="34" charset="0"/>
                </a:rPr>
                <a:t>C</a:t>
              </a:r>
              <a:r>
                <a:rPr lang="ja-JP" altLang="en-US" sz="1600">
                  <a:latin typeface="Tahoma" panose="020B0604030504040204" pitchFamily="34" charset="0"/>
                </a:rPr>
                <a:t>’</a:t>
              </a:r>
              <a:endParaRPr lang="en-US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29037" name="Line 10">
              <a:extLst>
                <a:ext uri="{FF2B5EF4-FFF2-40B4-BE49-F238E27FC236}">
                  <a16:creationId xmlns:a16="http://schemas.microsoft.com/office/drawing/2014/main" id="{9F60C3D7-B02A-453F-BB9B-79ABD2758D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84538" y="3487738"/>
              <a:ext cx="2554287" cy="8001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29038" name="Text Box 11">
              <a:extLst>
                <a:ext uri="{FF2B5EF4-FFF2-40B4-BE49-F238E27FC236}">
                  <a16:creationId xmlns:a16="http://schemas.microsoft.com/office/drawing/2014/main" id="{3BF3044C-5BD5-4816-9546-E0B064C5D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8213" y="5291138"/>
              <a:ext cx="2379662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99"/>
                  </a:solidFill>
                  <a:latin typeface="Tahoma" panose="020B0604030504040204" pitchFamily="34" charset="0"/>
                </a:rPr>
                <a:t>simple telnet scenario</a:t>
              </a:r>
              <a:endParaRPr lang="en-US" altLang="zh-TW" sz="1000">
                <a:solidFill>
                  <a:srgbClr val="000099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9039" name="Text Box 13">
              <a:extLst>
                <a:ext uri="{FF2B5EF4-FFF2-40B4-BE49-F238E27FC236}">
                  <a16:creationId xmlns:a16="http://schemas.microsoft.com/office/drawing/2014/main" id="{57F62537-0B7C-4E6F-A9E5-05E8208D6B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8938" y="1430338"/>
              <a:ext cx="77311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Host B</a:t>
              </a:r>
            </a:p>
          </p:txBody>
        </p:sp>
        <p:sp>
          <p:nvSpPr>
            <p:cNvPr id="129040" name="Text Box 17">
              <a:extLst>
                <a:ext uri="{FF2B5EF4-FFF2-40B4-BE49-F238E27FC236}">
                  <a16:creationId xmlns:a16="http://schemas.microsoft.com/office/drawing/2014/main" id="{94B8318C-A476-4C51-8B54-29FD8A8CDB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8775" y="1436688"/>
              <a:ext cx="7731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Host A</a:t>
              </a:r>
            </a:p>
          </p:txBody>
        </p:sp>
        <p:sp>
          <p:nvSpPr>
            <p:cNvPr id="129041" name="Rectangle 18">
              <a:extLst>
                <a:ext uri="{FF2B5EF4-FFF2-40B4-BE49-F238E27FC236}">
                  <a16:creationId xmlns:a16="http://schemas.microsoft.com/office/drawing/2014/main" id="{1DB4BAD8-B62C-4BC3-AFE3-7B99B1909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863" y="2806700"/>
              <a:ext cx="814387" cy="3794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29042" name="Text Box 19">
              <a:extLst>
                <a:ext uri="{FF2B5EF4-FFF2-40B4-BE49-F238E27FC236}">
                  <a16:creationId xmlns:a16="http://schemas.microsoft.com/office/drawing/2014/main" id="{BEB214DB-6B6B-442E-94F7-E6CCAA14F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8838" y="2859088"/>
              <a:ext cx="24225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ahoma" panose="020B0604030504040204" pitchFamily="34" charset="0"/>
                </a:rPr>
                <a:t>Seq=42, ACK=79, data = </a:t>
              </a:r>
              <a:r>
                <a:rPr lang="ja-JP" altLang="en-US" sz="1400">
                  <a:latin typeface="Tahoma" panose="020B0604030504040204" pitchFamily="34" charset="0"/>
                </a:rPr>
                <a:t>‘</a:t>
              </a:r>
              <a:r>
                <a:rPr lang="en-US" altLang="ja-JP" sz="1400">
                  <a:latin typeface="Tahoma" panose="020B0604030504040204" pitchFamily="34" charset="0"/>
                </a:rPr>
                <a:t>C</a:t>
              </a:r>
              <a:r>
                <a:rPr lang="ja-JP" altLang="en-US" sz="1400">
                  <a:latin typeface="Tahoma" panose="020B0604030504040204" pitchFamily="34" charset="0"/>
                </a:rPr>
                <a:t>’</a:t>
              </a:r>
              <a:endParaRPr lang="en-US" altLang="zh-TW" sz="1400">
                <a:latin typeface="Tahoma" panose="020B0604030504040204" pitchFamily="34" charset="0"/>
              </a:endParaRPr>
            </a:p>
          </p:txBody>
        </p:sp>
        <p:sp>
          <p:nvSpPr>
            <p:cNvPr id="129043" name="Rectangle 20">
              <a:extLst>
                <a:ext uri="{FF2B5EF4-FFF2-40B4-BE49-F238E27FC236}">
                  <a16:creationId xmlns:a16="http://schemas.microsoft.com/office/drawing/2014/main" id="{4699025B-422A-462D-BEF5-395EDBF49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1788" y="3765550"/>
              <a:ext cx="823912" cy="2460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29044" name="Text Box 21">
              <a:extLst>
                <a:ext uri="{FF2B5EF4-FFF2-40B4-BE49-F238E27FC236}">
                  <a16:creationId xmlns:a16="http://schemas.microsoft.com/office/drawing/2014/main" id="{8EEF5B19-3F70-493B-83E2-4DB36EBA7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2013" y="3754438"/>
              <a:ext cx="2417762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Seq=79, ACK=43, data = </a:t>
              </a:r>
              <a:r>
                <a:rPr lang="ja-JP" altLang="en-US" sz="1400">
                  <a:latin typeface="Arial" panose="020B0604020202020204" pitchFamily="34" charset="0"/>
                </a:rPr>
                <a:t>‘</a:t>
              </a:r>
              <a:r>
                <a:rPr lang="en-US" altLang="ja-JP" sz="1400">
                  <a:latin typeface="Arial" panose="020B0604020202020204" pitchFamily="34" charset="0"/>
                </a:rPr>
                <a:t>C</a:t>
              </a:r>
              <a:r>
                <a:rPr lang="ja-JP" altLang="en-US" sz="1400">
                  <a:latin typeface="Arial" panose="020B0604020202020204" pitchFamily="34" charset="0"/>
                </a:rPr>
                <a:t>’</a:t>
              </a:r>
              <a:endParaRPr lang="en-US" altLang="zh-TW" sz="1000">
                <a:latin typeface="Times New Roman" panose="02020603050405020304" pitchFamily="18" charset="0"/>
              </a:endParaRPr>
            </a:p>
          </p:txBody>
        </p:sp>
        <p:sp>
          <p:nvSpPr>
            <p:cNvPr id="129045" name="Rectangle 22">
              <a:extLst>
                <a:ext uri="{FF2B5EF4-FFF2-40B4-BE49-F238E27FC236}">
                  <a16:creationId xmlns:a16="http://schemas.microsoft.com/office/drawing/2014/main" id="{D22B5ED4-939A-4AD0-AEB0-F54664B81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463" y="4613275"/>
              <a:ext cx="958850" cy="3571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29046" name="Text Box 23">
              <a:extLst>
                <a:ext uri="{FF2B5EF4-FFF2-40B4-BE49-F238E27FC236}">
                  <a16:creationId xmlns:a16="http://schemas.microsoft.com/office/drawing/2014/main" id="{1767E5F5-A5BF-485B-A617-82F3E7BEB7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7788" y="4627563"/>
              <a:ext cx="15652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Seq=43, ACK=80</a:t>
              </a:r>
              <a:endParaRPr lang="en-US" altLang="zh-TW" sz="1000">
                <a:latin typeface="Times New Roman" panose="02020603050405020304" pitchFamily="18" charset="0"/>
              </a:endParaRPr>
            </a:p>
          </p:txBody>
        </p:sp>
        <p:sp>
          <p:nvSpPr>
            <p:cNvPr id="129047" name="Line 24">
              <a:extLst>
                <a:ext uri="{FF2B5EF4-FFF2-40B4-BE49-F238E27FC236}">
                  <a16:creationId xmlns:a16="http://schemas.microsoft.com/office/drawing/2014/main" id="{AFB84F01-CA25-49CA-9137-EF62C303BE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1838" y="2473325"/>
              <a:ext cx="0" cy="25876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129048" name="Line 25">
              <a:extLst>
                <a:ext uri="{FF2B5EF4-FFF2-40B4-BE49-F238E27FC236}">
                  <a16:creationId xmlns:a16="http://schemas.microsoft.com/office/drawing/2014/main" id="{C7523354-763A-4B1B-A84F-E15BEBCF2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4075" y="2525713"/>
              <a:ext cx="0" cy="25876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grpSp>
          <p:nvGrpSpPr>
            <p:cNvPr id="129049" name="Group 27">
              <a:extLst>
                <a:ext uri="{FF2B5EF4-FFF2-40B4-BE49-F238E27FC236}">
                  <a16:creationId xmlns:a16="http://schemas.microsoft.com/office/drawing/2014/main" id="{0EDD4A76-6D6F-4B04-AEE8-A5AE6EDF10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3838" y="1652588"/>
              <a:ext cx="755650" cy="782637"/>
              <a:chOff x="-44" y="1473"/>
              <a:chExt cx="981" cy="1105"/>
            </a:xfrm>
          </p:grpSpPr>
          <p:pic>
            <p:nvPicPr>
              <p:cNvPr id="129053" name="Picture 28" descr="desktop_computer_stylized_medium">
                <a:extLst>
                  <a:ext uri="{FF2B5EF4-FFF2-40B4-BE49-F238E27FC236}">
                    <a16:creationId xmlns:a16="http://schemas.microsoft.com/office/drawing/2014/main" id="{2BD9E0FA-E005-41DD-AEF3-6E3846C00C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9054" name="Freeform 29">
                <a:extLst>
                  <a:ext uri="{FF2B5EF4-FFF2-40B4-BE49-F238E27FC236}">
                    <a16:creationId xmlns:a16="http://schemas.microsoft.com/office/drawing/2014/main" id="{F0E5BD83-0D2B-4993-BA66-3299A687B68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36298130 w 356"/>
                  <a:gd name="T3" fmla="*/ 4810829 h 368"/>
                  <a:gd name="T4" fmla="*/ 43059907 w 356"/>
                  <a:gd name="T5" fmla="*/ 100260457 h 368"/>
                  <a:gd name="T6" fmla="*/ 9489792 w 356"/>
                  <a:gd name="T7" fmla="*/ 1253866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129050" name="Group 30">
              <a:extLst>
                <a:ext uri="{FF2B5EF4-FFF2-40B4-BE49-F238E27FC236}">
                  <a16:creationId xmlns:a16="http://schemas.microsoft.com/office/drawing/2014/main" id="{8A2F0B49-07F8-4C19-8022-143B13037BBF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626100" y="1692275"/>
              <a:ext cx="788988" cy="862013"/>
              <a:chOff x="-44" y="1473"/>
              <a:chExt cx="981" cy="1105"/>
            </a:xfrm>
          </p:grpSpPr>
          <p:pic>
            <p:nvPicPr>
              <p:cNvPr id="129051" name="Picture 31" descr="desktop_computer_stylized_medium">
                <a:extLst>
                  <a:ext uri="{FF2B5EF4-FFF2-40B4-BE49-F238E27FC236}">
                    <a16:creationId xmlns:a16="http://schemas.microsoft.com/office/drawing/2014/main" id="{A99CA6DD-0FEC-41B2-9C92-FC94E6B0B2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9052" name="Freeform 32">
                <a:extLst>
                  <a:ext uri="{FF2B5EF4-FFF2-40B4-BE49-F238E27FC236}">
                    <a16:creationId xmlns:a16="http://schemas.microsoft.com/office/drawing/2014/main" id="{6D279F9A-D010-41FE-B358-7316C820FF8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36298130 w 356"/>
                  <a:gd name="T3" fmla="*/ 4810829 h 368"/>
                  <a:gd name="T4" fmla="*/ 43059907 w 356"/>
                  <a:gd name="T5" fmla="*/ 100260457 h 368"/>
                  <a:gd name="T6" fmla="*/ 9489792 w 356"/>
                  <a:gd name="T7" fmla="*/ 1253866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</p:grpSp>
      <p:sp>
        <p:nvSpPr>
          <p:cNvPr id="31" name="Rectangle 1027">
            <a:extLst>
              <a:ext uri="{FF2B5EF4-FFF2-40B4-BE49-F238E27FC236}">
                <a16:creationId xmlns:a16="http://schemas.microsoft.com/office/drawing/2014/main" id="{E17A0BF2-42C7-4A16-A138-39DF85D6E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75" y="1436688"/>
            <a:ext cx="4341813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400" kern="0" dirty="0">
                <a:latin typeface="+mn-lt"/>
                <a:ea typeface="ＭＳ Ｐゴシック" charset="0"/>
              </a:rPr>
              <a:t>Segment 2: ACK = 43 (server is telling the client that it has successfully received everything up through byte 42 and is now waiting for bytes 43 onward.)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400" kern="0" dirty="0">
                <a:latin typeface="+mn-lt"/>
                <a:ea typeface="ＭＳ Ｐゴシック" charset="0"/>
              </a:rPr>
              <a:t>Segment 3: Empty data field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Footer Placeholder 5">
            <a:extLst>
              <a:ext uri="{FF2B5EF4-FFF2-40B4-BE49-F238E27FC236}">
                <a16:creationId xmlns:a16="http://schemas.microsoft.com/office/drawing/2014/main" id="{1FEA4A2A-7CEE-437C-A7EC-A8DEAE1BD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131075" name="Slide Number Placeholder 6">
            <a:extLst>
              <a:ext uri="{FF2B5EF4-FFF2-40B4-BE49-F238E27FC236}">
                <a16:creationId xmlns:a16="http://schemas.microsoft.com/office/drawing/2014/main" id="{982B73E2-4767-46F5-B0F1-794BF41F6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842F6D58-E3DF-4844-AAE7-C24CA56461D3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31076" name="Picture 1029" descr="underline_base">
            <a:extLst>
              <a:ext uri="{FF2B5EF4-FFF2-40B4-BE49-F238E27FC236}">
                <a16:creationId xmlns:a16="http://schemas.microsoft.com/office/drawing/2014/main" id="{BE4A95A9-A2B9-4897-B4CE-D994B339C9F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947738"/>
            <a:ext cx="693578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7" name="Rectangle 1026">
            <a:extLst>
              <a:ext uri="{FF2B5EF4-FFF2-40B4-BE49-F238E27FC236}">
                <a16:creationId xmlns:a16="http://schemas.microsoft.com/office/drawing/2014/main" id="{3ABE1619-09B4-471E-A04D-86E606B1E4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2925" y="233363"/>
            <a:ext cx="7772400" cy="920750"/>
          </a:xfrm>
        </p:spPr>
        <p:txBody>
          <a:bodyPr/>
          <a:lstStyle/>
          <a:p>
            <a:r>
              <a:rPr lang="en-US" altLang="zh-TW"/>
              <a:t>TCP round trip time, timeout</a:t>
            </a:r>
            <a:endParaRPr lang="en-US" altLang="zh-TW" sz="4800"/>
          </a:p>
        </p:txBody>
      </p:sp>
      <p:sp>
        <p:nvSpPr>
          <p:cNvPr id="62470" name="Rectangle 1027">
            <a:extLst>
              <a:ext uri="{FF2B5EF4-FFF2-40B4-BE49-F238E27FC236}">
                <a16:creationId xmlns:a16="http://schemas.microsoft.com/office/drawing/2014/main" id="{C1079DE9-250B-4103-B287-469CE1F8D4C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81025" y="1436688"/>
            <a:ext cx="3716338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3200" u="sng" dirty="0">
                <a:solidFill>
                  <a:srgbClr val="FF0000"/>
                </a:solidFill>
                <a:ea typeface="ＭＳ Ｐゴシック" charset="0"/>
                <a:cs typeface="+mn-cs"/>
              </a:rPr>
              <a:t>Q:</a:t>
            </a:r>
            <a:r>
              <a:rPr lang="en-US" sz="3200" dirty="0">
                <a:ea typeface="ＭＳ Ｐゴシック" charset="0"/>
                <a:cs typeface="+mn-cs"/>
              </a:rPr>
              <a:t> </a:t>
            </a:r>
            <a:r>
              <a:rPr lang="en-US" sz="3200" dirty="0">
                <a:solidFill>
                  <a:srgbClr val="FF0000"/>
                </a:solidFill>
                <a:ea typeface="ＭＳ Ｐゴシック" charset="0"/>
                <a:cs typeface="+mn-cs"/>
              </a:rPr>
              <a:t>how to set TCP timeout value?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i="1" dirty="0">
                <a:solidFill>
                  <a:srgbClr val="0070C0"/>
                </a:solidFill>
                <a:ea typeface="ＭＳ Ｐゴシック" charset="0"/>
                <a:cs typeface="+mn-cs"/>
              </a:rPr>
              <a:t>too short</a:t>
            </a:r>
            <a:r>
              <a:rPr lang="en-US" i="1" dirty="0">
                <a:ea typeface="ＭＳ Ｐゴシック" charset="0"/>
                <a:cs typeface="+mn-cs"/>
              </a:rPr>
              <a:t>:</a:t>
            </a:r>
            <a:r>
              <a:rPr lang="en-US" dirty="0">
                <a:ea typeface="ＭＳ Ｐゴシック" charset="0"/>
                <a:cs typeface="+mn-cs"/>
              </a:rPr>
              <a:t> premature timeout, unnecessary retransmissions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i="1" dirty="0">
                <a:solidFill>
                  <a:srgbClr val="0070C0"/>
                </a:solidFill>
                <a:ea typeface="ＭＳ Ｐゴシック" charset="0"/>
                <a:cs typeface="+mn-cs"/>
              </a:rPr>
              <a:t>too long</a:t>
            </a:r>
            <a:r>
              <a:rPr lang="en-US" i="1" dirty="0">
                <a:ea typeface="ＭＳ Ｐゴシック" charset="0"/>
                <a:cs typeface="+mn-cs"/>
              </a:rPr>
              <a:t>:</a:t>
            </a:r>
            <a:r>
              <a:rPr lang="en-US" dirty="0">
                <a:ea typeface="ＭＳ Ｐゴシック" charset="0"/>
                <a:cs typeface="+mn-cs"/>
              </a:rPr>
              <a:t> slow reaction to segment loss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altLang="zh-HK" dirty="0">
                <a:ea typeface="ＭＳ Ｐゴシック" charset="0"/>
              </a:rPr>
              <a:t>longer than RTT</a:t>
            </a:r>
          </a:p>
          <a:p>
            <a:pPr lvl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altLang="zh-HK" dirty="0">
                <a:ea typeface="ＭＳ Ｐゴシック" charset="0"/>
              </a:rPr>
              <a:t>but RTT varies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dirty="0">
              <a:ea typeface="ＭＳ Ｐゴシック" charset="0"/>
              <a:cs typeface="+mn-cs"/>
            </a:endParaRPr>
          </a:p>
        </p:txBody>
      </p:sp>
      <p:sp>
        <p:nvSpPr>
          <p:cNvPr id="94215" name="Rectangle 1028">
            <a:extLst>
              <a:ext uri="{FF2B5EF4-FFF2-40B4-BE49-F238E27FC236}">
                <a16:creationId xmlns:a16="http://schemas.microsoft.com/office/drawing/2014/main" id="{0B235CD7-FD8B-4216-AC8A-60F9AA54A9D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46613" y="1485900"/>
            <a:ext cx="4059237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u="sng" dirty="0">
                <a:solidFill>
                  <a:srgbClr val="FF0000"/>
                </a:solidFill>
              </a:rPr>
              <a:t>Q: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how to estimate RTT?</a:t>
            </a:r>
          </a:p>
          <a:p>
            <a:r>
              <a:rPr lang="en-US" altLang="zh-TW" sz="2400" b="1" dirty="0" err="1">
                <a:solidFill>
                  <a:srgbClr val="000099"/>
                </a:solidFill>
                <a:latin typeface="Courier New" panose="02070309020205020404" pitchFamily="49" charset="0"/>
              </a:rPr>
              <a:t>SampleRTT</a:t>
            </a:r>
            <a:r>
              <a:rPr lang="en-US" altLang="zh-TW" sz="2400" dirty="0">
                <a:solidFill>
                  <a:srgbClr val="000099"/>
                </a:solidFill>
              </a:rPr>
              <a:t>:</a:t>
            </a:r>
            <a:r>
              <a:rPr lang="en-US" altLang="zh-TW" sz="2400" dirty="0"/>
              <a:t> </a:t>
            </a:r>
            <a:r>
              <a:rPr lang="en-US" altLang="zh-TW" sz="2400" dirty="0">
                <a:solidFill>
                  <a:srgbClr val="0070C0"/>
                </a:solidFill>
              </a:rPr>
              <a:t>measured</a:t>
            </a:r>
            <a:r>
              <a:rPr lang="en-US" altLang="zh-TW" sz="2400" dirty="0"/>
              <a:t> </a:t>
            </a:r>
            <a:r>
              <a:rPr lang="en-US" altLang="zh-TW" sz="2400" dirty="0">
                <a:solidFill>
                  <a:srgbClr val="0070C0"/>
                </a:solidFill>
              </a:rPr>
              <a:t>time from segment transmission until ACK receipt</a:t>
            </a:r>
          </a:p>
          <a:p>
            <a:pPr lvl="1"/>
            <a:r>
              <a:rPr lang="en-US" altLang="zh-TW" dirty="0"/>
              <a:t>ignore retransmissions</a:t>
            </a:r>
          </a:p>
          <a:p>
            <a:r>
              <a:rPr lang="en-US" altLang="zh-TW" sz="2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SampleRTT</a:t>
            </a:r>
            <a:r>
              <a:rPr lang="en-US" altLang="zh-TW" sz="2400" dirty="0">
                <a:solidFill>
                  <a:srgbClr val="FF0000"/>
                </a:solidFill>
              </a:rPr>
              <a:t> will vary</a:t>
            </a:r>
          </a:p>
          <a:p>
            <a:pPr lvl="1"/>
            <a:r>
              <a:rPr lang="en-US" altLang="zh-TW" sz="2000" dirty="0"/>
              <a:t>But  we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/>
              <a:t>want estimated RTT  to be</a:t>
            </a:r>
            <a:r>
              <a:rPr lang="ja-JP" altLang="en-US" dirty="0"/>
              <a:t>“</a:t>
            </a:r>
            <a:r>
              <a:rPr lang="en-US" altLang="ja-JP" dirty="0"/>
              <a:t>smoother</a:t>
            </a:r>
            <a:r>
              <a:rPr lang="ja-JP" altLang="en-US" dirty="0"/>
              <a:t>”</a:t>
            </a:r>
            <a:endParaRPr lang="en-US" altLang="ja-JP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zh-TW" dirty="0">
                <a:solidFill>
                  <a:srgbClr val="FF0000"/>
                </a:solidFill>
              </a:rPr>
              <a:t>average</a:t>
            </a:r>
            <a:r>
              <a:rPr lang="en-US" altLang="zh-TW" dirty="0">
                <a:solidFill>
                  <a:srgbClr val="0070C0"/>
                </a:solidFill>
              </a:rPr>
              <a:t> several </a:t>
            </a:r>
            <a:r>
              <a:rPr lang="en-US" altLang="zh-TW" i="1" dirty="0">
                <a:solidFill>
                  <a:srgbClr val="0070C0"/>
                </a:solidFill>
              </a:rPr>
              <a:t>recent</a:t>
            </a:r>
            <a:r>
              <a:rPr lang="en-US" altLang="zh-TW" dirty="0">
                <a:solidFill>
                  <a:srgbClr val="0070C0"/>
                </a:solidFill>
              </a:rPr>
              <a:t> measurements</a:t>
            </a:r>
            <a:r>
              <a:rPr lang="en-US" altLang="zh-TW" dirty="0"/>
              <a:t>, not just current </a:t>
            </a:r>
            <a:r>
              <a:rPr lang="en-US" altLang="zh-TW" b="1" dirty="0" err="1">
                <a:latin typeface="Courier New" panose="02070309020205020404" pitchFamily="49" charset="0"/>
              </a:rPr>
              <a:t>SampleRTT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Footer Placeholder 5">
            <a:extLst>
              <a:ext uri="{FF2B5EF4-FFF2-40B4-BE49-F238E27FC236}">
                <a16:creationId xmlns:a16="http://schemas.microsoft.com/office/drawing/2014/main" id="{F2B010B6-86EF-416D-A257-36606031D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133123" name="Slide Number Placeholder 6">
            <a:extLst>
              <a:ext uri="{FF2B5EF4-FFF2-40B4-BE49-F238E27FC236}">
                <a16:creationId xmlns:a16="http://schemas.microsoft.com/office/drawing/2014/main" id="{FEBCB6EC-CD43-4C42-84A4-43EF747FC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63653328-8F2D-459A-B908-1F5FA4ADA3A1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grpSp>
        <p:nvGrpSpPr>
          <p:cNvPr id="133124" name="Group 14">
            <a:extLst>
              <a:ext uri="{FF2B5EF4-FFF2-40B4-BE49-F238E27FC236}">
                <a16:creationId xmlns:a16="http://schemas.microsoft.com/office/drawing/2014/main" id="{86A26500-1076-481A-BF12-CA1662987D07}"/>
              </a:ext>
            </a:extLst>
          </p:cNvPr>
          <p:cNvGrpSpPr>
            <a:grpSpLocks/>
          </p:cNvGrpSpPr>
          <p:nvPr/>
        </p:nvGrpSpPr>
        <p:grpSpPr bwMode="auto">
          <a:xfrm>
            <a:off x="1708150" y="2565400"/>
            <a:ext cx="6272213" cy="4292600"/>
            <a:chOff x="782" y="1865"/>
            <a:chExt cx="3951" cy="2704"/>
          </a:xfrm>
        </p:grpSpPr>
        <p:pic>
          <p:nvPicPr>
            <p:cNvPr id="133139" name="Picture 12">
              <a:extLst>
                <a:ext uri="{FF2B5EF4-FFF2-40B4-BE49-F238E27FC236}">
                  <a16:creationId xmlns:a16="http://schemas.microsoft.com/office/drawing/2014/main" id="{A25F95B7-023E-4824-A277-0B1487DA56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" y="1865"/>
              <a:ext cx="3951" cy="2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40" name="Rectangle 13">
              <a:extLst>
                <a:ext uri="{FF2B5EF4-FFF2-40B4-BE49-F238E27FC236}">
                  <a16:creationId xmlns:a16="http://schemas.microsoft.com/office/drawing/2014/main" id="{3BECFEF9-0285-4B2F-993B-3E404BC20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1926"/>
              <a:ext cx="1404" cy="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</p:grpSp>
      <p:sp>
        <p:nvSpPr>
          <p:cNvPr id="133125" name="Text Box 3">
            <a:extLst>
              <a:ext uri="{FF2B5EF4-FFF2-40B4-BE49-F238E27FC236}">
                <a16:creationId xmlns:a16="http://schemas.microsoft.com/office/drawing/2014/main" id="{59F436E5-A27D-4AF7-82B9-11BFCCE2F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362075"/>
            <a:ext cx="7515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Courier New" panose="02070309020205020404" pitchFamily="49" charset="0"/>
              </a:rPr>
              <a:t>EstimatedRTT = (1- </a:t>
            </a:r>
            <a:r>
              <a:rPr lang="en-US" altLang="zh-TW" sz="2000" b="1">
                <a:latin typeface="Courier New" panose="02070309020205020404" pitchFamily="49" charset="0"/>
                <a:sym typeface="Symbol" panose="05050102010706020507" pitchFamily="18" charset="2"/>
              </a:rPr>
              <a:t></a:t>
            </a:r>
            <a:r>
              <a:rPr lang="en-US" altLang="zh-TW" sz="2000" b="1">
                <a:latin typeface="Courier New" panose="02070309020205020404" pitchFamily="49" charset="0"/>
              </a:rPr>
              <a:t>)*EstimatedRTT + </a:t>
            </a:r>
            <a:r>
              <a:rPr lang="en-US" altLang="zh-TW" sz="2000" b="1">
                <a:latin typeface="Courier New" panose="02070309020205020404" pitchFamily="49" charset="0"/>
                <a:sym typeface="Symbol" panose="05050102010706020507" pitchFamily="18" charset="2"/>
              </a:rPr>
              <a:t></a:t>
            </a:r>
            <a:r>
              <a:rPr lang="en-US" altLang="zh-TW" sz="2000" b="1">
                <a:latin typeface="Courier New" panose="02070309020205020404" pitchFamily="49" charset="0"/>
              </a:rPr>
              <a:t>*SampleRTT</a:t>
            </a:r>
          </a:p>
        </p:txBody>
      </p:sp>
      <p:sp>
        <p:nvSpPr>
          <p:cNvPr id="133126" name="Rectangle 4">
            <a:extLst>
              <a:ext uri="{FF2B5EF4-FFF2-40B4-BE49-F238E27FC236}">
                <a16:creationId xmlns:a16="http://schemas.microsoft.com/office/drawing/2014/main" id="{9153C3FC-B820-4C3B-9081-DBF60B5B2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638" y="1836738"/>
            <a:ext cx="706755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75000"/>
              </a:lnSpc>
            </a:pPr>
            <a:r>
              <a:rPr lang="en-US" altLang="zh-TW" sz="2400">
                <a:solidFill>
                  <a:srgbClr val="FF0000"/>
                </a:solidFill>
              </a:rPr>
              <a:t>exponential weighted moving average</a:t>
            </a:r>
          </a:p>
          <a:p>
            <a:pPr>
              <a:lnSpc>
                <a:spcPct val="75000"/>
              </a:lnSpc>
            </a:pPr>
            <a:r>
              <a:rPr lang="en-US" altLang="zh-TW" sz="2400"/>
              <a:t>influence of past sample decreases exponentially fast</a:t>
            </a:r>
          </a:p>
          <a:p>
            <a:pPr>
              <a:lnSpc>
                <a:spcPct val="75000"/>
              </a:lnSpc>
            </a:pPr>
            <a:r>
              <a:rPr lang="en-US" altLang="zh-TW" sz="2400"/>
              <a:t>typical value: </a:t>
            </a:r>
            <a:r>
              <a:rPr lang="en-US" altLang="zh-TW" sz="2400" b="1">
                <a:latin typeface="Courier New" panose="02070309020205020404" pitchFamily="49" charset="0"/>
                <a:sym typeface="Symbol" panose="05050102010706020507" pitchFamily="18" charset="2"/>
              </a:rPr>
              <a:t> =</a:t>
            </a:r>
            <a:r>
              <a:rPr lang="en-US" altLang="zh-TW" sz="2400"/>
              <a:t> 0.125</a:t>
            </a:r>
          </a:p>
        </p:txBody>
      </p:sp>
      <p:pic>
        <p:nvPicPr>
          <p:cNvPr id="133127" name="Picture 10" descr="underline_base">
            <a:extLst>
              <a:ext uri="{FF2B5EF4-FFF2-40B4-BE49-F238E27FC236}">
                <a16:creationId xmlns:a16="http://schemas.microsoft.com/office/drawing/2014/main" id="{78D84CB6-934C-4BA0-BC62-CDD08EEB8B87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947738"/>
            <a:ext cx="693578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6" name="Rectangle 11">
            <a:extLst>
              <a:ext uri="{FF2B5EF4-FFF2-40B4-BE49-F238E27FC236}">
                <a16:creationId xmlns:a16="http://schemas.microsoft.com/office/drawing/2014/main" id="{2E4CB516-EC94-46E0-ADA3-25FF29961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2925" y="233363"/>
            <a:ext cx="7772400" cy="92075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TCP round trip time, timeout</a:t>
            </a:r>
          </a:p>
        </p:txBody>
      </p:sp>
      <p:sp>
        <p:nvSpPr>
          <p:cNvPr id="133129" name="Text Box 18">
            <a:extLst>
              <a:ext uri="{FF2B5EF4-FFF2-40B4-BE49-F238E27FC236}">
                <a16:creationId xmlns:a16="http://schemas.microsoft.com/office/drawing/2014/main" id="{F599368F-7DF9-49EB-9E9A-9B07F987513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1531938" y="3535363"/>
            <a:ext cx="428625" cy="17478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Tahoma" panose="020B0604030504040204" pitchFamily="34" charset="0"/>
              </a:rPr>
              <a:t>RTT (milliseconds)</a:t>
            </a:r>
          </a:p>
        </p:txBody>
      </p:sp>
      <p:sp>
        <p:nvSpPr>
          <p:cNvPr id="133130" name="Text Box 19">
            <a:extLst>
              <a:ext uri="{FF2B5EF4-FFF2-40B4-BE49-F238E27FC236}">
                <a16:creationId xmlns:a16="http://schemas.microsoft.com/office/drawing/2014/main" id="{403724B7-2DEB-4A42-AB0F-9A3A7AA69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363" y="3168650"/>
            <a:ext cx="3867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RTT:</a:t>
            </a:r>
            <a:r>
              <a:rPr lang="en-US" altLang="zh-TW" sz="140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zh-TW" sz="1400">
                <a:latin typeface="Arial" panose="020B0604020202020204" pitchFamily="34" charset="0"/>
              </a:rPr>
              <a:t>gaia.cs.umass.edu</a:t>
            </a:r>
            <a:r>
              <a:rPr lang="en-US" altLang="zh-TW" sz="140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zh-TW" sz="1400">
                <a:latin typeface="Arial" panose="020B0604020202020204" pitchFamily="34" charset="0"/>
              </a:rPr>
              <a:t>to</a:t>
            </a:r>
            <a:r>
              <a:rPr lang="en-US" altLang="zh-TW" sz="140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zh-TW" sz="1400">
                <a:latin typeface="Arial" panose="020B0604020202020204" pitchFamily="34" charset="0"/>
              </a:rPr>
              <a:t>fantasia.eurecom.fr</a:t>
            </a:r>
          </a:p>
        </p:txBody>
      </p:sp>
      <p:sp>
        <p:nvSpPr>
          <p:cNvPr id="133131" name="Text Box 20">
            <a:extLst>
              <a:ext uri="{FF2B5EF4-FFF2-40B4-BE49-F238E27FC236}">
                <a16:creationId xmlns:a16="http://schemas.microsoft.com/office/drawing/2014/main" id="{1A2C12A1-B736-431E-B78A-F398F4C23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1413" y="5230813"/>
            <a:ext cx="11811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Tahoma" panose="020B0604030504040204" pitchFamily="34" charset="0"/>
              </a:rPr>
              <a:t>sampleRTT</a:t>
            </a:r>
          </a:p>
        </p:txBody>
      </p:sp>
      <p:sp>
        <p:nvSpPr>
          <p:cNvPr id="133132" name="Text Box 21">
            <a:extLst>
              <a:ext uri="{FF2B5EF4-FFF2-40B4-BE49-F238E27FC236}">
                <a16:creationId xmlns:a16="http://schemas.microsoft.com/office/drawing/2014/main" id="{2744FA1E-D4FF-41D6-B52B-318CC7A0B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063" y="5548313"/>
            <a:ext cx="1431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Tahoma" panose="020B0604030504040204" pitchFamily="34" charset="0"/>
              </a:rPr>
              <a:t>EstimatedRTT</a:t>
            </a:r>
          </a:p>
        </p:txBody>
      </p:sp>
      <p:sp>
        <p:nvSpPr>
          <p:cNvPr id="133133" name="AutoShape 22">
            <a:extLst>
              <a:ext uri="{FF2B5EF4-FFF2-40B4-BE49-F238E27FC236}">
                <a16:creationId xmlns:a16="http://schemas.microsoft.com/office/drawing/2014/main" id="{F0562565-6FC7-4654-9D5E-680B3263E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5343525"/>
            <a:ext cx="147637" cy="142875"/>
          </a:xfrm>
          <a:prstGeom prst="diamond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33134" name="AutoShape 23">
            <a:extLst>
              <a:ext uri="{FF2B5EF4-FFF2-40B4-BE49-F238E27FC236}">
                <a16:creationId xmlns:a16="http://schemas.microsoft.com/office/drawing/2014/main" id="{ABD44F15-797C-4CE7-A933-F660F6E3A7D7}"/>
              </a:ext>
            </a:extLst>
          </p:cNvPr>
          <p:cNvSpPr>
            <a:spLocks noChangeArrowheads="1"/>
          </p:cNvSpPr>
          <p:nvPr/>
        </p:nvSpPr>
        <p:spPr bwMode="auto">
          <a:xfrm rot="2776382">
            <a:off x="6011069" y="5633244"/>
            <a:ext cx="147637" cy="142875"/>
          </a:xfrm>
          <a:prstGeom prst="diamond">
            <a:avLst/>
          </a:prstGeom>
          <a:solidFill>
            <a:srgbClr val="FF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133135" name="Rectangle 24">
            <a:extLst>
              <a:ext uri="{FF2B5EF4-FFF2-40B4-BE49-F238E27FC236}">
                <a16:creationId xmlns:a16="http://schemas.microsoft.com/office/drawing/2014/main" id="{B4E03F7E-9606-42C1-A468-C1DBD0F2F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450" y="6389688"/>
            <a:ext cx="1863725" cy="468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grpSp>
        <p:nvGrpSpPr>
          <p:cNvPr id="133136" name="Group 15">
            <a:extLst>
              <a:ext uri="{FF2B5EF4-FFF2-40B4-BE49-F238E27FC236}">
                <a16:creationId xmlns:a16="http://schemas.microsoft.com/office/drawing/2014/main" id="{BE701AC4-CB93-44ED-8065-71FAE8FF12C4}"/>
              </a:ext>
            </a:extLst>
          </p:cNvPr>
          <p:cNvGrpSpPr>
            <a:grpSpLocks/>
          </p:cNvGrpSpPr>
          <p:nvPr/>
        </p:nvGrpSpPr>
        <p:grpSpPr bwMode="auto">
          <a:xfrm>
            <a:off x="4041775" y="6386513"/>
            <a:ext cx="1512888" cy="336550"/>
            <a:chOff x="2343" y="3645"/>
            <a:chExt cx="953" cy="212"/>
          </a:xfrm>
        </p:grpSpPr>
        <p:sp>
          <p:nvSpPr>
            <p:cNvPr id="133137" name="Rectangle 16">
              <a:extLst>
                <a:ext uri="{FF2B5EF4-FFF2-40B4-BE49-F238E27FC236}">
                  <a16:creationId xmlns:a16="http://schemas.microsoft.com/office/drawing/2014/main" id="{31BCD52A-0CF4-48C2-9CF7-BFDC1C58B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695"/>
              <a:ext cx="527" cy="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133138" name="Text Box 17">
              <a:extLst>
                <a:ext uri="{FF2B5EF4-FFF2-40B4-BE49-F238E27FC236}">
                  <a16:creationId xmlns:a16="http://schemas.microsoft.com/office/drawing/2014/main" id="{EDAA16A2-B661-4FF9-9B66-875046D7C5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3" y="3645"/>
              <a:ext cx="95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Tahoma" panose="020B0604030504040204" pitchFamily="34" charset="0"/>
                </a:rPr>
                <a:t>time (seconds)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Footer Placeholder 5">
            <a:extLst>
              <a:ext uri="{FF2B5EF4-FFF2-40B4-BE49-F238E27FC236}">
                <a16:creationId xmlns:a16="http://schemas.microsoft.com/office/drawing/2014/main" id="{0821CA9D-6983-4F83-8346-1CA26BBD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135171" name="Slide Number Placeholder 6">
            <a:extLst>
              <a:ext uri="{FF2B5EF4-FFF2-40B4-BE49-F238E27FC236}">
                <a16:creationId xmlns:a16="http://schemas.microsoft.com/office/drawing/2014/main" id="{FC732A4D-5194-490A-983C-D272E74A0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BB48BE9E-240E-45DC-AC02-2D5F8CB12749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35172" name="Rectangle 5">
            <a:extLst>
              <a:ext uri="{FF2B5EF4-FFF2-40B4-BE49-F238E27FC236}">
                <a16:creationId xmlns:a16="http://schemas.microsoft.com/office/drawing/2014/main" id="{FBD1B605-BA47-4F3B-A18C-912C22B729D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55625" y="1595438"/>
            <a:ext cx="7918450" cy="14954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dirty="0">
                <a:solidFill>
                  <a:srgbClr val="FF0000"/>
                </a:solidFill>
              </a:rPr>
              <a:t>timeout interval</a:t>
            </a:r>
            <a:r>
              <a:rPr lang="en-US" altLang="zh-TW" dirty="0"/>
              <a:t>:</a:t>
            </a:r>
            <a:r>
              <a:rPr lang="en-US" altLang="zh-TW" sz="2400" b="1" dirty="0">
                <a:latin typeface="Courier New" panose="02070309020205020404" pitchFamily="49" charset="0"/>
              </a:rPr>
              <a:t> </a:t>
            </a:r>
            <a:r>
              <a:rPr lang="en-US" altLang="zh-TW" sz="2400" b="1" dirty="0" err="1">
                <a:latin typeface="Courier New" panose="02070309020205020404" pitchFamily="49" charset="0"/>
              </a:rPr>
              <a:t>EstimatedRTT</a:t>
            </a:r>
            <a:r>
              <a:rPr lang="en-US" altLang="zh-TW" sz="2400" dirty="0"/>
              <a:t> plus </a:t>
            </a:r>
            <a:r>
              <a:rPr lang="ja-JP" altLang="en-US" sz="2400" dirty="0"/>
              <a:t>“</a:t>
            </a:r>
            <a:r>
              <a:rPr lang="en-US" altLang="ja-JP" sz="2400" dirty="0">
                <a:solidFill>
                  <a:srgbClr val="0070C0"/>
                </a:solidFill>
              </a:rPr>
              <a:t>safety margin</a:t>
            </a:r>
            <a:r>
              <a:rPr lang="ja-JP" altLang="en-US" sz="2400" dirty="0"/>
              <a:t>”</a:t>
            </a:r>
            <a:endParaRPr lang="en-US" altLang="ja-JP" sz="2400" dirty="0"/>
          </a:p>
          <a:p>
            <a:pPr lvl="1">
              <a:lnSpc>
                <a:spcPct val="90000"/>
              </a:lnSpc>
            </a:pPr>
            <a:r>
              <a:rPr lang="en-US" altLang="zh-TW" sz="2000" dirty="0"/>
              <a:t>large variation in </a:t>
            </a:r>
            <a:r>
              <a:rPr lang="en-US" altLang="zh-TW" sz="2000" b="1" dirty="0" err="1">
                <a:latin typeface="Courier New" panose="02070309020205020404" pitchFamily="49" charset="0"/>
              </a:rPr>
              <a:t>EstimatedRTT</a:t>
            </a:r>
            <a:r>
              <a:rPr lang="en-US" altLang="zh-TW" sz="2000" b="1" dirty="0">
                <a:latin typeface="Courier New" panose="02070309020205020404" pitchFamily="49" charset="0"/>
              </a:rPr>
              <a:t> -&gt;</a:t>
            </a:r>
            <a:r>
              <a:rPr lang="en-US" altLang="zh-TW" sz="2000" dirty="0"/>
              <a:t> larger safety margin</a:t>
            </a:r>
          </a:p>
          <a:p>
            <a:pPr>
              <a:lnSpc>
                <a:spcPct val="90000"/>
              </a:lnSpc>
              <a:spcBef>
                <a:spcPct val="35000"/>
              </a:spcBef>
            </a:pPr>
            <a:r>
              <a:rPr lang="en-US" altLang="zh-TW" sz="2400" dirty="0"/>
              <a:t>estimate </a:t>
            </a:r>
            <a:r>
              <a:rPr lang="en-US" altLang="zh-TW" sz="2400" dirty="0" err="1"/>
              <a:t>SampleRTT</a:t>
            </a:r>
            <a:r>
              <a:rPr lang="en-US" altLang="zh-TW" sz="2400" dirty="0"/>
              <a:t> deviation from </a:t>
            </a:r>
            <a:r>
              <a:rPr lang="en-US" altLang="zh-TW" sz="2400" dirty="0" err="1"/>
              <a:t>EstimatedRTT</a:t>
            </a:r>
            <a:r>
              <a:rPr lang="en-US" altLang="zh-TW" sz="2400" dirty="0"/>
              <a:t>: </a:t>
            </a:r>
          </a:p>
        </p:txBody>
      </p:sp>
      <p:sp>
        <p:nvSpPr>
          <p:cNvPr id="135173" name="Text Box 7">
            <a:extLst>
              <a:ext uri="{FF2B5EF4-FFF2-40B4-BE49-F238E27FC236}">
                <a16:creationId xmlns:a16="http://schemas.microsoft.com/office/drawing/2014/main" id="{D6C23E5A-243E-4B20-91AA-A308C0BFD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2871788"/>
            <a:ext cx="69754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dirty="0" err="1">
                <a:latin typeface="Courier New" panose="02070309020205020404" pitchFamily="49" charset="0"/>
              </a:rPr>
              <a:t>DevRTT</a:t>
            </a:r>
            <a:r>
              <a:rPr lang="en-US" altLang="zh-TW" sz="2000" b="1" dirty="0">
                <a:latin typeface="Courier New" panose="02070309020205020404" pitchFamily="49" charset="0"/>
              </a:rPr>
              <a:t> = (1-</a:t>
            </a:r>
            <a:r>
              <a:rPr lang="en-US" altLang="zh-TW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</a:t>
            </a:r>
            <a:r>
              <a:rPr lang="en-US" altLang="zh-TW" sz="2000" b="1" dirty="0">
                <a:latin typeface="Courier New" panose="02070309020205020404" pitchFamily="49" charset="0"/>
              </a:rPr>
              <a:t>)*</a:t>
            </a:r>
            <a:r>
              <a:rPr lang="en-US" altLang="zh-TW" sz="2000" b="1" dirty="0" err="1">
                <a:latin typeface="Courier New" panose="02070309020205020404" pitchFamily="49" charset="0"/>
              </a:rPr>
              <a:t>DevRTT</a:t>
            </a:r>
            <a:r>
              <a:rPr lang="en-US" altLang="zh-TW" sz="2000" b="1" dirty="0">
                <a:latin typeface="Courier New" panose="02070309020205020404" pitchFamily="49" charset="0"/>
              </a:rPr>
              <a:t> +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dirty="0">
                <a:latin typeface="Courier New" panose="02070309020205020404" pitchFamily="49" charset="0"/>
              </a:rPr>
              <a:t>             </a:t>
            </a:r>
            <a:r>
              <a:rPr lang="en-US" altLang="zh-TW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</a:t>
            </a:r>
            <a:r>
              <a:rPr lang="en-US" altLang="zh-TW" sz="2000" b="1" dirty="0">
                <a:latin typeface="Courier New" panose="02070309020205020404" pitchFamily="49" charset="0"/>
              </a:rPr>
              <a:t>*|</a:t>
            </a:r>
            <a:r>
              <a:rPr lang="en-US" altLang="zh-TW" sz="2000" b="1" dirty="0" err="1">
                <a:latin typeface="Courier New" panose="02070309020205020404" pitchFamily="49" charset="0"/>
              </a:rPr>
              <a:t>SampleRTT-EstimatedRTT</a:t>
            </a:r>
            <a:r>
              <a:rPr lang="en-US" altLang="zh-TW" sz="2000" b="1" dirty="0">
                <a:latin typeface="Courier New" panose="02070309020205020404" pitchFamily="49" charset="0"/>
              </a:rPr>
              <a:t>|</a:t>
            </a:r>
          </a:p>
        </p:txBody>
      </p:sp>
      <p:pic>
        <p:nvPicPr>
          <p:cNvPr id="135174" name="Picture 10" descr="underline_base">
            <a:extLst>
              <a:ext uri="{FF2B5EF4-FFF2-40B4-BE49-F238E27FC236}">
                <a16:creationId xmlns:a16="http://schemas.microsoft.com/office/drawing/2014/main" id="{EDBB1223-BDA5-4DFE-8AB7-CE671EDDB65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947738"/>
            <a:ext cx="693578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9" name="Rectangle 11">
            <a:extLst>
              <a:ext uri="{FF2B5EF4-FFF2-40B4-BE49-F238E27FC236}">
                <a16:creationId xmlns:a16="http://schemas.microsoft.com/office/drawing/2014/main" id="{487C99A2-E032-4987-A323-1B2345C59D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2925" y="233363"/>
            <a:ext cx="7772400" cy="92075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TCP round trip time, timeout</a:t>
            </a:r>
          </a:p>
        </p:txBody>
      </p:sp>
      <p:sp>
        <p:nvSpPr>
          <p:cNvPr id="135176" name="Text Box 12">
            <a:extLst>
              <a:ext uri="{FF2B5EF4-FFF2-40B4-BE49-F238E27FC236}">
                <a16:creationId xmlns:a16="http://schemas.microsoft.com/office/drawing/2014/main" id="{78F7833C-BF9B-4792-B6F7-CA62AF6E0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4513" y="3592513"/>
            <a:ext cx="3386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dirty="0">
                <a:latin typeface="Courier New" panose="02070309020205020404" pitchFamily="49" charset="0"/>
              </a:rPr>
              <a:t>(typically, </a:t>
            </a:r>
            <a:r>
              <a:rPr lang="en-US" altLang="zh-TW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 = 0.25)</a:t>
            </a:r>
          </a:p>
        </p:txBody>
      </p:sp>
      <p:sp>
        <p:nvSpPr>
          <p:cNvPr id="135177" name="Rectangle 13">
            <a:extLst>
              <a:ext uri="{FF2B5EF4-FFF2-40B4-BE49-F238E27FC236}">
                <a16:creationId xmlns:a16="http://schemas.microsoft.com/office/drawing/2014/main" id="{C3D513B4-D8C7-4EA1-8B44-90D57B760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" y="4368800"/>
            <a:ext cx="791845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 dirty="0" err="1">
                <a:latin typeface="Courier New" panose="02070309020205020404" pitchFamily="49" charset="0"/>
              </a:rPr>
              <a:t>TimeoutInterval</a:t>
            </a:r>
            <a:r>
              <a:rPr lang="en-US" altLang="zh-TW" sz="2400" b="1" dirty="0">
                <a:latin typeface="Courier New" panose="02070309020205020404" pitchFamily="49" charset="0"/>
              </a:rPr>
              <a:t> = </a:t>
            </a:r>
            <a:r>
              <a:rPr lang="en-US" altLang="zh-TW" sz="2400" b="1" dirty="0" err="1">
                <a:latin typeface="Courier New" panose="02070309020205020404" pitchFamily="49" charset="0"/>
              </a:rPr>
              <a:t>EstimatedRTT</a:t>
            </a:r>
            <a:r>
              <a:rPr lang="en-US" altLang="zh-TW" sz="2400" b="1" dirty="0">
                <a:latin typeface="Courier New" panose="02070309020205020404" pitchFamily="49" charset="0"/>
              </a:rPr>
              <a:t> + 4*</a:t>
            </a:r>
            <a:r>
              <a:rPr lang="en-US" altLang="zh-TW" sz="2400" b="1" dirty="0" err="1">
                <a:latin typeface="Courier New" panose="02070309020205020404" pitchFamily="49" charset="0"/>
              </a:rPr>
              <a:t>DevRTT</a:t>
            </a:r>
            <a:endParaRPr lang="en-US" altLang="zh-TW" sz="2400" b="1" dirty="0">
              <a:latin typeface="Courier New" panose="02070309020205020404" pitchFamily="49" charset="0"/>
            </a:endParaRPr>
          </a:p>
        </p:txBody>
      </p:sp>
      <p:sp>
        <p:nvSpPr>
          <p:cNvPr id="135178" name="Text Box 14">
            <a:extLst>
              <a:ext uri="{FF2B5EF4-FFF2-40B4-BE49-F238E27FC236}">
                <a16:creationId xmlns:a16="http://schemas.microsoft.com/office/drawing/2014/main" id="{D04C7E95-68AB-4A12-9C15-AF463ED82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0025" y="5122863"/>
            <a:ext cx="1811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99"/>
                </a:solidFill>
                <a:latin typeface="Tahoma" panose="020B0604030504040204" pitchFamily="34" charset="0"/>
              </a:rPr>
              <a:t>estimated RTT</a:t>
            </a:r>
          </a:p>
        </p:txBody>
      </p:sp>
      <p:sp>
        <p:nvSpPr>
          <p:cNvPr id="135179" name="Text Box 16">
            <a:extLst>
              <a:ext uri="{FF2B5EF4-FFF2-40B4-BE49-F238E27FC236}">
                <a16:creationId xmlns:a16="http://schemas.microsoft.com/office/drawing/2014/main" id="{5357709D-7402-4FB6-8275-1377DEF3B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075" y="5141913"/>
            <a:ext cx="1917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ja-JP" altLang="en-US" sz="2000">
                <a:solidFill>
                  <a:srgbClr val="000099"/>
                </a:solidFill>
                <a:latin typeface="Tahoma" panose="020B0604030504040204" pitchFamily="34" charset="0"/>
              </a:rPr>
              <a:t>“</a:t>
            </a:r>
            <a:r>
              <a:rPr lang="en-US" altLang="ja-JP" sz="2000">
                <a:solidFill>
                  <a:srgbClr val="000099"/>
                </a:solidFill>
                <a:latin typeface="Tahoma" panose="020B0604030504040204" pitchFamily="34" charset="0"/>
              </a:rPr>
              <a:t>safety margin</a:t>
            </a:r>
            <a:r>
              <a:rPr lang="ja-JP" altLang="en-US" sz="2000">
                <a:solidFill>
                  <a:srgbClr val="000099"/>
                </a:solidFill>
                <a:latin typeface="Tahoma" panose="020B0604030504040204" pitchFamily="34" charset="0"/>
              </a:rPr>
              <a:t>”</a:t>
            </a:r>
            <a:endParaRPr lang="en-US" altLang="zh-TW" sz="2000">
              <a:solidFill>
                <a:srgbClr val="000099"/>
              </a:solidFill>
              <a:latin typeface="Tahoma" panose="020B0604030504040204" pitchFamily="34" charset="0"/>
            </a:endParaRPr>
          </a:p>
        </p:txBody>
      </p:sp>
      <p:sp>
        <p:nvSpPr>
          <p:cNvPr id="135180" name="Line 17">
            <a:extLst>
              <a:ext uri="{FF2B5EF4-FFF2-40B4-BE49-F238E27FC236}">
                <a16:creationId xmlns:a16="http://schemas.microsoft.com/office/drawing/2014/main" id="{20E2526F-E16A-47F0-9A6D-56B07B3FD5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6950" y="4762500"/>
            <a:ext cx="0" cy="446088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135181" name="Line 19">
            <a:extLst>
              <a:ext uri="{FF2B5EF4-FFF2-40B4-BE49-F238E27FC236}">
                <a16:creationId xmlns:a16="http://schemas.microsoft.com/office/drawing/2014/main" id="{0B10B3B6-EF18-46DB-BDC9-139701D728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78700" y="4768850"/>
            <a:ext cx="0" cy="446088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pic>
        <p:nvPicPr>
          <p:cNvPr id="135182" name="Picture 20" descr="alarm_clock_ringing">
            <a:extLst>
              <a:ext uri="{FF2B5EF4-FFF2-40B4-BE49-F238E27FC236}">
                <a16:creationId xmlns:a16="http://schemas.microsoft.com/office/drawing/2014/main" id="{BFA8C3B2-04AC-4667-BCA4-65C708C0D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163" y="4773613"/>
            <a:ext cx="75247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3" grpId="0"/>
      <p:bldP spid="135176" grpId="0"/>
      <p:bldP spid="135177" grpId="0"/>
      <p:bldP spid="135178" grpId="0"/>
      <p:bldP spid="135179" grpId="0"/>
      <p:bldP spid="135180" grpId="0" animBg="1"/>
      <p:bldP spid="135181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27569</TotalTime>
  <Words>2270</Words>
  <Application>Microsoft Office PowerPoint</Application>
  <PresentationFormat>如螢幕大小 (4:3)</PresentationFormat>
  <Paragraphs>478</Paragraphs>
  <Slides>26</Slides>
  <Notes>26</Notes>
  <HiddenSlides>0</HiddenSlides>
  <MMClips>0</MMClips>
  <ScaleCrop>false</ScaleCrop>
  <HeadingPairs>
    <vt:vector size="8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8" baseType="lpstr">
      <vt:lpstr>ＭＳ Ｐゴシック</vt:lpstr>
      <vt:lpstr>Arial</vt:lpstr>
      <vt:lpstr>Arial Narrow</vt:lpstr>
      <vt:lpstr>Comic Sans MS</vt:lpstr>
      <vt:lpstr>Courier New</vt:lpstr>
      <vt:lpstr>Gill Sans MT</vt:lpstr>
      <vt:lpstr>Symbol</vt:lpstr>
      <vt:lpstr>Tahoma</vt:lpstr>
      <vt:lpstr>Times New Roman</vt:lpstr>
      <vt:lpstr>Wingdings</vt:lpstr>
      <vt:lpstr>Default Design</vt:lpstr>
      <vt:lpstr>Picture</vt:lpstr>
      <vt:lpstr>Performance of rdt3.0</vt:lpstr>
      <vt:lpstr>rdt3.0: stop-and-wait operation</vt:lpstr>
      <vt:lpstr>Pipelined protocols</vt:lpstr>
      <vt:lpstr>Pipelining: increased utilization</vt:lpstr>
      <vt:lpstr>Pipelined Protocols</vt:lpstr>
      <vt:lpstr>Pipelined protocols: overview</vt:lpstr>
      <vt:lpstr>Go-Back-N: sender</vt:lpstr>
      <vt:lpstr>GBN: sender extended FSM</vt:lpstr>
      <vt:lpstr>GBN: receiver extended FSM</vt:lpstr>
      <vt:lpstr>GBN: receiver extended FSM (cont’d)</vt:lpstr>
      <vt:lpstr>GBN in action</vt:lpstr>
      <vt:lpstr>Selective repeat</vt:lpstr>
      <vt:lpstr>Selective repeat: sender, receiver windows</vt:lpstr>
      <vt:lpstr>Selective repeat</vt:lpstr>
      <vt:lpstr>Selective repeat in action</vt:lpstr>
      <vt:lpstr>Chapter 3 outline</vt:lpstr>
      <vt:lpstr>TCP: Overview  RFCs: 793,1122,1323, 2018, 2581</vt:lpstr>
      <vt:lpstr>TCP segment structure</vt:lpstr>
      <vt:lpstr>TCP seq. numbers</vt:lpstr>
      <vt:lpstr>TCP ACKs</vt:lpstr>
      <vt:lpstr>TCP seq. numbers</vt:lpstr>
      <vt:lpstr>TCP seq. numbers, ACKs</vt:lpstr>
      <vt:lpstr>TCP seq. numbers, ACKs</vt:lpstr>
      <vt:lpstr>TCP round trip time, timeout</vt:lpstr>
      <vt:lpstr>TCP round trip time, timeout</vt:lpstr>
      <vt:lpstr>TCP round trip time, timeout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3</dc:title>
  <dc:creator>Jim Kurose &amp; Keith Ross</dc:creator>
  <cp:lastModifiedBy>Prof. CHEUNG Man Hon Michael</cp:lastModifiedBy>
  <cp:revision>592</cp:revision>
  <cp:lastPrinted>2018-02-09T10:25:28Z</cp:lastPrinted>
  <dcterms:created xsi:type="dcterms:W3CDTF">1999-10-08T19:08:27Z</dcterms:created>
  <dcterms:modified xsi:type="dcterms:W3CDTF">2026-10-02T10:24:23Z</dcterms:modified>
</cp:coreProperties>
</file>