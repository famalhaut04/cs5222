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2" r:id="rId2"/>
    <p:sldMasterId id="2147483725" r:id="rId3"/>
  </p:sldMasterIdLst>
  <p:notesMasterIdLst>
    <p:notesMasterId r:id="rId17"/>
  </p:notesMasterIdLst>
  <p:sldIdLst>
    <p:sldId id="275" r:id="rId4"/>
    <p:sldId id="276" r:id="rId5"/>
    <p:sldId id="277" r:id="rId6"/>
    <p:sldId id="278" r:id="rId7"/>
    <p:sldId id="279" r:id="rId8"/>
    <p:sldId id="261" r:id="rId9"/>
    <p:sldId id="280" r:id="rId10"/>
    <p:sldId id="281" r:id="rId11"/>
    <p:sldId id="282" r:id="rId12"/>
    <p:sldId id="331" r:id="rId13"/>
    <p:sldId id="309" r:id="rId14"/>
    <p:sldId id="283" r:id="rId15"/>
    <p:sldId id="33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7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E5CF6-1A3A-406F-8784-7F2452053FF3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1E38D-4C9A-47DC-A572-2AE2F7B17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58C40B2-23B5-E44C-9DF8-24FCDCCEF5B7}" type="slidenum">
              <a:rPr lang="en-US" sz="1200">
                <a:solidFill>
                  <a:srgbClr val="000000"/>
                </a:solidFill>
                <a:latin typeface="Times New Roman" charset="0"/>
              </a:rPr>
              <a:pPr/>
              <a:t>1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997ECE-835D-4D4A-BDE1-EB410753AE71}" type="slidenum">
              <a:rPr lang="en-US" sz="1200">
                <a:solidFill>
                  <a:srgbClr val="000000"/>
                </a:solidFill>
                <a:latin typeface="Times New Roman" charset="0"/>
              </a:rPr>
              <a:pPr/>
              <a:t>2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0" tIns="45711" rIns="91420" bIns="45711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449A997F-0DC7-9649-B2C9-FC74BE2094BC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FE242F2-7269-BB40-ABC7-DD2AB78054C9}" type="slidenum">
              <a:rPr lang="en-US" sz="1200">
                <a:solidFill>
                  <a:prstClr val="black"/>
                </a:solidFill>
                <a:latin typeface="Times New Roman" charset="0"/>
              </a:rPr>
              <a:pPr/>
              <a:t>4</a:t>
            </a:fld>
            <a:endParaRPr lang="en-US" sz="120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EC355BFC-8754-4F76-82C8-584115B07D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B5FDEE-97EE-489B-964E-388B13C9A9A0}" type="slidenum">
              <a:rPr kumimoji="0" lang="en-US" altLang="zh-TW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F4E3BB7-0E26-49F2-BA3E-DD5104E2F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C5FB7C39-5CF1-460D-A3F0-136DCDAD3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43DA0B35-F71F-4EE7-80D7-F7C1AE82E9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553E4-7E71-4CE0-ADFE-4E671B1C9280}" type="slidenum">
              <a:rPr kumimoji="0" lang="en-US" altLang="zh-TW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TW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D7AA5ED2-C782-4212-9AEF-1B780234C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CC3DE022-8589-4334-A8EF-AE2CFA83C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039390-8BF0-E244-A004-BA5E28CCC666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999AC0D0-8E87-9C49-AD70-E63D998C7A3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1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186EE-14CE-4A41-905A-8B5B22155710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F78779D5-100F-3748-BE92-C9FDAFA1542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33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3BD3E-F8D9-E547-834F-516CB04359DD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73FE9BD9-0039-6849-8F51-2C4AF1D0330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5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DEB36E-47F9-7345-81C1-6D8CFFABACB4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1C82E534-FD6E-094E-9058-78918FF9205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634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782F9A-76C5-8E4B-8DE5-4BEDBA857C56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47A26073-5391-0549-A8E2-4238968B8BD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27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F1E187-5AF5-924C-92EA-9D8A18CFF2E8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BF189D3B-26A5-7C48-939C-A35DAD28587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12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533690-E6EB-C64C-85A0-4C512538B7C9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1-</a:t>
            </a:r>
            <a:fld id="{6CEF7C0F-E083-4A46-8AD1-6B63878F48A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4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8E0236-CE24-9F45-AA06-9B21027B5187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1-</a:t>
            </a:r>
            <a:fld id="{0EFF0819-9091-2346-A61B-CB5B6531409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912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C1B90-1FFD-2748-8763-37FF3F20C62F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29EDD985-F68B-1744-94E7-27FA40108AB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590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DCAD01-2BEB-7C43-883D-449F31DCA464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1-</a:t>
            </a:r>
            <a:fld id="{45FCE216-A306-C84A-87E0-37658CFF2DD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50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567E34-B563-8A45-8E5A-EA46E29E6DFA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1-</a:t>
            </a:r>
            <a:fld id="{89D951E9-C448-334A-ACF6-BC93BC15D3C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823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06E1F4-5E2B-7243-98AB-FF2B498FC622}" type="datetime1">
              <a:rPr lang="en-US">
                <a:solidFill>
                  <a:srgbClr val="000000"/>
                </a:solidFill>
              </a:rPr>
              <a:pPr/>
              <a:t>9/13/2021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1</a:t>
            </a:r>
            <a:fld id="{94CC8A55-2977-894D-87FE-CBA84F36D3B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1743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50EBED-A73B-470E-A80F-7CEBEA107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CAFEF-1355-4A4A-9E0C-FF86C0F89753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39A1B-C188-41DE-8E96-0E1DE51F2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9943F7-834D-4991-9279-BE12E06C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6AF30A9E-9ADB-4E71-8364-E2F29982ADC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60874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3AFEA-FC29-4176-A3E0-37F7CDD0D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49296-F519-4E92-BF44-ED41CCDAF8D4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6E9598-0776-4A4E-BA9D-556667B6C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3FCAAD-628A-4FC5-A5EF-60D6DDB56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FC0AB51-971B-4C57-858E-470AFD35CE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9737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ACB0F-5019-41B4-8765-08D07E2D4B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94C33-C194-42AF-89C2-9B8DC202C98B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98C73F-FF6D-430D-8B1A-380E6E50C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00C742-BE5B-455B-9D7B-13F602F6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F969CE4-1684-4EBF-9C79-8CC4BBE2479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56385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D2238-BAF6-4169-8F8C-2ACDA2E80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196FA-28C5-4D04-8661-228FF11F1DAF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09346-F847-4022-94A4-3C4A24007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CDE07-F350-48D6-BE39-BC3A71BC3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5F157DF-64D4-45B4-8E7A-0F06D4F1DE3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72028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08202C-4302-4E07-B5AD-4916270D3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E3317-EB85-4043-87D9-3FB989809272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6648E1-98AD-447C-9951-E29461084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84FAB3-5FAF-4DFA-95E7-EE3E85983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DE7051D-633B-45AD-849D-7646664D664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46904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990D9F6-B962-489D-8452-4015D7FA5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0A3E-847E-443B-B5EE-8BF99A08DAB6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8DC649-E361-485A-BE98-A61FC5906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908FE8-3BFB-49BD-80E2-66F389151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DE93DD7-90A1-426C-9B32-A7E6CDD6DE2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02323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573F2-D09B-4859-8CDE-97C19A7B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0ADB0-13A5-4AB6-886C-6BF2A9D4030E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DE23E-C7C3-4D26-8FC6-62C11381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CDD8-8878-4E73-9F15-DFE87C6C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606A24FC-C676-45DE-88ED-E7F5C9538BE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23658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98DE-BA26-4DBE-8A36-1B991B0C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BCEDF-EC53-46F7-B3A0-C20E2D417269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7D251-B1E1-4D99-B9E0-63BBDE4F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0E722-AC38-4D88-8811-A4612FCB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581B5D01-AC3F-43AD-A122-610BD5C4399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13578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14EA-ADFF-42D0-971F-2E3407753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89ECB-B166-49FD-B84B-2087B7410610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CD1D6-B60D-40CB-98CE-943537A993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E5A22-7EB0-40D9-851A-B9C4E2684B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6489120-B757-4AC5-93AB-23876975F92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39198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0E93A-1435-48DA-8470-D87A93CE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804D7-736D-46C4-88F1-A92F53CFB679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4009-9ABF-4084-9407-97089A87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1FD0-C6A1-40AF-9CBE-94BC9546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A1FF0331-65F9-431E-B22B-EE08E3174B8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13679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7494-F101-4530-9BB7-E347F97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C48E8-12BE-425E-BB31-E8345E422FAE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8559-17B3-43F5-AF51-624862F9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2C2E-17B6-4826-A482-6EDDD355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BAF5C245-C97C-47ED-8140-F641D0C51B6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04342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BC892D-54A7-4CB5-B678-EEF40257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77093-EDEC-4D0A-A6B6-A9684B4FDA62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47D3E-58C2-46B9-8553-18CA3493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6D632-3DB8-4C23-A4A6-4C18844A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</a:t>
            </a:r>
            <a:fld id="{1797E1E5-C2C9-435F-8BC2-F5AED8AB529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171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BC966BB-0129-364C-A742-787328DE899E}" type="datetime1">
              <a:rPr lang="en-US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9/13/2021</a:t>
            </a:fld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cs typeface="Arial"/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2-</a:t>
            </a:r>
            <a:fld id="{82E6A2B8-E49C-724D-84C2-04300636E94D}" type="slidenum">
              <a:rPr lang="en-US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9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charset="0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6D8DBE-C4AB-4F52-A486-1C17C6F98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4A306C-D054-4CF4-ACC8-ADA2E6943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5E9DE-D4B4-44EB-853F-DF13C29158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AB2B02-054A-4F50-AC18-38FBD3E0E221}" type="datetime1">
              <a:rPr lang="en-US" altLang="zh-TW"/>
              <a:pPr>
                <a:defRPr/>
              </a:pPr>
              <a:t>9/13/2021</a:t>
            </a:fld>
            <a:endParaRPr lang="en-US" altLang="zh-TW" dirty="0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E890FB6-7C0B-477F-818F-8788F6AE91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0A8C595B-FFBD-4B1D-9A85-215BA4E716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C574B9E9-E960-4101-A82A-BA6429D2628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701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Introduction</a:t>
            </a:r>
          </a:p>
        </p:txBody>
      </p:sp>
      <p:pic>
        <p:nvPicPr>
          <p:cNvPr id="74755" name="Picture 6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863600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80963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Gill Sans MT" charset="0"/>
                <a:cs typeface="Arial" charset="0"/>
              </a:rPr>
              <a:t>How do loss and delay occur?</a:t>
            </a:r>
            <a:endParaRPr lang="en-US" sz="4800">
              <a:latin typeface="Gill Sans MT" charset="0"/>
              <a:cs typeface="Arial" charset="0"/>
            </a:endParaRP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1371600"/>
            <a:ext cx="8564562" cy="211455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>
                <a:latin typeface="Gill Sans MT" charset="0"/>
                <a:cs typeface="Arial" charset="0"/>
              </a:rPr>
              <a:t>packets </a:t>
            </a:r>
            <a:r>
              <a:rPr lang="en-US" i="1">
                <a:latin typeface="Gill Sans MT" charset="0"/>
                <a:cs typeface="Arial" charset="0"/>
              </a:rPr>
              <a:t>queue</a:t>
            </a:r>
            <a:r>
              <a:rPr lang="en-US">
                <a:latin typeface="Gill Sans MT" charset="0"/>
                <a:cs typeface="Arial" charset="0"/>
              </a:rPr>
              <a:t> in router buffers</a:t>
            </a:r>
            <a:r>
              <a:rPr lang="en-US" sz="2400">
                <a:latin typeface="Gill Sans MT" charset="0"/>
                <a:cs typeface="Arial" charset="0"/>
              </a:rPr>
              <a:t> </a:t>
            </a:r>
          </a:p>
          <a:p>
            <a:pPr eaLnBrk="1" hangingPunct="1">
              <a:buSzPct val="75000"/>
            </a:pPr>
            <a:r>
              <a:rPr lang="en-US" sz="2400">
                <a:solidFill>
                  <a:srgbClr val="CC0000"/>
                </a:solidFill>
                <a:latin typeface="Gill Sans MT" charset="0"/>
                <a:cs typeface="Arial" charset="0"/>
              </a:rPr>
              <a:t>packet arrival rate to link (temporarily) exceeds output link capacity</a:t>
            </a:r>
          </a:p>
          <a:p>
            <a:pPr eaLnBrk="1" hangingPunct="1">
              <a:buSzPct val="75000"/>
            </a:pPr>
            <a:r>
              <a:rPr lang="en-US" sz="2400">
                <a:latin typeface="Gill Sans MT" charset="0"/>
                <a:cs typeface="Arial" charset="0"/>
              </a:rPr>
              <a:t>packets queue, wait for turn</a:t>
            </a:r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auto">
          <a:xfrm>
            <a:off x="2339975" y="461486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2339975" y="4546600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0" name="Oval 8"/>
          <p:cNvSpPr>
            <a:spLocks noChangeArrowheads="1"/>
          </p:cNvSpPr>
          <p:nvPr/>
        </p:nvSpPr>
        <p:spPr bwMode="auto">
          <a:xfrm>
            <a:off x="2349500" y="4318000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4761" name="Group 9"/>
          <p:cNvGrpSpPr>
            <a:grpSpLocks/>
          </p:cNvGrpSpPr>
          <p:nvPr/>
        </p:nvGrpSpPr>
        <p:grpSpPr bwMode="auto">
          <a:xfrm>
            <a:off x="2695575" y="4348163"/>
            <a:ext cx="498475" cy="119062"/>
            <a:chOff x="2208" y="2184"/>
            <a:chExt cx="176" cy="69"/>
          </a:xfrm>
        </p:grpSpPr>
        <p:grpSp>
          <p:nvGrpSpPr>
            <p:cNvPr id="74808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4813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14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15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4809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4810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11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12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4762" name="Oval 18"/>
          <p:cNvSpPr>
            <a:spLocks noChangeArrowheads="1"/>
          </p:cNvSpPr>
          <p:nvPr/>
        </p:nvSpPr>
        <p:spPr bwMode="auto">
          <a:xfrm>
            <a:off x="5435600" y="463391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3" name="Line 19"/>
          <p:cNvSpPr>
            <a:spLocks noChangeShapeType="1"/>
          </p:cNvSpPr>
          <p:nvPr/>
        </p:nvSpPr>
        <p:spPr bwMode="auto">
          <a:xfrm>
            <a:off x="5445125" y="4613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4" name="Rectangle 20"/>
          <p:cNvSpPr>
            <a:spLocks noChangeArrowheads="1"/>
          </p:cNvSpPr>
          <p:nvPr/>
        </p:nvSpPr>
        <p:spPr bwMode="auto">
          <a:xfrm>
            <a:off x="5445125" y="4575175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5" name="Oval 21"/>
          <p:cNvSpPr>
            <a:spLocks noChangeArrowheads="1"/>
          </p:cNvSpPr>
          <p:nvPr/>
        </p:nvSpPr>
        <p:spPr bwMode="auto">
          <a:xfrm>
            <a:off x="5454650" y="4346575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6" name="Line 24"/>
          <p:cNvSpPr>
            <a:spLocks noChangeShapeType="1"/>
          </p:cNvSpPr>
          <p:nvPr/>
        </p:nvSpPr>
        <p:spPr bwMode="auto">
          <a:xfrm>
            <a:off x="1609725" y="4252913"/>
            <a:ext cx="735013" cy="365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7" name="Line 25"/>
          <p:cNvSpPr>
            <a:spLocks noChangeShapeType="1"/>
          </p:cNvSpPr>
          <p:nvPr/>
        </p:nvSpPr>
        <p:spPr bwMode="auto">
          <a:xfrm flipV="1">
            <a:off x="1812925" y="4786313"/>
            <a:ext cx="528638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8" name="Line 26"/>
          <p:cNvSpPr>
            <a:spLocks noChangeShapeType="1"/>
          </p:cNvSpPr>
          <p:nvPr/>
        </p:nvSpPr>
        <p:spPr bwMode="auto">
          <a:xfrm>
            <a:off x="3533775" y="4672013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69" name="Rectangle 40"/>
          <p:cNvSpPr>
            <a:spLocks noChangeArrowheads="1"/>
          </p:cNvSpPr>
          <p:nvPr/>
        </p:nvSpPr>
        <p:spPr bwMode="auto">
          <a:xfrm>
            <a:off x="3200400" y="454342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70" name="Rectangle 41"/>
          <p:cNvSpPr>
            <a:spLocks noChangeArrowheads="1"/>
          </p:cNvSpPr>
          <p:nvPr/>
        </p:nvSpPr>
        <p:spPr bwMode="auto">
          <a:xfrm>
            <a:off x="3362325" y="454342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71" name="Rectangle 42"/>
          <p:cNvSpPr>
            <a:spLocks noChangeArrowheads="1"/>
          </p:cNvSpPr>
          <p:nvPr/>
        </p:nvSpPr>
        <p:spPr bwMode="auto">
          <a:xfrm>
            <a:off x="2341563" y="47228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72" name="Line 44"/>
          <p:cNvSpPr>
            <a:spLocks noChangeShapeType="1"/>
          </p:cNvSpPr>
          <p:nvPr/>
        </p:nvSpPr>
        <p:spPr bwMode="auto">
          <a:xfrm>
            <a:off x="2354263" y="4673600"/>
            <a:ext cx="2428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73" name="Line 45"/>
          <p:cNvSpPr>
            <a:spLocks noChangeShapeType="1"/>
          </p:cNvSpPr>
          <p:nvPr/>
        </p:nvSpPr>
        <p:spPr bwMode="auto">
          <a:xfrm flipV="1">
            <a:off x="2112963" y="5016500"/>
            <a:ext cx="117475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74" name="Text Box 47"/>
          <p:cNvSpPr txBox="1">
            <a:spLocks noChangeArrowheads="1"/>
          </p:cNvSpPr>
          <p:nvPr/>
        </p:nvSpPr>
        <p:spPr bwMode="auto">
          <a:xfrm>
            <a:off x="776288" y="38481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74775" name="Text Box 48"/>
          <p:cNvSpPr txBox="1">
            <a:spLocks noChangeArrowheads="1"/>
          </p:cNvSpPr>
          <p:nvPr/>
        </p:nvSpPr>
        <p:spPr bwMode="auto">
          <a:xfrm>
            <a:off x="1052513" y="48339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74776" name="Rectangle 63"/>
          <p:cNvSpPr>
            <a:spLocks noChangeArrowheads="1"/>
          </p:cNvSpPr>
          <p:nvPr/>
        </p:nvSpPr>
        <p:spPr bwMode="auto">
          <a:xfrm>
            <a:off x="3490913" y="44815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3621088" y="2982913"/>
            <a:ext cx="3979862" cy="1454150"/>
            <a:chOff x="2259" y="2090"/>
            <a:chExt cx="2507" cy="916"/>
          </a:xfrm>
        </p:grpSpPr>
        <p:sp>
          <p:nvSpPr>
            <p:cNvPr id="74806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2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solidFill>
                    <a:srgbClr val="000000"/>
                  </a:solidFill>
                </a:rPr>
                <a:t>packet being transmitted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74807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3338513" y="4802188"/>
            <a:ext cx="3414712" cy="804862"/>
            <a:chOff x="2103" y="3214"/>
            <a:chExt cx="2151" cy="507"/>
          </a:xfrm>
        </p:grpSpPr>
        <p:sp>
          <p:nvSpPr>
            <p:cNvPr id="74804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17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solidFill>
                    <a:srgbClr val="000000"/>
                  </a:solidFill>
                </a:rPr>
                <a:t>packets queueing</a:t>
              </a:r>
              <a:r>
                <a:rPr lang="en-US" sz="1800">
                  <a:solidFill>
                    <a:srgbClr val="FF0000"/>
                  </a:solidFill>
                </a:rPr>
                <a:t>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74805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4779" name="Group 74"/>
          <p:cNvGrpSpPr>
            <a:grpSpLocks/>
          </p:cNvGrpSpPr>
          <p:nvPr/>
        </p:nvGrpSpPr>
        <p:grpSpPr bwMode="auto">
          <a:xfrm>
            <a:off x="5781675" y="4405313"/>
            <a:ext cx="498475" cy="119062"/>
            <a:chOff x="2208" y="2184"/>
            <a:chExt cx="176" cy="69"/>
          </a:xfrm>
        </p:grpSpPr>
        <p:grpSp>
          <p:nvGrpSpPr>
            <p:cNvPr id="74796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4801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02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03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4797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4798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799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4800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4780" name="Rectangle 84"/>
          <p:cNvSpPr>
            <a:spLocks noChangeArrowheads="1"/>
          </p:cNvSpPr>
          <p:nvPr/>
        </p:nvSpPr>
        <p:spPr bwMode="auto">
          <a:xfrm>
            <a:off x="1719263" y="40798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81" name="Line 85"/>
          <p:cNvSpPr>
            <a:spLocks noChangeShapeType="1"/>
          </p:cNvSpPr>
          <p:nvPr/>
        </p:nvSpPr>
        <p:spPr bwMode="auto">
          <a:xfrm>
            <a:off x="1898650" y="4265613"/>
            <a:ext cx="212725" cy="10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82" name="Rectangle 86"/>
          <p:cNvSpPr>
            <a:spLocks noChangeArrowheads="1"/>
          </p:cNvSpPr>
          <p:nvPr/>
        </p:nvSpPr>
        <p:spPr bwMode="auto">
          <a:xfrm>
            <a:off x="1968500" y="51593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83" name="Rectangle 88"/>
          <p:cNvSpPr>
            <a:spLocks noChangeArrowheads="1"/>
          </p:cNvSpPr>
          <p:nvPr/>
        </p:nvSpPr>
        <p:spPr bwMode="auto">
          <a:xfrm>
            <a:off x="30607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84" name="Rectangle 89"/>
          <p:cNvSpPr>
            <a:spLocks noChangeArrowheads="1"/>
          </p:cNvSpPr>
          <p:nvPr/>
        </p:nvSpPr>
        <p:spPr bwMode="auto">
          <a:xfrm>
            <a:off x="29210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85" name="Rectangle 90"/>
          <p:cNvSpPr>
            <a:spLocks noChangeArrowheads="1"/>
          </p:cNvSpPr>
          <p:nvPr/>
        </p:nvSpPr>
        <p:spPr bwMode="auto">
          <a:xfrm>
            <a:off x="27813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2517775" y="4764088"/>
            <a:ext cx="4248150" cy="1511300"/>
            <a:chOff x="1586" y="3190"/>
            <a:chExt cx="2676" cy="952"/>
          </a:xfrm>
        </p:grpSpPr>
        <p:sp>
          <p:nvSpPr>
            <p:cNvPr id="74794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4795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6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solidFill>
                    <a:srgbClr val="000000"/>
                  </a:solidFill>
                </a:rPr>
                <a:t>free (available) buffers: arriving packets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solidFill>
                    <a:srgbClr val="000000"/>
                  </a:solidFill>
                </a:rPr>
                <a:t>dropped (</a:t>
              </a:r>
              <a:r>
                <a:rPr lang="en-US" sz="1800">
                  <a:solidFill>
                    <a:srgbClr val="CC0000"/>
                  </a:solidFill>
                </a:rPr>
                <a:t>loss</a:t>
              </a:r>
              <a:r>
                <a:rPr lang="en-US" sz="1800">
                  <a:solidFill>
                    <a:srgbClr val="000000"/>
                  </a:solidFill>
                </a:rPr>
                <a:t>) if no free buffers</a:t>
              </a:r>
            </a:p>
          </p:txBody>
        </p:sp>
      </p:grpSp>
      <p:grpSp>
        <p:nvGrpSpPr>
          <p:cNvPr id="74787" name="Group 64"/>
          <p:cNvGrpSpPr>
            <a:grpSpLocks/>
          </p:cNvGrpSpPr>
          <p:nvPr/>
        </p:nvGrpSpPr>
        <p:grpSpPr bwMode="auto">
          <a:xfrm>
            <a:off x="898525" y="3873500"/>
            <a:ext cx="779463" cy="679450"/>
            <a:chOff x="-44" y="1473"/>
            <a:chExt cx="981" cy="1105"/>
          </a:xfrm>
        </p:grpSpPr>
        <p:pic>
          <p:nvPicPr>
            <p:cNvPr id="74792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93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4788" name="Group 67"/>
          <p:cNvGrpSpPr>
            <a:grpSpLocks/>
          </p:cNvGrpSpPr>
          <p:nvPr/>
        </p:nvGrpSpPr>
        <p:grpSpPr bwMode="auto">
          <a:xfrm>
            <a:off x="1131888" y="4870450"/>
            <a:ext cx="779462" cy="679450"/>
            <a:chOff x="-44" y="1473"/>
            <a:chExt cx="981" cy="1105"/>
          </a:xfrm>
        </p:grpSpPr>
        <p:pic>
          <p:nvPicPr>
            <p:cNvPr id="74790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91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478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1-</a:t>
            </a:r>
            <a:fld id="{08CEA7E8-2561-4E4E-92D2-0AF7D33EE603}" type="slidenum">
              <a:rPr lang="en-US" sz="1200">
                <a:solidFill>
                  <a:srgbClr val="000000"/>
                </a:solidFill>
                <a:latin typeface="Tahoma" charset="0"/>
              </a:rPr>
              <a:pPr/>
              <a:t>1</a:t>
            </a:fld>
            <a:endParaRPr lang="en-US" sz="1200">
              <a:solidFill>
                <a:srgbClr val="000000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26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Introduction</a:t>
            </a:r>
          </a:p>
        </p:txBody>
      </p:sp>
      <p:pic>
        <p:nvPicPr>
          <p:cNvPr id="75779" name="Picture 6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2438" y="200025"/>
            <a:ext cx="7772400" cy="811213"/>
          </a:xfrm>
        </p:spPr>
        <p:txBody>
          <a:bodyPr/>
          <a:lstStyle/>
          <a:p>
            <a:pPr eaLnBrk="1" hangingPunct="1"/>
            <a:r>
              <a:rPr lang="en-US">
                <a:latin typeface="Gill Sans MT" charset="0"/>
                <a:cs typeface="Arial" charset="0"/>
              </a:rPr>
              <a:t>Four sources of packet delay</a:t>
            </a:r>
            <a:endParaRPr lang="en-US" sz="4800">
              <a:latin typeface="Gill Sans MT" charset="0"/>
              <a:cs typeface="Arial" charset="0"/>
            </a:endParaRPr>
          </a:p>
        </p:txBody>
      </p:sp>
      <p:sp>
        <p:nvSpPr>
          <p:cNvPr id="7578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62013" y="4491038"/>
            <a:ext cx="3810000" cy="16367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  <a:cs typeface="Arial" charset="0"/>
              </a:rPr>
              <a:t>d</a:t>
            </a:r>
            <a:r>
              <a:rPr lang="en-US" baseline="-25000">
                <a:solidFill>
                  <a:srgbClr val="CC0000"/>
                </a:solidFill>
                <a:latin typeface="Gill Sans MT" charset="0"/>
                <a:cs typeface="Arial" charset="0"/>
              </a:rPr>
              <a:t>proc</a:t>
            </a:r>
            <a:r>
              <a:rPr lang="en-US">
                <a:solidFill>
                  <a:srgbClr val="CC0000"/>
                </a:solidFill>
                <a:latin typeface="Gill Sans MT" charset="0"/>
                <a:cs typeface="Arial" charset="0"/>
              </a:rPr>
              <a:t>: nodal processing</a:t>
            </a:r>
            <a:r>
              <a:rPr lang="en-US">
                <a:latin typeface="Gill Sans MT" charset="0"/>
                <a:cs typeface="Arial" charset="0"/>
              </a:rPr>
              <a:t> </a:t>
            </a:r>
          </a:p>
          <a:p>
            <a:pPr eaLnBrk="1" hangingPunct="1">
              <a:buSzTx/>
              <a:buFont typeface="Wingdings" charset="0"/>
              <a:buChar char="§"/>
            </a:pPr>
            <a:r>
              <a:rPr lang="en-US" sz="2400">
                <a:latin typeface="Gill Sans MT" charset="0"/>
                <a:cs typeface="Arial" charset="0"/>
              </a:rPr>
              <a:t>check bit errors</a:t>
            </a:r>
          </a:p>
          <a:p>
            <a:pPr eaLnBrk="1" hangingPunct="1">
              <a:buSzTx/>
              <a:buFont typeface="Wingdings" charset="0"/>
              <a:buChar char="§"/>
            </a:pPr>
            <a:r>
              <a:rPr lang="en-US" sz="2400">
                <a:latin typeface="Gill Sans MT" charset="0"/>
                <a:cs typeface="Arial" charset="0"/>
              </a:rPr>
              <a:t>determine output link</a:t>
            </a:r>
          </a:p>
          <a:p>
            <a:pPr eaLnBrk="1" hangingPunct="1">
              <a:buSzTx/>
              <a:buFont typeface="Wingdings" charset="0"/>
              <a:buChar char="§"/>
            </a:pPr>
            <a:r>
              <a:rPr lang="en-US" sz="2400">
                <a:latin typeface="Gill Sans MT" charset="0"/>
                <a:cs typeface="Arial" charset="0"/>
              </a:rPr>
              <a:t>typically &lt; msec</a:t>
            </a:r>
          </a:p>
        </p:txBody>
      </p:sp>
      <p:sp>
        <p:nvSpPr>
          <p:cNvPr id="75782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3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4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5785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75829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5834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35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36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5830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5831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32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33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5786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7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8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9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0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1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2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3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4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5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6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7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8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99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75800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75801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802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75803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804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75805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806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75807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808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809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75810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5811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75821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5826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27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28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5822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5823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24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25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5812" name="Rectangle 58"/>
          <p:cNvSpPr>
            <a:spLocks noChangeArrowheads="1"/>
          </p:cNvSpPr>
          <p:nvPr/>
        </p:nvSpPr>
        <p:spPr bwMode="auto">
          <a:xfrm>
            <a:off x="4802188" y="4492625"/>
            <a:ext cx="38100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4488" indent="-344488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Wingdings" charset="0"/>
              <a:buNone/>
            </a:pPr>
            <a:r>
              <a:rPr lang="en-US" sz="2400">
                <a:solidFill>
                  <a:srgbClr val="FF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800" baseline="-250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queue</a:t>
            </a:r>
            <a:r>
              <a:rPr lang="en-US" sz="28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queueing delay</a:t>
            </a:r>
          </a:p>
          <a:p>
            <a:pPr marL="344488" indent="-344488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time waiting at output link for transmission </a:t>
            </a:r>
          </a:p>
          <a:p>
            <a:pPr marL="344488" indent="-344488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depends on congestion level of router</a:t>
            </a:r>
          </a:p>
        </p:txBody>
      </p:sp>
      <p:sp>
        <p:nvSpPr>
          <p:cNvPr id="75813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nodal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=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proc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queue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trans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prop</a:t>
            </a:r>
            <a:endParaRPr lang="en-US" sz="2400">
              <a:solidFill>
                <a:srgbClr val="000000"/>
              </a:solidFill>
              <a:latin typeface="Gill Sans MT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5814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75819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20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5815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75817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18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58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1-</a:t>
            </a:r>
            <a:fld id="{4477A7DF-9111-E042-8CBF-7C0782E8FB6E}" type="slidenum">
              <a:rPr lang="en-US" sz="1200">
                <a:solidFill>
                  <a:srgbClr val="000000"/>
                </a:solidFill>
                <a:latin typeface="Tahoma" charset="0"/>
              </a:rPr>
              <a:pPr/>
              <a:t>2</a:t>
            </a:fld>
            <a:endParaRPr lang="en-US" sz="1200">
              <a:solidFill>
                <a:srgbClr val="000000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85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Introduction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627063" y="4459288"/>
            <a:ext cx="3810000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trans</a:t>
            </a:r>
            <a:r>
              <a:rPr lang="en-US" sz="24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transmission delay: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L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packet length (bits) 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link </a:t>
            </a: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bandwidth (bps)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000" i="1" baseline="-250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trans</a:t>
            </a:r>
            <a:r>
              <a:rPr lang="en-US" sz="20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= L/R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4718050" y="4449763"/>
            <a:ext cx="4152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prop</a:t>
            </a:r>
            <a:r>
              <a:rPr lang="en-US" sz="24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propagation delay: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length of physical link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: propagation speed in medium (~2x10</a:t>
            </a:r>
            <a:r>
              <a:rPr lang="en-US" sz="2000" baseline="30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8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m/sec)</a:t>
            </a:r>
          </a:p>
          <a:p>
            <a:pPr marL="342900" indent="-34290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000" baseline="-25000">
                <a:solidFill>
                  <a:srgbClr val="CC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prop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= </a:t>
            </a: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/</a:t>
            </a:r>
            <a:r>
              <a:rPr lang="en-US" sz="20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s</a:t>
            </a:r>
          </a:p>
        </p:txBody>
      </p:sp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2255838" y="5600700"/>
            <a:ext cx="2528887" cy="800100"/>
            <a:chOff x="1421" y="3528"/>
            <a:chExt cx="1593" cy="504"/>
          </a:xfrm>
        </p:grpSpPr>
        <p:sp>
          <p:nvSpPr>
            <p:cNvPr id="182333" name="AutoShape 61"/>
            <p:cNvSpPr>
              <a:spLocks noChangeArrowheads="1"/>
            </p:cNvSpPr>
            <p:nvPr/>
          </p:nvSpPr>
          <p:spPr bwMode="auto">
            <a:xfrm rot="381619">
              <a:off x="1421" y="3528"/>
              <a:ext cx="1593" cy="201"/>
            </a:xfrm>
            <a:prstGeom prst="leftRightArrow">
              <a:avLst>
                <a:gd name="adj1" fmla="val 35324"/>
                <a:gd name="adj2" fmla="val 94994"/>
              </a:avLst>
            </a:prstGeom>
            <a:gradFill rotWithShape="1">
              <a:gsLst>
                <a:gs pos="0">
                  <a:srgbClr val="CC0000"/>
                </a:gs>
                <a:gs pos="5000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6864" name="Text Box 62"/>
            <p:cNvSpPr txBox="1">
              <a:spLocks noChangeArrowheads="1"/>
            </p:cNvSpPr>
            <p:nvPr/>
          </p:nvSpPr>
          <p:spPr bwMode="auto">
            <a:xfrm>
              <a:off x="1533" y="3590"/>
              <a:ext cx="13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trans </a:t>
              </a:r>
              <a:r>
                <a:rPr lang="en-US" sz="2000">
                  <a:solidFill>
                    <a:srgbClr val="CC0000"/>
                  </a:solidFill>
                </a:rPr>
                <a:t>and </a:t>
              </a:r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prop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i="1">
                  <a:solidFill>
                    <a:srgbClr val="CC0000"/>
                  </a:solidFill>
                </a:rPr>
                <a:t>very </a:t>
              </a:r>
              <a:r>
                <a:rPr lang="en-US" sz="2000">
                  <a:solidFill>
                    <a:srgbClr val="CC0000"/>
                  </a:solidFill>
                </a:rPr>
                <a:t>different</a:t>
              </a:r>
            </a:p>
          </p:txBody>
        </p:sp>
      </p:grpSp>
      <p:pic>
        <p:nvPicPr>
          <p:cNvPr id="76806" name="Picture 6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Rectangle 2"/>
          <p:cNvSpPr>
            <a:spLocks noChangeArrowheads="1"/>
          </p:cNvSpPr>
          <p:nvPr/>
        </p:nvSpPr>
        <p:spPr bwMode="auto">
          <a:xfrm>
            <a:off x="452438" y="200025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000099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Four sources of packet delay</a:t>
            </a:r>
            <a:endParaRPr lang="en-US" sz="4800">
              <a:solidFill>
                <a:srgbClr val="000099"/>
              </a:solidFill>
              <a:latin typeface="Gill Sans MT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08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09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0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6811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76855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6860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61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62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6856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6857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8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9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6812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3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4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5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6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7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8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19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0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1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2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76823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4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76825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6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27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76828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6829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76847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76852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3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4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6848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76849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0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851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6830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fontAlgn="base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nodal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=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proc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queue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trans</a:t>
            </a:r>
            <a:r>
              <a:rPr lang="en-US" sz="24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 +  </a:t>
            </a:r>
            <a:r>
              <a:rPr lang="en-US" sz="2400" i="1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d</a:t>
            </a:r>
            <a:r>
              <a:rPr lang="en-US" sz="2400" baseline="-25000">
                <a:solidFill>
                  <a:srgbClr val="000000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prop</a:t>
            </a:r>
            <a:endParaRPr lang="en-US" sz="2400">
              <a:solidFill>
                <a:srgbClr val="000000"/>
              </a:solidFill>
              <a:latin typeface="Gill Sans MT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1-</a:t>
            </a:r>
            <a:fld id="{0DDCB7B1-024A-704F-AFF2-C2D054226D20}" type="slidenum">
              <a:rPr lang="en-US" sz="1200">
                <a:solidFill>
                  <a:srgbClr val="000000"/>
                </a:solidFill>
                <a:latin typeface="Tahoma" charset="0"/>
              </a:rPr>
              <a:pPr/>
              <a:t>3</a:t>
            </a:fld>
            <a:endParaRPr lang="en-US" sz="120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76832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33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34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35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36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76837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grpSp>
        <p:nvGrpSpPr>
          <p:cNvPr id="76838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76845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46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6839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76843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44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6840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76841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42" name="TextBox 1"/>
          <p:cNvSpPr txBox="1">
            <a:spLocks noChangeArrowheads="1"/>
          </p:cNvSpPr>
          <p:nvPr/>
        </p:nvSpPr>
        <p:spPr bwMode="auto">
          <a:xfrm>
            <a:off x="611188" y="6388100"/>
            <a:ext cx="6430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* Check out the Java applet for an interactive animation on trans vs. prop delay</a:t>
            </a:r>
          </a:p>
        </p:txBody>
      </p:sp>
    </p:spTree>
    <p:extLst>
      <p:ext uri="{BB962C8B-B14F-4D97-AF65-F5344CB8AC3E}">
        <p14:creationId xmlns:p14="http://schemas.microsoft.com/office/powerpoint/2010/main" val="217469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Introduction</a:t>
            </a:r>
          </a:p>
        </p:txBody>
      </p:sp>
      <p:pic>
        <p:nvPicPr>
          <p:cNvPr id="77827" name="Picture 3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11213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Gill Sans MT" charset="0"/>
                <a:cs typeface="Arial" charset="0"/>
              </a:rPr>
              <a:t>Caravan analogy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1338" y="2927350"/>
            <a:ext cx="4216400" cy="3317875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Pct val="75000"/>
            </a:pPr>
            <a:r>
              <a:rPr lang="en-US" sz="2400">
                <a:latin typeface="Gill Sans MT" charset="0"/>
                <a:cs typeface="Arial" charset="0"/>
              </a:rPr>
              <a:t>cars </a:t>
            </a:r>
            <a:r>
              <a:rPr lang="ja-JP" altLang="en-US" sz="2400">
                <a:latin typeface="Gill Sans MT" charset="0"/>
                <a:cs typeface="Arial" charset="0"/>
              </a:rPr>
              <a:t>“</a:t>
            </a:r>
            <a:r>
              <a:rPr lang="en-US" altLang="ja-JP" sz="2400">
                <a:latin typeface="Gill Sans MT" charset="0"/>
                <a:cs typeface="Arial" charset="0"/>
              </a:rPr>
              <a:t>propagate</a:t>
            </a:r>
            <a:r>
              <a:rPr lang="ja-JP" altLang="en-US" sz="2400">
                <a:latin typeface="Gill Sans MT" charset="0"/>
                <a:cs typeface="Arial" charset="0"/>
              </a:rPr>
              <a:t>”</a:t>
            </a:r>
            <a:r>
              <a:rPr lang="en-US" altLang="ja-JP" sz="2400">
                <a:latin typeface="Gill Sans MT" charset="0"/>
                <a:cs typeface="Arial" charset="0"/>
              </a:rPr>
              <a:t> at </a:t>
            </a:r>
            <a:br>
              <a:rPr lang="en-US" altLang="ja-JP" sz="2400">
                <a:latin typeface="Gill Sans MT" charset="0"/>
                <a:cs typeface="Arial" charset="0"/>
              </a:rPr>
            </a:br>
            <a:r>
              <a:rPr lang="en-US" altLang="ja-JP" sz="2400">
                <a:latin typeface="Gill Sans MT" charset="0"/>
                <a:cs typeface="Arial" charset="0"/>
              </a:rPr>
              <a:t>100 km/hr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>
                <a:latin typeface="Gill Sans MT" charset="0"/>
                <a:cs typeface="Arial" charset="0"/>
              </a:rPr>
              <a:t>toll booth takes 12 sec to service car (bit transmission time)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>
                <a:latin typeface="Gill Sans MT" charset="0"/>
                <a:cs typeface="Arial" charset="0"/>
              </a:rPr>
              <a:t>car~bit; caravan ~ packet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i="1">
                <a:solidFill>
                  <a:srgbClr val="CC0000"/>
                </a:solidFill>
                <a:latin typeface="Gill Sans MT" charset="0"/>
                <a:cs typeface="Arial" charset="0"/>
              </a:rPr>
              <a:t>Q:</a:t>
            </a:r>
            <a:r>
              <a:rPr lang="en-US" sz="2400">
                <a:solidFill>
                  <a:srgbClr val="CC0000"/>
                </a:solidFill>
                <a:latin typeface="Gill Sans MT" charset="0"/>
                <a:cs typeface="Arial" charset="0"/>
              </a:rPr>
              <a:t> How long until caravan is lined up before 2nd toll booth?</a:t>
            </a:r>
          </a:p>
          <a:p>
            <a:pPr eaLnBrk="1" hangingPunct="1">
              <a:buFont typeface="Wingdings" charset="0"/>
              <a:buNone/>
            </a:pPr>
            <a:endParaRPr lang="en-US" sz="2400">
              <a:solidFill>
                <a:srgbClr val="CC0000"/>
              </a:solidFill>
              <a:latin typeface="Gill Sans MT" charset="0"/>
              <a:cs typeface="Arial" charset="0"/>
            </a:endParaRPr>
          </a:p>
        </p:txBody>
      </p:sp>
      <p:sp>
        <p:nvSpPr>
          <p:cNvPr id="7373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27638" y="2941638"/>
            <a:ext cx="3521075" cy="3365500"/>
          </a:xfrm>
        </p:spPr>
        <p:txBody>
          <a:bodyPr/>
          <a:lstStyle/>
          <a:p>
            <a:pPr eaLnBrk="1" hangingPunct="1">
              <a:buSzTx/>
              <a:buFont typeface="Wingdings" charset="0"/>
              <a:buChar char="§"/>
            </a:pPr>
            <a:r>
              <a:rPr lang="en-US" sz="2400">
                <a:latin typeface="Gill Sans MT" charset="0"/>
                <a:cs typeface="Arial" charset="0"/>
              </a:rPr>
              <a:t>time to </a:t>
            </a:r>
            <a:r>
              <a:rPr lang="ja-JP" altLang="en-US" sz="2400">
                <a:latin typeface="Gill Sans MT" charset="0"/>
                <a:cs typeface="Arial" charset="0"/>
              </a:rPr>
              <a:t>“</a:t>
            </a:r>
            <a:r>
              <a:rPr lang="en-US" altLang="ja-JP" sz="2400">
                <a:latin typeface="Gill Sans MT" charset="0"/>
                <a:cs typeface="Arial" charset="0"/>
              </a:rPr>
              <a:t>push</a:t>
            </a:r>
            <a:r>
              <a:rPr lang="ja-JP" altLang="en-US" sz="2400">
                <a:latin typeface="Gill Sans MT" charset="0"/>
                <a:cs typeface="Arial" charset="0"/>
              </a:rPr>
              <a:t>”</a:t>
            </a:r>
            <a:r>
              <a:rPr lang="en-US" altLang="ja-JP" sz="2400">
                <a:latin typeface="Gill Sans MT" charset="0"/>
                <a:cs typeface="Arial" charset="0"/>
              </a:rPr>
              <a:t> entire caravan through toll booth onto highway = 12*10 = 120 sec</a:t>
            </a:r>
          </a:p>
          <a:p>
            <a:pPr eaLnBrk="1" hangingPunct="1">
              <a:buSzTx/>
              <a:buFont typeface="Wingdings" charset="0"/>
              <a:buChar char="§"/>
            </a:pPr>
            <a:r>
              <a:rPr lang="en-US" sz="2400">
                <a:latin typeface="Gill Sans MT" charset="0"/>
                <a:cs typeface="Arial" charset="0"/>
              </a:rPr>
              <a:t>time for last car to propagate from 1st to 2nd toll both: 100km/(100km/hr)= 1 hr</a:t>
            </a:r>
          </a:p>
          <a:p>
            <a:pPr eaLnBrk="1" hangingPunct="1">
              <a:buSzTx/>
              <a:buFont typeface="Wingdings" charset="0"/>
              <a:buChar char="§"/>
            </a:pPr>
            <a:r>
              <a:rPr lang="en-US" sz="2400" i="1">
                <a:solidFill>
                  <a:srgbClr val="CC0000"/>
                </a:solidFill>
                <a:latin typeface="Gill Sans MT" charset="0"/>
                <a:cs typeface="Arial" charset="0"/>
              </a:rPr>
              <a:t>A:</a:t>
            </a:r>
            <a:r>
              <a:rPr lang="en-US" sz="2400">
                <a:solidFill>
                  <a:srgbClr val="CC0000"/>
                </a:solidFill>
                <a:latin typeface="Gill Sans MT" charset="0"/>
                <a:cs typeface="Arial" charset="0"/>
              </a:rPr>
              <a:t> 62 minutes</a:t>
            </a:r>
          </a:p>
        </p:txBody>
      </p:sp>
      <p:grpSp>
        <p:nvGrpSpPr>
          <p:cNvPr id="77831" name="Group 42"/>
          <p:cNvGrpSpPr>
            <a:grpSpLocks/>
          </p:cNvGrpSpPr>
          <p:nvPr/>
        </p:nvGrpSpPr>
        <p:grpSpPr bwMode="auto">
          <a:xfrm>
            <a:off x="406400" y="1195388"/>
            <a:ext cx="8043863" cy="1481137"/>
            <a:chOff x="165" y="725"/>
            <a:chExt cx="5067" cy="933"/>
          </a:xfrm>
        </p:grpSpPr>
        <p:grpSp>
          <p:nvGrpSpPr>
            <p:cNvPr id="77833" name="Group 43"/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77857" name="Rectangle 44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8" name="Text Box 45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>
                    <a:solidFill>
                      <a:srgbClr val="000000"/>
                    </a:solidFill>
                  </a:rPr>
                  <a:t>toll 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>
                    <a:solidFill>
                      <a:srgbClr val="000000"/>
                    </a:solidFill>
                  </a:rPr>
                  <a:t>booth</a:t>
                </a:r>
              </a:p>
            </p:txBody>
          </p:sp>
        </p:grpSp>
        <p:grpSp>
          <p:nvGrpSpPr>
            <p:cNvPr id="77834" name="Group 46"/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77855" name="Rectangle 47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6" name="Text Box 48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>
                    <a:solidFill>
                      <a:srgbClr val="000000"/>
                    </a:solidFill>
                  </a:rPr>
                  <a:t>toll 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>
                    <a:solidFill>
                      <a:srgbClr val="000000"/>
                    </a:solidFill>
                  </a:rPr>
                  <a:t>booth</a:t>
                </a:r>
              </a:p>
            </p:txBody>
          </p:sp>
        </p:grpSp>
        <p:sp>
          <p:nvSpPr>
            <p:cNvPr id="77835" name="AutoShape 49"/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36" name="Text Box 50"/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ten-car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caravan</a:t>
              </a:r>
            </a:p>
          </p:txBody>
        </p:sp>
        <p:sp>
          <p:nvSpPr>
            <p:cNvPr id="77837" name="Line 51"/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38" name="Text Box 52"/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100 km</a:t>
              </a:r>
            </a:p>
          </p:txBody>
        </p:sp>
        <p:sp>
          <p:nvSpPr>
            <p:cNvPr id="77839" name="Line 53"/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0" name="Text Box 54"/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100 km</a:t>
              </a:r>
            </a:p>
          </p:txBody>
        </p:sp>
        <p:sp>
          <p:nvSpPr>
            <p:cNvPr id="77841" name="Line 55"/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2" name="Oval 56"/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3" name="Oval 57"/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4" name="Oval 58"/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77845" name="Picture 59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6" name="Picture 60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7847" name="Group 61"/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77853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54" name="Rectangle 63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pic>
          <p:nvPicPr>
            <p:cNvPr id="77848" name="Picture 64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7849" name="Group 65"/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77851" name="Picture 6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52" name="Rectangle 67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7850" name="Line 68"/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78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charset="0"/>
              </a:rPr>
              <a:t>1-</a:t>
            </a:r>
            <a:fld id="{C9416D3D-B6B0-3C4B-AF36-6D6CEB775A6F}" type="slidenum">
              <a:rPr lang="en-US" sz="1200">
                <a:solidFill>
                  <a:srgbClr val="000000"/>
                </a:solidFill>
                <a:latin typeface="Tahoma" charset="0"/>
              </a:rPr>
              <a:pPr/>
              <a:t>4</a:t>
            </a:fld>
            <a:endParaRPr lang="en-US" sz="1200">
              <a:solidFill>
                <a:srgbClr val="000000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99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3162"/>
            <a:ext cx="82296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Consider the first bit, before it can be transmitted, all of the bits in the same packet must be generated. This requires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time required to transmit the packet is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Propagation delay is 8 msec. </a:t>
            </a:r>
          </a:p>
          <a:p>
            <a:r>
              <a:rPr lang="en-US" sz="2400" dirty="0"/>
              <a:t>The delay until decoding is 4 </a:t>
            </a:r>
            <a:r>
              <a:rPr lang="en-US" sz="2400" dirty="0" err="1"/>
              <a:t>msec</a:t>
            </a:r>
            <a:r>
              <a:rPr lang="en-US" sz="2400" dirty="0"/>
              <a:t> + 128 </a:t>
            </a:r>
            <a:r>
              <a:rPr lang="en-US" sz="2400" dirty="0" err="1"/>
              <a:t>microsec</a:t>
            </a:r>
            <a:r>
              <a:rPr lang="en-US" sz="2400" dirty="0"/>
              <a:t> + 8 </a:t>
            </a:r>
            <a:r>
              <a:rPr lang="en-US" sz="2400" dirty="0" err="1"/>
              <a:t>msec</a:t>
            </a:r>
            <a:r>
              <a:rPr lang="en-US" sz="2400" dirty="0"/>
              <a:t> = 12.128 msec. </a:t>
            </a:r>
          </a:p>
          <a:p>
            <a:r>
              <a:rPr lang="en-US" sz="2400" dirty="0"/>
              <a:t>A similar analysis shows that all </a:t>
            </a:r>
            <a:r>
              <a:rPr lang="en-US" sz="2400"/>
              <a:t>bits experience a delay of 12.128 msec. </a:t>
            </a:r>
            <a:endParaRPr 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708661"/>
              </p:ext>
            </p:extLst>
          </p:nvPr>
        </p:nvGraphicFramePr>
        <p:xfrm>
          <a:off x="2105025" y="1943852"/>
          <a:ext cx="19240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93700" progId="Equation.3">
                  <p:embed/>
                </p:oleObj>
              </mc:Choice>
              <mc:Fallback>
                <p:oleObj name="Equation" r:id="rId2" imgW="825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1943852"/>
                        <a:ext cx="192405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0" y="2108019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msec</a:t>
            </a:r>
            <a:endParaRPr lang="en-US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358372"/>
              </p:ext>
            </p:extLst>
          </p:nvPr>
        </p:nvGraphicFramePr>
        <p:xfrm>
          <a:off x="2243138" y="3315452"/>
          <a:ext cx="19542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200" imgH="393700" progId="Equation.3">
                  <p:embed/>
                </p:oleObj>
              </mc:Choice>
              <mc:Fallback>
                <p:oleObj name="Equation" r:id="rId4" imgW="838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3315452"/>
                        <a:ext cx="1954212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11172" y="3440684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microsec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23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first end system requires </a:t>
            </a:r>
            <a:r>
              <a:rPr lang="en-US" i="1" dirty="0"/>
              <a:t>L/R</a:t>
            </a:r>
            <a:r>
              <a:rPr lang="en-US" i="1" baseline="-25000" dirty="0"/>
              <a:t>1</a:t>
            </a:r>
            <a:r>
              <a:rPr lang="en-US" dirty="0"/>
              <a:t> to transmit the packet onto the first link; </a:t>
            </a:r>
          </a:p>
          <a:p>
            <a:r>
              <a:rPr lang="en-US" dirty="0"/>
              <a:t>the packet propagates over the first link in </a:t>
            </a:r>
            <a:r>
              <a:rPr lang="en-US" i="1" dirty="0"/>
              <a:t>d</a:t>
            </a:r>
            <a:r>
              <a:rPr lang="en-US" i="1" baseline="-25000" dirty="0"/>
              <a:t>1</a:t>
            </a:r>
            <a:r>
              <a:rPr lang="en-US" i="1" dirty="0"/>
              <a:t>/s</a:t>
            </a:r>
            <a:r>
              <a:rPr lang="en-US" i="1" baseline="-25000" dirty="0"/>
              <a:t>1</a:t>
            </a:r>
            <a:r>
              <a:rPr lang="en-US" dirty="0"/>
              <a:t>; the packet switch adds a processing delay of </a:t>
            </a:r>
            <a:r>
              <a:rPr lang="en-US" i="1" dirty="0" err="1"/>
              <a:t>d</a:t>
            </a:r>
            <a:r>
              <a:rPr lang="en-US" i="1" baseline="-25000" dirty="0" err="1"/>
              <a:t>proc</a:t>
            </a:r>
            <a:r>
              <a:rPr lang="en-US" dirty="0"/>
              <a:t>; </a:t>
            </a:r>
          </a:p>
          <a:p>
            <a:r>
              <a:rPr lang="en-US" dirty="0"/>
              <a:t>after receiving the entire packet, the packet switch connecting the first and the second link requires </a:t>
            </a:r>
            <a:r>
              <a:rPr lang="en-US" i="1" dirty="0"/>
              <a:t>L/R</a:t>
            </a:r>
            <a:r>
              <a:rPr lang="en-US" i="1" baseline="-25000" dirty="0"/>
              <a:t>2</a:t>
            </a:r>
            <a:r>
              <a:rPr lang="en-US" dirty="0"/>
              <a:t> to transmit the packet onto the second link; </a:t>
            </a:r>
          </a:p>
          <a:p>
            <a:r>
              <a:rPr lang="en-US" dirty="0"/>
              <a:t>the packet propagates over the second link in </a:t>
            </a:r>
            <a:r>
              <a:rPr lang="en-US" i="1" dirty="0"/>
              <a:t>d</a:t>
            </a:r>
            <a:r>
              <a:rPr lang="en-US" i="1" baseline="-25000" dirty="0"/>
              <a:t>2</a:t>
            </a:r>
            <a:r>
              <a:rPr lang="en-US" i="1" dirty="0"/>
              <a:t>/s</a:t>
            </a:r>
            <a:r>
              <a:rPr lang="en-US" i="1" baseline="-25000" dirty="0"/>
              <a:t>2</a:t>
            </a:r>
            <a:r>
              <a:rPr lang="en-US" dirty="0"/>
              <a:t>. Similarly, we can find the delay caused by the second switch and the third link: </a:t>
            </a:r>
            <a:r>
              <a:rPr lang="en-US" i="1" dirty="0"/>
              <a:t>L/R</a:t>
            </a:r>
            <a:r>
              <a:rPr lang="en-US" i="1" baseline="-25000" dirty="0"/>
              <a:t>3</a:t>
            </a:r>
            <a:r>
              <a:rPr lang="en-US" dirty="0"/>
              <a:t>, </a:t>
            </a:r>
            <a:r>
              <a:rPr lang="en-US" i="1" dirty="0" err="1"/>
              <a:t>d</a:t>
            </a:r>
            <a:r>
              <a:rPr lang="en-US" i="1" baseline="-25000" dirty="0" err="1"/>
              <a:t>proc</a:t>
            </a:r>
            <a:r>
              <a:rPr lang="en-US" dirty="0"/>
              <a:t>, and </a:t>
            </a:r>
            <a:r>
              <a:rPr lang="en-US" i="1" dirty="0"/>
              <a:t>d</a:t>
            </a:r>
            <a:r>
              <a:rPr lang="en-US" i="1" baseline="-25000" dirty="0"/>
              <a:t>3</a:t>
            </a:r>
            <a:r>
              <a:rPr lang="en-US" i="1" dirty="0"/>
              <a:t>/s</a:t>
            </a:r>
            <a:r>
              <a:rPr lang="en-US" i="1" baseline="-25000" dirty="0"/>
              <a:t>3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5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these eight delays gives</a:t>
            </a:r>
          </a:p>
          <a:p>
            <a:pPr marL="0" indent="0">
              <a:buNone/>
            </a:pPr>
            <a:r>
              <a:rPr lang="en-US" i="1" dirty="0" err="1"/>
              <a:t>d</a:t>
            </a:r>
            <a:r>
              <a:rPr lang="en-US" i="1" baseline="-25000" dirty="0" err="1"/>
              <a:t>end</a:t>
            </a:r>
            <a:r>
              <a:rPr lang="en-US" i="1" baseline="-25000" dirty="0"/>
              <a:t>-end</a:t>
            </a:r>
            <a:r>
              <a:rPr lang="en-US" i="1" dirty="0"/>
              <a:t> = L/R</a:t>
            </a:r>
            <a:r>
              <a:rPr lang="en-US" i="1" baseline="-25000" dirty="0"/>
              <a:t>1</a:t>
            </a:r>
            <a:r>
              <a:rPr lang="en-US" i="1" dirty="0"/>
              <a:t> + L/R</a:t>
            </a:r>
            <a:r>
              <a:rPr lang="en-US" i="1" baseline="-25000" dirty="0"/>
              <a:t>2</a:t>
            </a:r>
            <a:r>
              <a:rPr lang="en-US" i="1" dirty="0"/>
              <a:t> + L/R</a:t>
            </a:r>
            <a:r>
              <a:rPr lang="en-US" i="1" baseline="-25000" dirty="0"/>
              <a:t>3</a:t>
            </a:r>
            <a:r>
              <a:rPr lang="en-US" i="1" dirty="0"/>
              <a:t> + d</a:t>
            </a:r>
            <a:r>
              <a:rPr lang="en-US" i="1" baseline="-25000" dirty="0"/>
              <a:t>1</a:t>
            </a:r>
            <a:r>
              <a:rPr lang="en-US" i="1" dirty="0"/>
              <a:t>/s</a:t>
            </a:r>
            <a:r>
              <a:rPr lang="en-US" i="1" baseline="-25000" dirty="0"/>
              <a:t>1</a:t>
            </a:r>
            <a:r>
              <a:rPr lang="en-US" i="1" dirty="0"/>
              <a:t> + d</a:t>
            </a:r>
            <a:r>
              <a:rPr lang="en-US" i="1" baseline="-25000" dirty="0"/>
              <a:t>2</a:t>
            </a:r>
            <a:r>
              <a:rPr lang="en-US" i="1" dirty="0"/>
              <a:t>/s</a:t>
            </a:r>
            <a:r>
              <a:rPr lang="en-US" i="1" baseline="-25000" dirty="0"/>
              <a:t>2</a:t>
            </a:r>
            <a:r>
              <a:rPr lang="en-US" i="1" dirty="0"/>
              <a:t> + d</a:t>
            </a:r>
            <a:r>
              <a:rPr lang="en-US" i="1" baseline="-25000" dirty="0"/>
              <a:t>3</a:t>
            </a:r>
            <a:r>
              <a:rPr lang="en-US" i="1" dirty="0"/>
              <a:t>/s</a:t>
            </a:r>
            <a:r>
              <a:rPr lang="en-US" i="1" baseline="-25000" dirty="0"/>
              <a:t>3</a:t>
            </a:r>
            <a:r>
              <a:rPr lang="en-US" i="1" dirty="0"/>
              <a:t>+ </a:t>
            </a:r>
            <a:r>
              <a:rPr lang="en-US" i="1" dirty="0" err="1"/>
              <a:t>d</a:t>
            </a:r>
            <a:r>
              <a:rPr lang="en-US" i="1" baseline="-25000" dirty="0" err="1"/>
              <a:t>proc</a:t>
            </a:r>
            <a:r>
              <a:rPr lang="en-US" i="1" dirty="0"/>
              <a:t>+ </a:t>
            </a:r>
            <a:r>
              <a:rPr lang="en-US" i="1" dirty="0" err="1"/>
              <a:t>d</a:t>
            </a:r>
            <a:r>
              <a:rPr lang="en-US" i="1" baseline="-25000" dirty="0" err="1"/>
              <a:t>proc</a:t>
            </a:r>
            <a:endParaRPr lang="en-US" dirty="0"/>
          </a:p>
          <a:p>
            <a:endParaRPr lang="en-US" dirty="0"/>
          </a:p>
          <a:p>
            <a:r>
              <a:rPr lang="en-US" dirty="0"/>
              <a:t>To answer the second question, we simply plug the values into the equation to get 6 + 6 + 6 + 20+16 + 4 + 3 + 3 = 64 msec.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00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Because bits are immediately transmitted, the packet switch does not introduce any delay; in particular, it does not introduce a transmission delay. Thus,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 err="1"/>
              <a:t>d</a:t>
            </a:r>
            <a:r>
              <a:rPr lang="en-US" i="1" baseline="-25000" dirty="0" err="1"/>
              <a:t>end</a:t>
            </a:r>
            <a:r>
              <a:rPr lang="en-US" i="1" baseline="-25000" dirty="0"/>
              <a:t>-end</a:t>
            </a:r>
            <a:r>
              <a:rPr lang="en-US" i="1" dirty="0"/>
              <a:t> = L/R + d</a:t>
            </a:r>
            <a:r>
              <a:rPr lang="en-US" i="1" baseline="-25000" dirty="0"/>
              <a:t>1</a:t>
            </a:r>
            <a:r>
              <a:rPr lang="en-US" i="1" dirty="0"/>
              <a:t>/s</a:t>
            </a:r>
            <a:r>
              <a:rPr lang="en-US" i="1" baseline="-25000" dirty="0"/>
              <a:t>1</a:t>
            </a:r>
            <a:r>
              <a:rPr lang="en-US" i="1" dirty="0"/>
              <a:t> + d</a:t>
            </a:r>
            <a:r>
              <a:rPr lang="en-US" i="1" baseline="-25000" dirty="0"/>
              <a:t>2</a:t>
            </a:r>
            <a:r>
              <a:rPr lang="en-US" i="1" dirty="0"/>
              <a:t>/s</a:t>
            </a:r>
            <a:r>
              <a:rPr lang="en-US" i="1" baseline="-25000" dirty="0"/>
              <a:t>2</a:t>
            </a:r>
            <a:r>
              <a:rPr lang="en-US" i="1" dirty="0"/>
              <a:t>+ d</a:t>
            </a:r>
            <a:r>
              <a:rPr lang="en-US" i="1" baseline="-25000" dirty="0"/>
              <a:t>3</a:t>
            </a:r>
            <a:r>
              <a:rPr lang="en-US" i="1" dirty="0"/>
              <a:t>/s</a:t>
            </a:r>
            <a:r>
              <a:rPr lang="en-US" i="1" baseline="-25000" dirty="0"/>
              <a:t>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For the </a:t>
            </a:r>
            <a:r>
              <a:rPr lang="en-US"/>
              <a:t>values given, </a:t>
            </a:r>
            <a:r>
              <a:rPr lang="en-US" dirty="0"/>
              <a:t>we get 6 + 20 + 16 + 4 = 46 msec.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517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arriving packet must first wait for the link to transmit 4.5 *1,500 bytes = 6,750 bytes or 54,000 bits. </a:t>
            </a:r>
          </a:p>
          <a:p>
            <a:r>
              <a:rPr lang="en-US" dirty="0"/>
              <a:t>Since these bits are transmitted at 2 Mbps, the queuing delay is 27 msec. </a:t>
            </a:r>
          </a:p>
          <a:p>
            <a:endParaRPr lang="en-US" dirty="0"/>
          </a:p>
          <a:p>
            <a:r>
              <a:rPr lang="en-US" dirty="0"/>
              <a:t>Generally, the queuing delay is (</a:t>
            </a:r>
            <a:r>
              <a:rPr lang="en-US" i="1" dirty="0" err="1"/>
              <a:t>nL</a:t>
            </a:r>
            <a:r>
              <a:rPr lang="en-US" dirty="0"/>
              <a:t> + (</a:t>
            </a:r>
            <a:r>
              <a:rPr lang="en-US" i="1" dirty="0"/>
              <a:t>L</a:t>
            </a:r>
            <a:r>
              <a:rPr lang="en-US" dirty="0"/>
              <a:t> - </a:t>
            </a:r>
            <a:r>
              <a:rPr lang="en-US" i="1" dirty="0"/>
              <a:t>x</a:t>
            </a:r>
            <a:r>
              <a:rPr lang="en-US" dirty="0"/>
              <a:t>))/</a:t>
            </a:r>
            <a:r>
              <a:rPr lang="en-US" i="1" dirty="0"/>
              <a:t>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74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2">
            <a:extLst>
              <a:ext uri="{FF2B5EF4-FFF2-40B4-BE49-F238E27FC236}">
                <a16:creationId xmlns:a16="http://schemas.microsoft.com/office/drawing/2014/main" id="{4EA5CAB8-25E1-49AD-82C0-07157648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103427" name="Picture 99" descr="underline_base">
            <a:extLst>
              <a:ext uri="{FF2B5EF4-FFF2-40B4-BE49-F238E27FC236}">
                <a16:creationId xmlns:a16="http://schemas.microsoft.com/office/drawing/2014/main" id="{FDCBC0F6-1232-417B-9EFF-54696AE457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89693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8" name="Rectangle 2">
            <a:extLst>
              <a:ext uri="{FF2B5EF4-FFF2-40B4-BE49-F238E27FC236}">
                <a16:creationId xmlns:a16="http://schemas.microsoft.com/office/drawing/2014/main" id="{BCB0A1C2-ADCC-4B91-B3F0-CD5AA139B5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85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z="4000">
                <a:ea typeface="ＭＳ Ｐゴシック" panose="020B0600070205080204" pitchFamily="34" charset="-128"/>
              </a:rPr>
              <a:t>“</a:t>
            </a:r>
            <a:r>
              <a:rPr lang="en-US" altLang="ja-JP" sz="4000">
                <a:ea typeface="ＭＳ Ｐゴシック" panose="020B0600070205080204" pitchFamily="34" charset="-128"/>
              </a:rPr>
              <a:t>Real</a:t>
            </a:r>
            <a:r>
              <a:rPr lang="ja-JP" altLang="en-US" sz="4000">
                <a:ea typeface="ＭＳ Ｐゴシック" panose="020B0600070205080204" pitchFamily="34" charset="-128"/>
              </a:rPr>
              <a:t>”</a:t>
            </a:r>
            <a:r>
              <a:rPr lang="en-US" altLang="ja-JP" sz="4000">
                <a:ea typeface="ＭＳ Ｐゴシック" panose="020B0600070205080204" pitchFamily="34" charset="-128"/>
              </a:rPr>
              <a:t> Internet delays and routes</a:t>
            </a:r>
            <a:endParaRPr lang="en-US" altLang="zh-TW" sz="4000">
              <a:ea typeface="ＭＳ Ｐゴシック" panose="020B0600070205080204" pitchFamily="34" charset="-128"/>
            </a:endParaRPr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FC4B57B6-E9A6-452B-8B58-2EF0B06D6A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270000"/>
            <a:ext cx="7772400" cy="3098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what do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real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Internet delay &amp; loss look like? </a:t>
            </a:r>
          </a:p>
          <a:p>
            <a:pPr eaLnBrk="1" hangingPunct="1">
              <a:buSzPct val="75000"/>
            </a:pP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traceroute </a:t>
            </a:r>
            <a:r>
              <a:rPr lang="en-US" altLang="zh-TW" dirty="0">
                <a:ea typeface="ＭＳ Ｐゴシック" panose="020B0600070205080204" pitchFamily="34" charset="-128"/>
                <a:cs typeface="Courier New" panose="02070309020205020404" pitchFamily="49" charset="0"/>
              </a:rPr>
              <a:t>program: </a:t>
            </a:r>
            <a:r>
              <a:rPr lang="en-US" altLang="zh-TW" dirty="0">
                <a:ea typeface="ＭＳ Ｐゴシック" panose="020B0600070205080204" pitchFamily="34" charset="-128"/>
              </a:rPr>
              <a:t>provides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delay measurement</a:t>
            </a:r>
            <a:r>
              <a:rPr lang="en-US" altLang="zh-TW" dirty="0">
                <a:ea typeface="ＭＳ Ｐゴシック" panose="020B0600070205080204" pitchFamily="34" charset="-128"/>
              </a:rPr>
              <a:t> from source to router along end-end Internet path towards destination.  For all </a:t>
            </a:r>
            <a:r>
              <a:rPr lang="en-US" altLang="zh-TW" i="1" dirty="0">
                <a:ea typeface="ＭＳ Ｐゴシック" panose="020B0600070205080204" pitchFamily="34" charset="-128"/>
              </a:rPr>
              <a:t>i: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sends three packets that will reach router </a:t>
            </a:r>
            <a:r>
              <a:rPr lang="en-US" altLang="zh-TW" i="1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on path towards destination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router </a:t>
            </a:r>
            <a:r>
              <a:rPr lang="en-US" altLang="zh-TW" i="1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will return packets to sender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sender times interval between transmission and reply.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  <p:sp>
        <p:nvSpPr>
          <p:cNvPr id="103430" name="Line 38">
            <a:extLst>
              <a:ext uri="{FF2B5EF4-FFF2-40B4-BE49-F238E27FC236}">
                <a16:creationId xmlns:a16="http://schemas.microsoft.com/office/drawing/2014/main" id="{2482F3E2-1F82-42D4-81A5-F7EF52417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1" name="Line 105">
            <a:extLst>
              <a:ext uri="{FF2B5EF4-FFF2-40B4-BE49-F238E27FC236}">
                <a16:creationId xmlns:a16="http://schemas.microsoft.com/office/drawing/2014/main" id="{C07B52A1-2792-4572-B563-062A7A5483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9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2" name="Line 106">
            <a:extLst>
              <a:ext uri="{FF2B5EF4-FFF2-40B4-BE49-F238E27FC236}">
                <a16:creationId xmlns:a16="http://schemas.microsoft.com/office/drawing/2014/main" id="{092C1708-DC1A-40D2-8C24-3A30F2D75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663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3" name="Line 108">
            <a:extLst>
              <a:ext uri="{FF2B5EF4-FFF2-40B4-BE49-F238E27FC236}">
                <a16:creationId xmlns:a16="http://schemas.microsoft.com/office/drawing/2014/main" id="{B2473FD8-B93A-48F7-A9E8-F012ABBFE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6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4" name="Line 113">
            <a:extLst>
              <a:ext uri="{FF2B5EF4-FFF2-40B4-BE49-F238E27FC236}">
                <a16:creationId xmlns:a16="http://schemas.microsoft.com/office/drawing/2014/main" id="{ECACD1AD-A3B9-49C7-8EA2-F5D5970BC4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0975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5" name="Line 260">
            <a:extLst>
              <a:ext uri="{FF2B5EF4-FFF2-40B4-BE49-F238E27FC236}">
                <a16:creationId xmlns:a16="http://schemas.microsoft.com/office/drawing/2014/main" id="{8E6A306E-8BB6-4245-8D1B-8B64F1C93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0163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6" name="Line 261">
            <a:extLst>
              <a:ext uri="{FF2B5EF4-FFF2-40B4-BE49-F238E27FC236}">
                <a16:creationId xmlns:a16="http://schemas.microsoft.com/office/drawing/2014/main" id="{39D57876-E30F-4B63-A131-078B8409F9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8375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7" name="Line 291">
            <a:extLst>
              <a:ext uri="{FF2B5EF4-FFF2-40B4-BE49-F238E27FC236}">
                <a16:creationId xmlns:a16="http://schemas.microsoft.com/office/drawing/2014/main" id="{335BBFD5-8873-4878-9676-9810C9913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4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8" name="Line 292">
            <a:extLst>
              <a:ext uri="{FF2B5EF4-FFF2-40B4-BE49-F238E27FC236}">
                <a16:creationId xmlns:a16="http://schemas.microsoft.com/office/drawing/2014/main" id="{2C6172D3-05C6-4F0D-B015-36156A573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8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39" name="Line 294">
            <a:extLst>
              <a:ext uri="{FF2B5EF4-FFF2-40B4-BE49-F238E27FC236}">
                <a16:creationId xmlns:a16="http://schemas.microsoft.com/office/drawing/2014/main" id="{1B40BD88-2022-4253-B240-45002AB479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6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40" name="Line 295">
            <a:extLst>
              <a:ext uri="{FF2B5EF4-FFF2-40B4-BE49-F238E27FC236}">
                <a16:creationId xmlns:a16="http://schemas.microsoft.com/office/drawing/2014/main" id="{5E137DCA-9BA3-4D9A-9E19-85C682931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3244" name="Text Box 300">
            <a:extLst>
              <a:ext uri="{FF2B5EF4-FFF2-40B4-BE49-F238E27FC236}">
                <a16:creationId xmlns:a16="http://schemas.microsoft.com/office/drawing/2014/main" id="{BA4B3750-E32B-486F-B832-CA88A4C6B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50387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probes</a:t>
            </a:r>
          </a:p>
        </p:txBody>
      </p:sp>
      <p:sp>
        <p:nvSpPr>
          <p:cNvPr id="83246" name="Text Box 302">
            <a:extLst>
              <a:ext uri="{FF2B5EF4-FFF2-40B4-BE49-F238E27FC236}">
                <a16:creationId xmlns:a16="http://schemas.microsoft.com/office/drawing/2014/main" id="{A6F46DC1-91D1-46EA-8624-74D69E4A2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838" y="559911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probes</a:t>
            </a:r>
          </a:p>
        </p:txBody>
      </p:sp>
      <p:sp>
        <p:nvSpPr>
          <p:cNvPr id="83248" name="Text Box 304">
            <a:extLst>
              <a:ext uri="{FF2B5EF4-FFF2-40B4-BE49-F238E27FC236}">
                <a16:creationId xmlns:a16="http://schemas.microsoft.com/office/drawing/2014/main" id="{08827424-9D45-451C-93C0-0F120D60F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50133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probes</a:t>
            </a:r>
          </a:p>
        </p:txBody>
      </p:sp>
      <p:grpSp>
        <p:nvGrpSpPr>
          <p:cNvPr id="103444" name="Group 100">
            <a:extLst>
              <a:ext uri="{FF2B5EF4-FFF2-40B4-BE49-F238E27FC236}">
                <a16:creationId xmlns:a16="http://schemas.microsoft.com/office/drawing/2014/main" id="{F6C70690-4C67-4045-9E34-9AA92B08B2DC}"/>
              </a:ext>
            </a:extLst>
          </p:cNvPr>
          <p:cNvGrpSpPr>
            <a:grpSpLocks/>
          </p:cNvGrpSpPr>
          <p:nvPr/>
        </p:nvGrpSpPr>
        <p:grpSpPr bwMode="auto">
          <a:xfrm>
            <a:off x="517525" y="4975225"/>
            <a:ext cx="820738" cy="688975"/>
            <a:chOff x="-44" y="1473"/>
            <a:chExt cx="981" cy="1105"/>
          </a:xfrm>
        </p:grpSpPr>
        <p:pic>
          <p:nvPicPr>
            <p:cNvPr id="103497" name="Picture 101" descr="desktop_computer_stylized_medium">
              <a:extLst>
                <a:ext uri="{FF2B5EF4-FFF2-40B4-BE49-F238E27FC236}">
                  <a16:creationId xmlns:a16="http://schemas.microsoft.com/office/drawing/2014/main" id="{0A729D13-0962-442B-A196-043C4703E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98" name="Freeform 102">
              <a:extLst>
                <a:ext uri="{FF2B5EF4-FFF2-40B4-BE49-F238E27FC236}">
                  <a16:creationId xmlns:a16="http://schemas.microsoft.com/office/drawing/2014/main" id="{6AE16441-2CE7-4138-A364-F89390F35B0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45" name="Group 103">
            <a:extLst>
              <a:ext uri="{FF2B5EF4-FFF2-40B4-BE49-F238E27FC236}">
                <a16:creationId xmlns:a16="http://schemas.microsoft.com/office/drawing/2014/main" id="{D2909BBC-B45C-4E7E-8398-ECF378DDBB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65900" y="5013325"/>
            <a:ext cx="754063" cy="669925"/>
            <a:chOff x="-44" y="1473"/>
            <a:chExt cx="981" cy="1105"/>
          </a:xfrm>
        </p:grpSpPr>
        <p:pic>
          <p:nvPicPr>
            <p:cNvPr id="103495" name="Picture 104" descr="desktop_computer_stylized_medium">
              <a:extLst>
                <a:ext uri="{FF2B5EF4-FFF2-40B4-BE49-F238E27FC236}">
                  <a16:creationId xmlns:a16="http://schemas.microsoft.com/office/drawing/2014/main" id="{77879423-7D0F-4A77-8453-84AD0FBBD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96" name="Freeform 105">
              <a:extLst>
                <a:ext uri="{FF2B5EF4-FFF2-40B4-BE49-F238E27FC236}">
                  <a16:creationId xmlns:a16="http://schemas.microsoft.com/office/drawing/2014/main" id="{33847BE2-460D-4F06-A47A-0D3F430319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46" name="Group 124">
            <a:extLst>
              <a:ext uri="{FF2B5EF4-FFF2-40B4-BE49-F238E27FC236}">
                <a16:creationId xmlns:a16="http://schemas.microsoft.com/office/drawing/2014/main" id="{4345CC0D-C115-462A-AF9E-1D6948E825AC}"/>
              </a:ext>
            </a:extLst>
          </p:cNvPr>
          <p:cNvGrpSpPr>
            <a:grpSpLocks/>
          </p:cNvGrpSpPr>
          <p:nvPr/>
        </p:nvGrpSpPr>
        <p:grpSpPr bwMode="auto">
          <a:xfrm>
            <a:off x="5513388" y="5513388"/>
            <a:ext cx="617537" cy="250825"/>
            <a:chOff x="2356" y="1300"/>
            <a:chExt cx="555" cy="194"/>
          </a:xfrm>
        </p:grpSpPr>
        <p:sp>
          <p:nvSpPr>
            <p:cNvPr id="103487" name="Oval 407">
              <a:extLst>
                <a:ext uri="{FF2B5EF4-FFF2-40B4-BE49-F238E27FC236}">
                  <a16:creationId xmlns:a16="http://schemas.microsoft.com/office/drawing/2014/main" id="{AD3B3301-F876-4FC4-A8D4-005A1129D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88" name="Rectangle 410">
              <a:extLst>
                <a:ext uri="{FF2B5EF4-FFF2-40B4-BE49-F238E27FC236}">
                  <a16:creationId xmlns:a16="http://schemas.microsoft.com/office/drawing/2014/main" id="{2437B2D9-EBE4-48B5-BC8E-72DFA71D0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89" name="Oval 411">
              <a:extLst>
                <a:ext uri="{FF2B5EF4-FFF2-40B4-BE49-F238E27FC236}">
                  <a16:creationId xmlns:a16="http://schemas.microsoft.com/office/drawing/2014/main" id="{F9A67865-C940-471B-93CC-47C20410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03490" name="Group 128">
              <a:extLst>
                <a:ext uri="{FF2B5EF4-FFF2-40B4-BE49-F238E27FC236}">
                  <a16:creationId xmlns:a16="http://schemas.microsoft.com/office/drawing/2014/main" id="{9DA3A369-E2AB-4CFD-867F-95E5FC4E15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93" name="Freeform 129">
                <a:extLst>
                  <a:ext uri="{FF2B5EF4-FFF2-40B4-BE49-F238E27FC236}">
                    <a16:creationId xmlns:a16="http://schemas.microsoft.com/office/drawing/2014/main" id="{9DD6AFFD-1F52-40AB-B5C0-3FCC40B37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494" name="Freeform 130">
                <a:extLst>
                  <a:ext uri="{FF2B5EF4-FFF2-40B4-BE49-F238E27FC236}">
                    <a16:creationId xmlns:a16="http://schemas.microsoft.com/office/drawing/2014/main" id="{A37D9EBF-84E1-422D-BD85-740524FA3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03491" name="Line 131">
              <a:extLst>
                <a:ext uri="{FF2B5EF4-FFF2-40B4-BE49-F238E27FC236}">
                  <a16:creationId xmlns:a16="http://schemas.microsoft.com/office/drawing/2014/main" id="{940F1C74-FBD7-4E56-87C2-7783FDC72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492" name="Line 132">
              <a:extLst>
                <a:ext uri="{FF2B5EF4-FFF2-40B4-BE49-F238E27FC236}">
                  <a16:creationId xmlns:a16="http://schemas.microsoft.com/office/drawing/2014/main" id="{8D582FF6-8D6E-453E-8445-868AF0046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47" name="Group 133">
            <a:extLst>
              <a:ext uri="{FF2B5EF4-FFF2-40B4-BE49-F238E27FC236}">
                <a16:creationId xmlns:a16="http://schemas.microsoft.com/office/drawing/2014/main" id="{FDA5C355-0FEB-4258-864E-4551957A30DC}"/>
              </a:ext>
            </a:extLst>
          </p:cNvPr>
          <p:cNvGrpSpPr>
            <a:grpSpLocks/>
          </p:cNvGrpSpPr>
          <p:nvPr/>
        </p:nvGrpSpPr>
        <p:grpSpPr bwMode="auto">
          <a:xfrm>
            <a:off x="4545013" y="5241925"/>
            <a:ext cx="617537" cy="250825"/>
            <a:chOff x="2356" y="1300"/>
            <a:chExt cx="555" cy="194"/>
          </a:xfrm>
        </p:grpSpPr>
        <p:sp>
          <p:nvSpPr>
            <p:cNvPr id="103479" name="Oval 407">
              <a:extLst>
                <a:ext uri="{FF2B5EF4-FFF2-40B4-BE49-F238E27FC236}">
                  <a16:creationId xmlns:a16="http://schemas.microsoft.com/office/drawing/2014/main" id="{73754767-3EBC-4336-AC26-24244779C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80" name="Rectangle 410">
              <a:extLst>
                <a:ext uri="{FF2B5EF4-FFF2-40B4-BE49-F238E27FC236}">
                  <a16:creationId xmlns:a16="http://schemas.microsoft.com/office/drawing/2014/main" id="{A86D3BFA-7910-40B6-BCE3-8E9D1A630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81" name="Oval 411">
              <a:extLst>
                <a:ext uri="{FF2B5EF4-FFF2-40B4-BE49-F238E27FC236}">
                  <a16:creationId xmlns:a16="http://schemas.microsoft.com/office/drawing/2014/main" id="{208A659C-BC0B-43B0-9A78-7BC6FFD79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03482" name="Group 137">
              <a:extLst>
                <a:ext uri="{FF2B5EF4-FFF2-40B4-BE49-F238E27FC236}">
                  <a16:creationId xmlns:a16="http://schemas.microsoft.com/office/drawing/2014/main" id="{AD9390CE-B977-48E5-80CB-20B8EF070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85" name="Freeform 138">
                <a:extLst>
                  <a:ext uri="{FF2B5EF4-FFF2-40B4-BE49-F238E27FC236}">
                    <a16:creationId xmlns:a16="http://schemas.microsoft.com/office/drawing/2014/main" id="{3511615C-9414-4DE2-8D19-FC759F137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486" name="Freeform 139">
                <a:extLst>
                  <a:ext uri="{FF2B5EF4-FFF2-40B4-BE49-F238E27FC236}">
                    <a16:creationId xmlns:a16="http://schemas.microsoft.com/office/drawing/2014/main" id="{1459C400-E3ED-4F3C-999C-F0D965142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03483" name="Line 140">
              <a:extLst>
                <a:ext uri="{FF2B5EF4-FFF2-40B4-BE49-F238E27FC236}">
                  <a16:creationId xmlns:a16="http://schemas.microsoft.com/office/drawing/2014/main" id="{01E5829D-106D-4803-87CA-0BE4F6E96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484" name="Line 141">
              <a:extLst>
                <a:ext uri="{FF2B5EF4-FFF2-40B4-BE49-F238E27FC236}">
                  <a16:creationId xmlns:a16="http://schemas.microsoft.com/office/drawing/2014/main" id="{D9288FF6-4D35-45EA-A571-CFF7D9135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48" name="Group 142">
            <a:extLst>
              <a:ext uri="{FF2B5EF4-FFF2-40B4-BE49-F238E27FC236}">
                <a16:creationId xmlns:a16="http://schemas.microsoft.com/office/drawing/2014/main" id="{91274BEB-9D98-4098-A143-AF5122E85DC0}"/>
              </a:ext>
            </a:extLst>
          </p:cNvPr>
          <p:cNvGrpSpPr>
            <a:grpSpLocks/>
          </p:cNvGrpSpPr>
          <p:nvPr/>
        </p:nvGrpSpPr>
        <p:grpSpPr bwMode="auto">
          <a:xfrm>
            <a:off x="3394075" y="5451475"/>
            <a:ext cx="617538" cy="250825"/>
            <a:chOff x="2356" y="1300"/>
            <a:chExt cx="555" cy="194"/>
          </a:xfrm>
        </p:grpSpPr>
        <p:sp>
          <p:nvSpPr>
            <p:cNvPr id="103471" name="Oval 407">
              <a:extLst>
                <a:ext uri="{FF2B5EF4-FFF2-40B4-BE49-F238E27FC236}">
                  <a16:creationId xmlns:a16="http://schemas.microsoft.com/office/drawing/2014/main" id="{C7ADE210-E69F-4185-80C3-C67490DB7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72" name="Rectangle 410">
              <a:extLst>
                <a:ext uri="{FF2B5EF4-FFF2-40B4-BE49-F238E27FC236}">
                  <a16:creationId xmlns:a16="http://schemas.microsoft.com/office/drawing/2014/main" id="{26B5A55F-12FE-4C8D-9C7C-9D31B9D7F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73" name="Oval 411">
              <a:extLst>
                <a:ext uri="{FF2B5EF4-FFF2-40B4-BE49-F238E27FC236}">
                  <a16:creationId xmlns:a16="http://schemas.microsoft.com/office/drawing/2014/main" id="{B34A9139-CC26-4AA6-9EA8-25DA33BCA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03474" name="Group 146">
              <a:extLst>
                <a:ext uri="{FF2B5EF4-FFF2-40B4-BE49-F238E27FC236}">
                  <a16:creationId xmlns:a16="http://schemas.microsoft.com/office/drawing/2014/main" id="{D778B89E-875A-449F-881C-5263759D3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77" name="Freeform 147">
                <a:extLst>
                  <a:ext uri="{FF2B5EF4-FFF2-40B4-BE49-F238E27FC236}">
                    <a16:creationId xmlns:a16="http://schemas.microsoft.com/office/drawing/2014/main" id="{758734ED-4454-4767-AD2E-FD5915B08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478" name="Freeform 148">
                <a:extLst>
                  <a:ext uri="{FF2B5EF4-FFF2-40B4-BE49-F238E27FC236}">
                    <a16:creationId xmlns:a16="http://schemas.microsoft.com/office/drawing/2014/main" id="{D2931588-3C3C-4C9E-BC12-0ADA2BDE4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03475" name="Line 149">
              <a:extLst>
                <a:ext uri="{FF2B5EF4-FFF2-40B4-BE49-F238E27FC236}">
                  <a16:creationId xmlns:a16="http://schemas.microsoft.com/office/drawing/2014/main" id="{01542459-77DB-4EC3-B83C-46B4771BF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476" name="Line 150">
              <a:extLst>
                <a:ext uri="{FF2B5EF4-FFF2-40B4-BE49-F238E27FC236}">
                  <a16:creationId xmlns:a16="http://schemas.microsoft.com/office/drawing/2014/main" id="{7C27AA6E-1FF9-4943-9C37-B126DF118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49" name="Group 151">
            <a:extLst>
              <a:ext uri="{FF2B5EF4-FFF2-40B4-BE49-F238E27FC236}">
                <a16:creationId xmlns:a16="http://schemas.microsoft.com/office/drawing/2014/main" id="{74351B48-C4A4-4733-A709-04819297801F}"/>
              </a:ext>
            </a:extLst>
          </p:cNvPr>
          <p:cNvGrpSpPr>
            <a:grpSpLocks/>
          </p:cNvGrpSpPr>
          <p:nvPr/>
        </p:nvGrpSpPr>
        <p:grpSpPr bwMode="auto">
          <a:xfrm>
            <a:off x="2392363" y="5205413"/>
            <a:ext cx="617537" cy="250825"/>
            <a:chOff x="2356" y="1300"/>
            <a:chExt cx="555" cy="194"/>
          </a:xfrm>
        </p:grpSpPr>
        <p:sp>
          <p:nvSpPr>
            <p:cNvPr id="103463" name="Oval 407">
              <a:extLst>
                <a:ext uri="{FF2B5EF4-FFF2-40B4-BE49-F238E27FC236}">
                  <a16:creationId xmlns:a16="http://schemas.microsoft.com/office/drawing/2014/main" id="{FA1F301A-9BCA-4FF7-858D-15A46FA47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64" name="Rectangle 410">
              <a:extLst>
                <a:ext uri="{FF2B5EF4-FFF2-40B4-BE49-F238E27FC236}">
                  <a16:creationId xmlns:a16="http://schemas.microsoft.com/office/drawing/2014/main" id="{87007023-F2EB-4823-A5A3-C5265CE94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65" name="Oval 411">
              <a:extLst>
                <a:ext uri="{FF2B5EF4-FFF2-40B4-BE49-F238E27FC236}">
                  <a16:creationId xmlns:a16="http://schemas.microsoft.com/office/drawing/2014/main" id="{99724E22-6FBD-49BD-BF2F-37A6C2365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03466" name="Group 155">
              <a:extLst>
                <a:ext uri="{FF2B5EF4-FFF2-40B4-BE49-F238E27FC236}">
                  <a16:creationId xmlns:a16="http://schemas.microsoft.com/office/drawing/2014/main" id="{2D9D33A7-A6AD-43D1-B7D7-07B624EBF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69" name="Freeform 156">
                <a:extLst>
                  <a:ext uri="{FF2B5EF4-FFF2-40B4-BE49-F238E27FC236}">
                    <a16:creationId xmlns:a16="http://schemas.microsoft.com/office/drawing/2014/main" id="{5EC94660-63EF-42ED-9565-2D9FB0B9C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470" name="Freeform 157">
                <a:extLst>
                  <a:ext uri="{FF2B5EF4-FFF2-40B4-BE49-F238E27FC236}">
                    <a16:creationId xmlns:a16="http://schemas.microsoft.com/office/drawing/2014/main" id="{17502D7D-F1CA-4254-8B7C-AEC97C6B4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03467" name="Line 158">
              <a:extLst>
                <a:ext uri="{FF2B5EF4-FFF2-40B4-BE49-F238E27FC236}">
                  <a16:creationId xmlns:a16="http://schemas.microsoft.com/office/drawing/2014/main" id="{A19F4565-4CAC-4ECE-9223-B1DA5A849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468" name="Line 159">
              <a:extLst>
                <a:ext uri="{FF2B5EF4-FFF2-40B4-BE49-F238E27FC236}">
                  <a16:creationId xmlns:a16="http://schemas.microsoft.com/office/drawing/2014/main" id="{1E7DDC19-4F69-483E-8ED4-DEBAD2A18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103450" name="Group 160">
            <a:extLst>
              <a:ext uri="{FF2B5EF4-FFF2-40B4-BE49-F238E27FC236}">
                <a16:creationId xmlns:a16="http://schemas.microsoft.com/office/drawing/2014/main" id="{8BE94EFC-C8E7-4C46-8F5A-A4B07D894130}"/>
              </a:ext>
            </a:extLst>
          </p:cNvPr>
          <p:cNvGrpSpPr>
            <a:grpSpLocks/>
          </p:cNvGrpSpPr>
          <p:nvPr/>
        </p:nvGrpSpPr>
        <p:grpSpPr bwMode="auto">
          <a:xfrm>
            <a:off x="1517650" y="5472113"/>
            <a:ext cx="617538" cy="250825"/>
            <a:chOff x="2356" y="1300"/>
            <a:chExt cx="555" cy="194"/>
          </a:xfrm>
        </p:grpSpPr>
        <p:sp>
          <p:nvSpPr>
            <p:cNvPr id="103455" name="Oval 407">
              <a:extLst>
                <a:ext uri="{FF2B5EF4-FFF2-40B4-BE49-F238E27FC236}">
                  <a16:creationId xmlns:a16="http://schemas.microsoft.com/office/drawing/2014/main" id="{2D3E3A86-54F6-4105-9E00-1EA70227E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56" name="Rectangle 410">
              <a:extLst>
                <a:ext uri="{FF2B5EF4-FFF2-40B4-BE49-F238E27FC236}">
                  <a16:creationId xmlns:a16="http://schemas.microsoft.com/office/drawing/2014/main" id="{A6DD127D-0ECA-4D20-AD31-55CC8B79D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3457" name="Oval 411">
              <a:extLst>
                <a:ext uri="{FF2B5EF4-FFF2-40B4-BE49-F238E27FC236}">
                  <a16:creationId xmlns:a16="http://schemas.microsoft.com/office/drawing/2014/main" id="{EE5CF6A6-9F9C-4FBC-B42A-E4ED9C380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03458" name="Group 164">
              <a:extLst>
                <a:ext uri="{FF2B5EF4-FFF2-40B4-BE49-F238E27FC236}">
                  <a16:creationId xmlns:a16="http://schemas.microsoft.com/office/drawing/2014/main" id="{13632026-08C7-4941-B010-AF4F107BBC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61" name="Freeform 165">
                <a:extLst>
                  <a:ext uri="{FF2B5EF4-FFF2-40B4-BE49-F238E27FC236}">
                    <a16:creationId xmlns:a16="http://schemas.microsoft.com/office/drawing/2014/main" id="{16F560D8-0295-44E4-B95F-7CC7B2E56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462" name="Freeform 166">
                <a:extLst>
                  <a:ext uri="{FF2B5EF4-FFF2-40B4-BE49-F238E27FC236}">
                    <a16:creationId xmlns:a16="http://schemas.microsoft.com/office/drawing/2014/main" id="{C7507E9F-C2B6-4631-8C62-48D0CBF8A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03459" name="Line 167">
              <a:extLst>
                <a:ext uri="{FF2B5EF4-FFF2-40B4-BE49-F238E27FC236}">
                  <a16:creationId xmlns:a16="http://schemas.microsoft.com/office/drawing/2014/main" id="{361877EB-CB84-41B2-B3C4-226BDD139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460" name="Line 168">
              <a:extLst>
                <a:ext uri="{FF2B5EF4-FFF2-40B4-BE49-F238E27FC236}">
                  <a16:creationId xmlns:a16="http://schemas.microsoft.com/office/drawing/2014/main" id="{8B2F340C-27D3-4BD7-920D-9A6B1C408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HK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83247" name="Freeform 303">
            <a:extLst>
              <a:ext uri="{FF2B5EF4-FFF2-40B4-BE49-F238E27FC236}">
                <a16:creationId xmlns:a16="http://schemas.microsoft.com/office/drawing/2014/main" id="{A57ECDF2-A45B-4312-B75A-C1C3EB91E1F9}"/>
              </a:ext>
            </a:extLst>
          </p:cNvPr>
          <p:cNvSpPr>
            <a:spLocks/>
          </p:cNvSpPr>
          <p:nvPr/>
        </p:nvSpPr>
        <p:spPr bwMode="auto">
          <a:xfrm>
            <a:off x="1257300" y="5259388"/>
            <a:ext cx="2247900" cy="403225"/>
          </a:xfrm>
          <a:custGeom>
            <a:avLst/>
            <a:gdLst>
              <a:gd name="T0" fmla="*/ 2147483646 w 1416"/>
              <a:gd name="T1" fmla="*/ 2147483646 h 254"/>
              <a:gd name="T2" fmla="*/ 2147483646 w 1416"/>
              <a:gd name="T3" fmla="*/ 2147483646 h 254"/>
              <a:gd name="T4" fmla="*/ 2147483646 w 1416"/>
              <a:gd name="T5" fmla="*/ 2147483646 h 254"/>
              <a:gd name="T6" fmla="*/ 2147483646 w 1416"/>
              <a:gd name="T7" fmla="*/ 2147483646 h 254"/>
              <a:gd name="T8" fmla="*/ 2147483646 w 1416"/>
              <a:gd name="T9" fmla="*/ 2147483646 h 254"/>
              <a:gd name="T10" fmla="*/ 2147483646 w 1416"/>
              <a:gd name="T11" fmla="*/ 2147483646 h 254"/>
              <a:gd name="T12" fmla="*/ 0 w 1416"/>
              <a:gd name="T13" fmla="*/ 2147483646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3243" name="Freeform 299">
            <a:extLst>
              <a:ext uri="{FF2B5EF4-FFF2-40B4-BE49-F238E27FC236}">
                <a16:creationId xmlns:a16="http://schemas.microsoft.com/office/drawing/2014/main" id="{914668FC-E0E7-4DDE-87ED-0F1F3F4CAA45}"/>
              </a:ext>
            </a:extLst>
          </p:cNvPr>
          <p:cNvSpPr>
            <a:spLocks/>
          </p:cNvSpPr>
          <p:nvPr/>
        </p:nvSpPr>
        <p:spPr bwMode="auto">
          <a:xfrm>
            <a:off x="1289050" y="5295900"/>
            <a:ext cx="419100" cy="419100"/>
          </a:xfrm>
          <a:custGeom>
            <a:avLst/>
            <a:gdLst>
              <a:gd name="T0" fmla="*/ 2147483646 w 264"/>
              <a:gd name="T1" fmla="*/ 0 h 264"/>
              <a:gd name="T2" fmla="*/ 2147483646 w 264"/>
              <a:gd name="T3" fmla="*/ 2147483646 h 264"/>
              <a:gd name="T4" fmla="*/ 0 w 264"/>
              <a:gd name="T5" fmla="*/ 2147483646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3245" name="Freeform 301">
            <a:extLst>
              <a:ext uri="{FF2B5EF4-FFF2-40B4-BE49-F238E27FC236}">
                <a16:creationId xmlns:a16="http://schemas.microsoft.com/office/drawing/2014/main" id="{6FCBE592-0345-4DA1-B1DE-83174B131A47}"/>
              </a:ext>
            </a:extLst>
          </p:cNvPr>
          <p:cNvSpPr>
            <a:spLocks/>
          </p:cNvSpPr>
          <p:nvPr/>
        </p:nvSpPr>
        <p:spPr bwMode="auto">
          <a:xfrm>
            <a:off x="1282700" y="5210175"/>
            <a:ext cx="1346200" cy="474663"/>
          </a:xfrm>
          <a:custGeom>
            <a:avLst/>
            <a:gdLst>
              <a:gd name="T0" fmla="*/ 2147483646 w 848"/>
              <a:gd name="T1" fmla="*/ 2147483646 h 299"/>
              <a:gd name="T2" fmla="*/ 2147483646 w 848"/>
              <a:gd name="T3" fmla="*/ 2147483646 h 299"/>
              <a:gd name="T4" fmla="*/ 2147483646 w 848"/>
              <a:gd name="T5" fmla="*/ 2147483646 h 299"/>
              <a:gd name="T6" fmla="*/ 2147483646 w 848"/>
              <a:gd name="T7" fmla="*/ 2147483646 h 299"/>
              <a:gd name="T8" fmla="*/ 0 w 848"/>
              <a:gd name="T9" fmla="*/ 214748364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3454" name="Slide Number Placeholder 3">
            <a:extLst>
              <a:ext uri="{FF2B5EF4-FFF2-40B4-BE49-F238E27FC236}">
                <a16:creationId xmlns:a16="http://schemas.microsoft.com/office/drawing/2014/main" id="{61F03EF5-07C4-43C8-910D-EBDC6B43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1-</a:t>
            </a:r>
            <a:fld id="{98083DE9-EC24-4857-8047-ADED66290CED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4" grpId="0"/>
      <p:bldP spid="83246" grpId="0"/>
      <p:bldP spid="832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2">
            <a:extLst>
              <a:ext uri="{FF2B5EF4-FFF2-40B4-BE49-F238E27FC236}">
                <a16:creationId xmlns:a16="http://schemas.microsoft.com/office/drawing/2014/main" id="{ACA70486-86F4-44CE-852E-879F845C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CFFA7245-2DDE-48A2-8671-DDF15EF06B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1313" y="166688"/>
            <a:ext cx="7772400" cy="892175"/>
          </a:xfrm>
        </p:spPr>
        <p:txBody>
          <a:bodyPr/>
          <a:lstStyle/>
          <a:p>
            <a:pPr eaLnBrk="1" hangingPunct="1"/>
            <a:r>
              <a:rPr lang="ja-JP" altLang="en-US" sz="4000">
                <a:ea typeface="ＭＳ Ｐゴシック" panose="020B0600070205080204" pitchFamily="34" charset="-128"/>
              </a:rPr>
              <a:t>“</a:t>
            </a:r>
            <a:r>
              <a:rPr lang="en-US" altLang="ja-JP" sz="4000">
                <a:ea typeface="ＭＳ Ｐゴシック" panose="020B0600070205080204" pitchFamily="34" charset="-128"/>
              </a:rPr>
              <a:t>Real</a:t>
            </a:r>
            <a:r>
              <a:rPr lang="ja-JP" altLang="en-US" sz="4000">
                <a:ea typeface="ＭＳ Ｐゴシック" panose="020B0600070205080204" pitchFamily="34" charset="-128"/>
              </a:rPr>
              <a:t>”</a:t>
            </a:r>
            <a:r>
              <a:rPr lang="en-US" altLang="ja-JP" sz="4000">
                <a:ea typeface="ＭＳ Ｐゴシック" panose="020B0600070205080204" pitchFamily="34" charset="-128"/>
              </a:rPr>
              <a:t> Internet delays, routes</a:t>
            </a:r>
            <a:endParaRPr lang="en-US" altLang="zh-TW" sz="4000">
              <a:ea typeface="ＭＳ Ｐゴシック" panose="020B0600070205080204" pitchFamily="34" charset="-128"/>
            </a:endParaRPr>
          </a:p>
        </p:txBody>
      </p:sp>
      <p:sp>
        <p:nvSpPr>
          <p:cNvPr id="105476" name="Text Box 4">
            <a:extLst>
              <a:ext uri="{FF2B5EF4-FFF2-40B4-BE49-F238E27FC236}">
                <a16:creationId xmlns:a16="http://schemas.microsoft.com/office/drawing/2014/main" id="{3917ED6F-A100-45D7-AC44-417F99411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2338388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  cs-gw (128.119.240.254)  1 ms  1 ms  2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 border1-rt-fa5-1-0.gw.umass.edu (128.119.3.145)  1 ms  1 ms  2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 cht-vbns.gw.umass.edu (128.119.3.130)  6 ms 5 ms 5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 jn1-at1-0-0-19.wor.vbns.net (204.147.132.129)  16 ms 11 ms 13 ms 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  jn1-so7-0-0-0.wae.vbns.net (204.147.136.136)  21 ms 18 ms 18 ms 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  abilene-vbns.abilene.ucaid.edu (198.32.11.9)  22 ms  18 ms  22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  nycm-wash.abilene.ucaid.edu (198.32.8.46)  22 ms  22 ms  22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8  62.40.103.253 (62.40.103.253)  104 ms 109 ms 106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9  de2-1.de1.de.geant.net (62.40.96.129)  109 ms 102 ms 104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  de.fr1.fr.geant.net (62.40.96.50)  113 ms 121 ms 114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11  renater-gw.fr1.fr.geant.net (62.40.103.54)  112 ms  114 ms  112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12  nio-n2.cssi.renater.fr (193.51.206.13)  111 ms  114 ms  116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13  nice.cssi.renater.fr (195.220.98.102)  123 ms  125 ms  124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14  r3t2-nice.cssi.renater.fr (195.220.98.110)  126 ms  126 ms  124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15  eurecom-valbonne.r3t2.ft.net (193.48.50.54)  135 ms  128 ms  133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16  194.214.211.25 (194.214.211.25)  126 ms  128 ms  126 ms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17  * * *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18  * * *</a:t>
            </a:r>
          </a:p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 fantasia.eurecom.fr (193.55.113.142)  132 ms  128 ms  136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ms</a:t>
            </a: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EBF7CF07-8C9D-4800-B376-A47C38666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1235075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traceroute: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gaia.cs.umass.edu to www.eurecom.fr</a:t>
            </a:r>
          </a:p>
        </p:txBody>
      </p:sp>
      <p:sp>
        <p:nvSpPr>
          <p:cNvPr id="105478" name="Line 6">
            <a:extLst>
              <a:ext uri="{FF2B5EF4-FFF2-40B4-BE49-F238E27FC236}">
                <a16:creationId xmlns:a16="http://schemas.microsoft.com/office/drawing/2014/main" id="{CBDC16F8-2B8C-48AD-A9D3-6C3FCA4B1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1313" y="5634038"/>
            <a:ext cx="968375" cy="2698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B02DF731-4A15-4E9C-A44A-282285416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350" y="1738313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delay measurements from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gaia.cs.umass.edu to cs-gw.cs.umass.edu </a:t>
            </a:r>
          </a:p>
        </p:txBody>
      </p:sp>
      <p:sp>
        <p:nvSpPr>
          <p:cNvPr id="105480" name="Line 8">
            <a:extLst>
              <a:ext uri="{FF2B5EF4-FFF2-40B4-BE49-F238E27FC236}">
                <a16:creationId xmlns:a16="http://schemas.microsoft.com/office/drawing/2014/main" id="{69606BD6-9B23-4834-B815-A3967EDBA8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1863" y="1965325"/>
            <a:ext cx="671512" cy="4127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81" name="Line 9">
            <a:extLst>
              <a:ext uri="{FF2B5EF4-FFF2-40B4-BE49-F238E27FC236}">
                <a16:creationId xmlns:a16="http://schemas.microsoft.com/office/drawing/2014/main" id="{10B7716C-D9C5-49CE-99DF-12D9CD2B2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1613" y="1954213"/>
            <a:ext cx="139700" cy="4048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82" name="Line 10">
            <a:extLst>
              <a:ext uri="{FF2B5EF4-FFF2-40B4-BE49-F238E27FC236}">
                <a16:creationId xmlns:a16="http://schemas.microsoft.com/office/drawing/2014/main" id="{67835CDE-96D0-4033-9AC6-032D245032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46550" y="1963738"/>
            <a:ext cx="366713" cy="3905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83" name="Line 11">
            <a:extLst>
              <a:ext uri="{FF2B5EF4-FFF2-40B4-BE49-F238E27FC236}">
                <a16:creationId xmlns:a16="http://schemas.microsoft.com/office/drawing/2014/main" id="{508659D3-FF51-4C4B-A68E-7672164A17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8613" y="1970088"/>
            <a:ext cx="377825" cy="31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84" name="Text Box 12">
            <a:extLst>
              <a:ext uri="{FF2B5EF4-FFF2-40B4-BE49-F238E27FC236}">
                <a16:creationId xmlns:a16="http://schemas.microsoft.com/office/drawing/2014/main" id="{5F71DCA7-318C-48B2-B69C-08CD3F71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5564188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* means no response (probe lost, router not replying)</a:t>
            </a:r>
          </a:p>
        </p:txBody>
      </p:sp>
      <p:sp>
        <p:nvSpPr>
          <p:cNvPr id="105485" name="Freeform 14">
            <a:extLst>
              <a:ext uri="{FF2B5EF4-FFF2-40B4-BE49-F238E27FC236}">
                <a16:creationId xmlns:a16="http://schemas.microsoft.com/office/drawing/2014/main" id="{CA7ED70E-2275-4922-B71D-8A4C4F66477B}"/>
              </a:ext>
            </a:extLst>
          </p:cNvPr>
          <p:cNvSpPr>
            <a:spLocks/>
          </p:cNvSpPr>
          <p:nvPr/>
        </p:nvSpPr>
        <p:spPr bwMode="auto">
          <a:xfrm>
            <a:off x="6092825" y="3651250"/>
            <a:ext cx="1012825" cy="246063"/>
          </a:xfrm>
          <a:custGeom>
            <a:avLst/>
            <a:gdLst>
              <a:gd name="T0" fmla="*/ 2147483646 w 638"/>
              <a:gd name="T1" fmla="*/ 0 h 155"/>
              <a:gd name="T2" fmla="*/ 2147483646 w 638"/>
              <a:gd name="T3" fmla="*/ 2147483646 h 155"/>
              <a:gd name="T4" fmla="*/ 2147483646 w 638"/>
              <a:gd name="T5" fmla="*/ 2147483646 h 155"/>
              <a:gd name="T6" fmla="*/ 2147483646 w 638"/>
              <a:gd name="T7" fmla="*/ 2147483646 h 155"/>
              <a:gd name="T8" fmla="*/ 0 w 638"/>
              <a:gd name="T9" fmla="*/ 2147483646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5486" name="Text Box 15">
            <a:extLst>
              <a:ext uri="{FF2B5EF4-FFF2-40B4-BE49-F238E27FC236}">
                <a16:creationId xmlns:a16="http://schemas.microsoft.com/office/drawing/2014/main" id="{71A6E45C-049A-43BD-BA63-8470A1FAE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3436938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trans-oceanic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link</a:t>
            </a:r>
          </a:p>
        </p:txBody>
      </p:sp>
      <p:pic>
        <p:nvPicPr>
          <p:cNvPr id="105487" name="Picture 19" descr="underline_base">
            <a:extLst>
              <a:ext uri="{FF2B5EF4-FFF2-40B4-BE49-F238E27FC236}">
                <a16:creationId xmlns:a16="http://schemas.microsoft.com/office/drawing/2014/main" id="{C766B8BE-32C7-41F8-A655-A3E39F83612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8159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8" name="Slide Number Placeholder 3">
            <a:extLst>
              <a:ext uri="{FF2B5EF4-FFF2-40B4-BE49-F238E27FC236}">
                <a16:creationId xmlns:a16="http://schemas.microsoft.com/office/drawing/2014/main" id="{E5919326-C739-45E0-BB39-8411FE83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1-</a:t>
            </a:r>
            <a:fld id="{4AFB4EB7-D3D1-4658-9D98-989D08972D1C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 animBg="1"/>
      <p:bldP spid="105479" grpId="0"/>
      <p:bldP spid="105480" grpId="0" animBg="1"/>
      <p:bldP spid="105481" grpId="0" animBg="1"/>
      <p:bldP spid="105482" grpId="0" animBg="1"/>
      <p:bldP spid="105483" grpId="0" animBg="1"/>
      <p:bldP spid="105484" grpId="0"/>
      <p:bldP spid="105485" grpId="0" animBg="1"/>
      <p:bldP spid="1054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IP address of the routers between the source and the destination, three round-trip time measurements for each router</a:t>
            </a:r>
            <a:endParaRPr lang="en-US" dirty="0"/>
          </a:p>
          <a:p>
            <a:r>
              <a:rPr lang="en-US" altLang="zh-HK" dirty="0"/>
              <a:t>An asterisk is displayed if a packet is not acknowledged within the expected timeout (The default timeout is 5 sec). Timeout appears mainly because a firewall blocks the traffic.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08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The round-trip delays include all of the delays, including transmission delays, propagation delays, router processing delays, and queuing delays. Because the queuing delay is varying with time, the round-trip delay of </a:t>
            </a:r>
            <a:r>
              <a:rPr lang="en-US" altLang="zh-HK"/>
              <a:t>packet N </a:t>
            </a:r>
            <a:r>
              <a:rPr lang="en-US" altLang="zh-HK" dirty="0"/>
              <a:t>sent to a router N can sometimes be longer than the round-trip delay of packet N+1 sent to router N+1.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6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5129</TotalTime>
  <Words>1221</Words>
  <Application>Microsoft Office PowerPoint</Application>
  <PresentationFormat>如螢幕大小 (4:3)</PresentationFormat>
  <Paragraphs>156</Paragraphs>
  <Slides>13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Arial</vt:lpstr>
      <vt:lpstr>Calibri</vt:lpstr>
      <vt:lpstr>Comic Sans MS</vt:lpstr>
      <vt:lpstr>Courier New</vt:lpstr>
      <vt:lpstr>Gill Sans MT</vt:lpstr>
      <vt:lpstr>Tahoma</vt:lpstr>
      <vt:lpstr>Times New Roman</vt:lpstr>
      <vt:lpstr>Wingdings</vt:lpstr>
      <vt:lpstr>Office Theme</vt:lpstr>
      <vt:lpstr>16_Default Design</vt:lpstr>
      <vt:lpstr>12_Default Design</vt:lpstr>
      <vt:lpstr>Equation</vt:lpstr>
      <vt:lpstr>How do loss and delay occur?</vt:lpstr>
      <vt:lpstr>Four sources of packet delay</vt:lpstr>
      <vt:lpstr>PowerPoint 簡報</vt:lpstr>
      <vt:lpstr>Caravan analogy</vt:lpstr>
      <vt:lpstr>Q1</vt:lpstr>
      <vt:lpstr>Q2</vt:lpstr>
      <vt:lpstr>Q2</vt:lpstr>
      <vt:lpstr>Q3</vt:lpstr>
      <vt:lpstr>Q4</vt:lpstr>
      <vt:lpstr>“Real” Internet delays and routes</vt:lpstr>
      <vt:lpstr>“Real” Internet delays, routes</vt:lpstr>
      <vt:lpstr>Q5</vt:lpstr>
      <vt:lpstr>Q5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WANG Cong</dc:creator>
  <cp:lastModifiedBy>Dr. CHEUNG Man Hon Michael</cp:lastModifiedBy>
  <cp:revision>98</cp:revision>
  <dcterms:created xsi:type="dcterms:W3CDTF">2006-08-16T00:00:00Z</dcterms:created>
  <dcterms:modified xsi:type="dcterms:W3CDTF">2021-09-13T07:55:32Z</dcterms:modified>
</cp:coreProperties>
</file>