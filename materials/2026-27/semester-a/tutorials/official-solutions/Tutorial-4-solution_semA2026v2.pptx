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05" r:id="rId2"/>
    <p:sldMasterId id="2147483819" r:id="rId3"/>
    <p:sldMasterId id="2147483855" r:id="rId4"/>
  </p:sldMasterIdLst>
  <p:notesMasterIdLst>
    <p:notesMasterId r:id="rId20"/>
  </p:notesMasterIdLst>
  <p:sldIdLst>
    <p:sldId id="583" r:id="rId5"/>
    <p:sldId id="585" r:id="rId6"/>
    <p:sldId id="299" r:id="rId7"/>
    <p:sldId id="584" r:id="rId8"/>
    <p:sldId id="300" r:id="rId9"/>
    <p:sldId id="297" r:id="rId10"/>
    <p:sldId id="298" r:id="rId11"/>
    <p:sldId id="302" r:id="rId12"/>
    <p:sldId id="581" r:id="rId13"/>
    <p:sldId id="288" r:id="rId14"/>
    <p:sldId id="309" r:id="rId15"/>
    <p:sldId id="569" r:id="rId16"/>
    <p:sldId id="570" r:id="rId17"/>
    <p:sldId id="304" r:id="rId18"/>
    <p:sldId id="311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09"/>
    <p:restoredTop sz="70615" autoAdjust="0"/>
  </p:normalViewPr>
  <p:slideViewPr>
    <p:cSldViewPr>
      <p:cViewPr varScale="1">
        <p:scale>
          <a:sx n="109" d="100"/>
          <a:sy n="109" d="100"/>
        </p:scale>
        <p:origin x="139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E5CF6-1A3A-406F-8784-7F2452053FF3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E1E38D-4C9A-47DC-A572-2AE2F7B17A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41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143C2-6A6A-BF12-0C71-EC37EAE78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EE04DB2-3185-8E83-550E-8372AF51D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BC5F6C7-FCE4-20ED-25FE-A34F1F2EF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C486FA-F5AA-7884-37B0-058E045B42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E1E38D-4C9A-47DC-A572-2AE2F7B17A8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0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AAC35-5B87-186E-5840-A9B79E738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05A52C7-AF5C-17FE-864D-0C9681E113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9510D55-A047-8DD3-66DC-2BA310407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54ECB6-5109-E022-9158-C7EAF6647C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E1E38D-4C9A-47DC-A572-2AE2F7B17A8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32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E1E38D-4C9A-47DC-A572-2AE2F7B17A8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0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423D2-5355-4335-8645-B4EB3B977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4A2FF48-AE8D-33F9-E421-75BF35C74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76F5820-20D7-2B5E-52F3-0E3C49EAC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9988AC-6152-A7E1-9BB8-F2B7C0E2E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E1E38D-4C9A-47DC-A572-2AE2F7B17A8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220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118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22118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>
              <a:defRPr sz="19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02756" indent="-270291" defTabSz="914485">
              <a:defRPr sz="19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081164" indent="-216233" defTabSz="914485">
              <a:defRPr sz="19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13629" indent="-216233" defTabSz="914485">
              <a:defRPr sz="19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1946095" indent="-216233" defTabSz="914485">
              <a:defRPr sz="19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378560" indent="-216233" defTabSz="91448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19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811026" indent="-216233" defTabSz="91448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19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243491" indent="-216233" defTabSz="91448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19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675957" indent="-216233" defTabSz="91448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19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r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fld id="{683E8791-0327-4A8C-ADE0-032AA41B7CA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ＭＳ Ｐゴシック" pitchFamily="34" charset="-128"/>
                <a:cs typeface="+mn-cs"/>
              </a:rPr>
              <a:pPr marL="0" marR="0" lvl="0" indent="0" algn="r" defTabSz="9144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504D"/>
                </a:buClr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8653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323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22323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>
              <a:defRPr sz="19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02756" indent="-270291" defTabSz="914485">
              <a:defRPr sz="19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081164" indent="-216233" defTabSz="914485">
              <a:defRPr sz="19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13629" indent="-216233" defTabSz="914485">
              <a:defRPr sz="19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1946095" indent="-216233" defTabSz="914485">
              <a:defRPr sz="19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378560" indent="-216233" defTabSz="91448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19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811026" indent="-216233" defTabSz="91448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19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243491" indent="-216233" defTabSz="91448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19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675957" indent="-216233" defTabSz="91448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19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r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fld id="{958F102C-D6EA-44F9-B246-3247A00F08CF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ＭＳ Ｐゴシック" pitchFamily="34" charset="-128"/>
                <a:cs typeface="+mn-cs"/>
              </a:rPr>
              <a:pPr marL="0" marR="0" lvl="0" indent="0" algn="r" defTabSz="9144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504D"/>
                </a:buClr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78876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Slide Image Placeholder 1">
            <a:extLst>
              <a:ext uri="{FF2B5EF4-FFF2-40B4-BE49-F238E27FC236}">
                <a16:creationId xmlns:a16="http://schemas.microsoft.com/office/drawing/2014/main" id="{96950F02-AA1C-47E7-B3BB-008923A38D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2931" name="Notes Placeholder 2">
            <a:extLst>
              <a:ext uri="{FF2B5EF4-FFF2-40B4-BE49-F238E27FC236}">
                <a16:creationId xmlns:a16="http://schemas.microsoft.com/office/drawing/2014/main" id="{C9DE092B-B2A2-499C-AF1C-1F3576465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252932" name="Slide Number Placeholder 3">
            <a:extLst>
              <a:ext uri="{FF2B5EF4-FFF2-40B4-BE49-F238E27FC236}">
                <a16:creationId xmlns:a16="http://schemas.microsoft.com/office/drawing/2014/main" id="{80B8D02F-9479-42E8-BB55-B5F51D8F8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2168AF3-CA32-4522-8026-58ECBFDDDD85}" type="slidenum">
              <a:rPr lang="en-US" altLang="zh-TW" sz="1300" smtClean="0">
                <a:latin typeface="Times New Roman" panose="02020603050405020304" pitchFamily="18" charset="0"/>
              </a:rPr>
              <a:pPr/>
              <a:t>9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503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1" name="Rectangle 7">
            <a:extLst>
              <a:ext uri="{FF2B5EF4-FFF2-40B4-BE49-F238E27FC236}">
                <a16:creationId xmlns:a16="http://schemas.microsoft.com/office/drawing/2014/main" id="{24DF0C91-8E1A-4C40-A862-F1D8DB93BB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05E8002-A7E9-415B-96C1-879A0C7375D7}" type="slidenum">
              <a:rPr lang="en-US" altLang="en-US" sz="1300">
                <a:latin typeface="Times New Roman" panose="02020603050405020304" pitchFamily="18" charset="0"/>
              </a:rPr>
              <a:pPr/>
              <a:t>12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04802" name="Rectangle 2">
            <a:extLst>
              <a:ext uri="{FF2B5EF4-FFF2-40B4-BE49-F238E27FC236}">
                <a16:creationId xmlns:a16="http://schemas.microsoft.com/office/drawing/2014/main" id="{FA296428-DBBF-44EE-B75F-5E6F7F44D5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3" name="Rectangle 3">
            <a:extLst>
              <a:ext uri="{FF2B5EF4-FFF2-40B4-BE49-F238E27FC236}">
                <a16:creationId xmlns:a16="http://schemas.microsoft.com/office/drawing/2014/main" id="{57E2E1F9-B271-45B0-A26F-747231220F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49" name="Rectangle 7">
            <a:extLst>
              <a:ext uri="{FF2B5EF4-FFF2-40B4-BE49-F238E27FC236}">
                <a16:creationId xmlns:a16="http://schemas.microsoft.com/office/drawing/2014/main" id="{C6F095CA-C9EB-4C83-A476-41AEC3DC98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CE01A5E-9400-4A88-AC5A-F88797AF9D41}" type="slidenum">
              <a:rPr lang="en-US" altLang="en-US" sz="1300">
                <a:latin typeface="Times New Roman" panose="02020603050405020304" pitchFamily="18" charset="0"/>
              </a:rPr>
              <a:pPr/>
              <a:t>13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06850" name="Rectangle 2">
            <a:extLst>
              <a:ext uri="{FF2B5EF4-FFF2-40B4-BE49-F238E27FC236}">
                <a16:creationId xmlns:a16="http://schemas.microsoft.com/office/drawing/2014/main" id="{C2C449E5-06BB-428F-BB41-8400BB2D17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1" name="Rectangle 3">
            <a:extLst>
              <a:ext uri="{FF2B5EF4-FFF2-40B4-BE49-F238E27FC236}">
                <a16:creationId xmlns:a16="http://schemas.microsoft.com/office/drawing/2014/main" id="{CEFBC938-B9D1-4AC9-A9E4-64FA8F2A88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B3B123-8CDF-674A-8AF1-602D8CCD292B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46044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215A2A-98CA-A04F-9924-22318F7A891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4939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781F32-9F9E-3941-BA9B-F494432FAF93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466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2F9AC5-30E2-1A4C-8E6B-A511E4E89D4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2829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67A4EC-9374-A041-81A0-2320DF5FAE8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4084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742DA7-EBFB-0645-AF25-CC705267717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4653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ED817E-918D-964B-A53C-B73921EEE69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6578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753F24-ED85-8944-B13C-28AFDB0D43E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2117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F42ED8-E7CB-164E-91C2-4296E9FA28A7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1484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E97486-81E6-014A-B370-136AFD89F09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6971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12A0D5-F9A9-5F47-92A4-3B7DBAA768F3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6372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CA62CA2D-1DE9-B749-810E-3A558D9ED63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7832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2FE9647-DF21-6E48-98E9-0B0D55A59A47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591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9/30/26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58052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9/30/26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41126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9/30/26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96264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9/30/26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0999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9/30/26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17294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9/30/26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43285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9/30/26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37189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9/30/26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89374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9/30/26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05177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9/30/26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02862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9/30/26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23817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DF777C-A85A-453B-9D4F-57210DA7E483}" type="datetime1">
              <a:rPr lang="en-US">
                <a:solidFill>
                  <a:srgbClr val="000000"/>
                </a:solidFill>
              </a:rPr>
              <a:pPr/>
              <a:t>9/30/26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Application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2-</a:t>
            </a:r>
            <a:fld id="{F118CB8C-8CCC-4775-B06C-7B020220EEE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8635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D6A0DA-D5CC-41CA-B268-44938A01AE27}" type="datetime1">
              <a:rPr lang="en-US">
                <a:solidFill>
                  <a:srgbClr val="000000"/>
                </a:solidFill>
              </a:rPr>
              <a:pPr/>
              <a:t>9/30/26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Application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2-</a:t>
            </a:r>
            <a:fld id="{CC570A1B-76F1-45D1-89AB-41341685130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8505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4385E4-BB2A-47C3-9685-8388109DDCD8}" type="datetime1">
              <a:rPr lang="en-US">
                <a:solidFill>
                  <a:srgbClr val="000000"/>
                </a:solidFill>
              </a:rPr>
              <a:pPr/>
              <a:t>9/30/26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Application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2-</a:t>
            </a:r>
            <a:fld id="{577B4D2E-CDF5-4AD4-915E-1A01F1BA6D0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8753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971892-3F82-4CA2-BA04-6829951EC957}" type="datetime1">
              <a:rPr lang="en-US">
                <a:solidFill>
                  <a:srgbClr val="000000"/>
                </a:solidFill>
              </a:rPr>
              <a:pPr/>
              <a:t>9/30/26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Application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2-</a:t>
            </a:r>
            <a:fld id="{0308B36D-6E5E-4CFD-9ADD-EF8E38226C7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8266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8D1BCF-18F1-425B-9B07-C1A1FB93C9F8}" type="datetime1">
              <a:rPr lang="en-US">
                <a:solidFill>
                  <a:srgbClr val="000000"/>
                </a:solidFill>
              </a:rPr>
              <a:pPr/>
              <a:t>9/30/26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Application Layer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2-</a:t>
            </a:r>
            <a:fld id="{DDEEEAC8-9D3C-4C39-B9B2-30BF43FD2FD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5945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534DE9-A6F3-4E86-ADD9-B9EB7FFDE1A0}" type="datetime1">
              <a:rPr lang="en-US">
                <a:solidFill>
                  <a:srgbClr val="000000"/>
                </a:solidFill>
              </a:rPr>
              <a:pPr/>
              <a:t>9/30/26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Application Layer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2-</a:t>
            </a:r>
            <a:fld id="{15FA516B-BC3B-430E-80B9-4216CC680035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93691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AA79A8-A961-4C7C-B138-D0CE1BE9A0C1}" type="datetime1">
              <a:rPr lang="en-US">
                <a:solidFill>
                  <a:srgbClr val="000000"/>
                </a:solidFill>
              </a:rPr>
              <a:pPr/>
              <a:t>9/30/26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Application Layer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2-</a:t>
            </a:r>
            <a:fld id="{1F88B098-E2A9-4AF6-94A7-90556723E31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30222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735A6C-0DEF-43F5-A2D2-9BBE4ED136F1}" type="datetime1">
              <a:rPr lang="en-US">
                <a:solidFill>
                  <a:srgbClr val="000000"/>
                </a:solidFill>
              </a:rPr>
              <a:pPr/>
              <a:t>9/30/26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Application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2-</a:t>
            </a:r>
            <a:fld id="{03ED9EC7-58C6-4387-B67C-C3B12846D04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455268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768A36-A75E-4FC8-ADE8-AFBF12D2720F}" type="datetime1">
              <a:rPr lang="en-US">
                <a:solidFill>
                  <a:srgbClr val="000000"/>
                </a:solidFill>
              </a:rPr>
              <a:pPr/>
              <a:t>9/30/26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Application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2-</a:t>
            </a:r>
            <a:fld id="{FA04E709-457C-4E16-857D-6E508AD2694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0663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938A12-5D4E-4CAD-AB6F-E4824A1D02AA}" type="datetime1">
              <a:rPr lang="en-US">
                <a:solidFill>
                  <a:srgbClr val="000000"/>
                </a:solidFill>
              </a:rPr>
              <a:pPr/>
              <a:t>9/30/26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Application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2-</a:t>
            </a:r>
            <a:fld id="{893E7D54-93DA-4252-9F9F-741D7F7FA975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42161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2CAE07-6393-458A-919E-8CEFD0EBCA51}" type="datetime1">
              <a:rPr lang="en-US">
                <a:solidFill>
                  <a:srgbClr val="000000"/>
                </a:solidFill>
              </a:rPr>
              <a:pPr/>
              <a:t>9/30/26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Application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2-</a:t>
            </a:r>
            <a:fld id="{2B6E8D3D-851B-4637-8614-C0B6FEE6437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87581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1005EE-0DF4-4391-85AE-9AC69457AF66}" type="datetime1">
              <a:rPr lang="en-US">
                <a:solidFill>
                  <a:srgbClr val="000000"/>
                </a:solidFill>
              </a:rPr>
              <a:pPr/>
              <a:t>9/30/26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Application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2-</a:t>
            </a:r>
            <a:fld id="{7462E006-8644-4733-AA56-434B9759869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2467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13FD30-3C70-48E5-8FE7-906BED7E2F6F}" type="datetime1">
              <a:rPr lang="en-US">
                <a:solidFill>
                  <a:srgbClr val="000000"/>
                </a:solidFill>
              </a:rPr>
              <a:pPr/>
              <a:t>9/30/26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Application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2-</a:t>
            </a:r>
            <a:fld id="{758D6836-2163-4E16-9DD0-C2E2C15EF8D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01178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BABDA8-2BDF-4518-926C-19217A580045}" type="datetime1">
              <a:rPr lang="en-US">
                <a:solidFill>
                  <a:srgbClr val="000000"/>
                </a:solidFill>
              </a:rPr>
              <a:pPr/>
              <a:t>9/30/26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Application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2-</a:t>
            </a:r>
            <a:fld id="{72949491-9442-4889-B8F6-21B9432396D7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08413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0005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42C49B-B6B9-4B77-BED5-99B9AEA741E1}" type="datetime1">
              <a:rPr lang="en-US">
                <a:solidFill>
                  <a:srgbClr val="000000"/>
                </a:solidFill>
              </a:rPr>
              <a:pPr/>
              <a:t>9/30/26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Application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2-</a:t>
            </a:r>
            <a:fld id="{74BAE097-812F-4C15-90A9-0C2EE1310A0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526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EA49D5E-4F77-3B47-95AE-784DC8B7B056}" type="slidenum">
              <a:rPr lang="en-US" smtClean="0">
                <a:solidFill>
                  <a:srgbClr val="000000"/>
                </a:solidFill>
                <a:latin typeface="Arial" charset="0"/>
                <a:ea typeface="ＭＳ Ｐゴシック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265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9/30/26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81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400">
                <a:latin typeface="Times New Roman" pitchFamily="18" charset="0"/>
              </a:defRPr>
            </a:lvl1pPr>
          </a:lstStyle>
          <a:p>
            <a:pPr eaLnBrk="0" fontAlgn="base" hangingPunct="0">
              <a:spcAft>
                <a:spcPct val="0"/>
              </a:spcAft>
            </a:pPr>
            <a:fld id="{D501A5E7-64BD-418D-9CE3-B31592FEF496}" type="datetime1">
              <a:rPr lang="en-US">
                <a:solidFill>
                  <a:srgbClr val="000000"/>
                </a:solidFill>
                <a:ea typeface="ＭＳ Ｐゴシック" pitchFamily="34" charset="-128"/>
              </a:rPr>
              <a:pPr eaLnBrk="0" fontAlgn="base" hangingPunct="0">
                <a:spcAft>
                  <a:spcPct val="0"/>
                </a:spcAft>
              </a:pPr>
              <a:t>9/30/26</a:t>
            </a:fld>
            <a:endParaRPr lang="en-US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 eaLnBrk="0" fontAlgn="base" hangingPunct="0">
              <a:spcAft>
                <a:spcPct val="0"/>
              </a:spcAft>
              <a:defRPr/>
            </a:pPr>
            <a:r>
              <a:rPr lang="en-US">
                <a:solidFill>
                  <a:srgbClr val="000000"/>
                </a:solidFill>
              </a:rPr>
              <a:t>Application Layer</a:t>
            </a:r>
          </a:p>
        </p:txBody>
      </p:sp>
      <p:sp>
        <p:nvSpPr>
          <p:cNvPr id="3277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Tahoma" pitchFamily="34" charset="0"/>
              </a:defRPr>
            </a:lvl1pPr>
          </a:lstStyle>
          <a:p>
            <a:pPr eaLnBrk="0" fontAlgn="base" hangingPunct="0"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ea typeface="ＭＳ Ｐゴシック" pitchFamily="34" charset="-128"/>
              </a:rPr>
              <a:t>2-</a:t>
            </a:r>
            <a:fld id="{51EB3341-01D7-49B6-9694-B6C9F34A394D}" type="slidenum">
              <a:rPr lang="en-US">
                <a:solidFill>
                  <a:srgbClr val="000000"/>
                </a:solidFill>
                <a:ea typeface="ＭＳ Ｐゴシック" pitchFamily="34" charset="-128"/>
              </a:rPr>
              <a:pPr eaLnBrk="0" fontAlgn="base" hangingPunct="0"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056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  <p:sldLayoutId id="2147483869" r:id="rId14"/>
    <p:sldLayoutId id="2147483870" r:id="rId15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itchFamily="2" charset="2"/>
        <a:buChar char="v"/>
        <a:defRPr sz="2800">
          <a:solidFill>
            <a:schemeClr val="tx1"/>
          </a:solidFill>
          <a:latin typeface="Gill Sans MT" pitchFamily="34" charset="0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itchFamily="2" charset="2"/>
        <a:buChar char="§"/>
        <a:defRPr sz="2400">
          <a:solidFill>
            <a:schemeClr val="tx1"/>
          </a:solidFill>
          <a:latin typeface="Gill Sans MT" pitchFamily="34" charset="0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551E9-DD83-D130-53F8-A6E13847C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空心弧 3">
            <a:extLst>
              <a:ext uri="{FF2B5EF4-FFF2-40B4-BE49-F238E27FC236}">
                <a16:creationId xmlns:a16="http://schemas.microsoft.com/office/drawing/2014/main" id="{D2379EEB-48AF-2A8E-E62D-ECDA426B81CE}"/>
              </a:ext>
            </a:extLst>
          </p:cNvPr>
          <p:cNvSpPr/>
          <p:nvPr/>
        </p:nvSpPr>
        <p:spPr>
          <a:xfrm rot="5400000">
            <a:off x="354147" y="2716348"/>
            <a:ext cx="2133600" cy="2034905"/>
          </a:xfrm>
          <a:prstGeom prst="blockArc">
            <a:avLst/>
          </a:prstGeom>
          <a:solidFill>
            <a:srgbClr val="92D050">
              <a:alpha val="40865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7AC97DEA-05C7-6931-20B1-6FFC15FDEE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Problem 1 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20873D0-E1C7-4400-53B8-EC4052E0B08D}"/>
              </a:ext>
            </a:extLst>
          </p:cNvPr>
          <p:cNvSpPr/>
          <p:nvPr/>
        </p:nvSpPr>
        <p:spPr>
          <a:xfrm>
            <a:off x="990600" y="3352800"/>
            <a:ext cx="838200" cy="762000"/>
          </a:xfrm>
          <a:prstGeom prst="ellipse">
            <a:avLst/>
          </a:prstGeom>
          <a:solidFill>
            <a:srgbClr val="92D05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A42DE4B-6D52-C81E-F4B7-78519FEA07DC}"/>
              </a:ext>
            </a:extLst>
          </p:cNvPr>
          <p:cNvSpPr/>
          <p:nvPr/>
        </p:nvSpPr>
        <p:spPr>
          <a:xfrm>
            <a:off x="3200399" y="1600200"/>
            <a:ext cx="923193" cy="4648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  <a:p>
            <a:pPr algn="ctr"/>
            <a:endParaRPr kumimoji="1" lang="zh-CN" altLang="en-US" dirty="0"/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FF60FC5B-94DF-44DD-A57E-46903988903B}"/>
              </a:ext>
            </a:extLst>
          </p:cNvPr>
          <p:cNvCxnSpPr>
            <a:stCxn id="2" idx="0"/>
          </p:cNvCxnSpPr>
          <p:nvPr/>
        </p:nvCxnSpPr>
        <p:spPr>
          <a:xfrm flipV="1">
            <a:off x="1409700" y="1981200"/>
            <a:ext cx="1790700" cy="13716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115F1680-505D-1511-A721-597580C9C045}"/>
              </a:ext>
            </a:extLst>
          </p:cNvPr>
          <p:cNvCxnSpPr>
            <a:cxnSpLocks/>
            <a:stCxn id="2" idx="7"/>
          </p:cNvCxnSpPr>
          <p:nvPr/>
        </p:nvCxnSpPr>
        <p:spPr>
          <a:xfrm flipV="1">
            <a:off x="1706048" y="2789238"/>
            <a:ext cx="1494352" cy="67515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FF60FC5B-94DF-44DD-A57E-46903988903B}"/>
              </a:ext>
            </a:extLst>
          </p:cNvPr>
          <p:cNvCxnSpPr>
            <a:cxnSpLocks/>
          </p:cNvCxnSpPr>
          <p:nvPr/>
        </p:nvCxnSpPr>
        <p:spPr>
          <a:xfrm>
            <a:off x="1416309" y="4152567"/>
            <a:ext cx="1784091" cy="184421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094368C-2C20-BFFE-00FC-7C1C92829B5D}"/>
                  </a:ext>
                </a:extLst>
              </p:cNvPr>
              <p:cNvSpPr txBox="1"/>
              <p:nvPr/>
            </p:nvSpPr>
            <p:spPr>
              <a:xfrm>
                <a:off x="1009650" y="2225676"/>
                <a:ext cx="19812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094368C-2C20-BFFE-00FC-7C1C92829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2225676"/>
                <a:ext cx="1981200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74808F3-9AEF-7878-6248-D6C8B3B5C4EC}"/>
                  </a:ext>
                </a:extLst>
              </p:cNvPr>
              <p:cNvSpPr txBox="1"/>
              <p:nvPr/>
            </p:nvSpPr>
            <p:spPr>
              <a:xfrm>
                <a:off x="1428750" y="2670202"/>
                <a:ext cx="19812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74808F3-9AEF-7878-6248-D6C8B3B5C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750" y="2670202"/>
                <a:ext cx="1981200" cy="461665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1">
                <a:extLst>
                  <a:ext uri="{FF2B5EF4-FFF2-40B4-BE49-F238E27FC236}">
                    <a16:creationId xmlns:a16="http://schemas.microsoft.com/office/drawing/2014/main" id="{D094368C-2C20-BFFE-00FC-7C1C92829B5D}"/>
                  </a:ext>
                </a:extLst>
              </p:cNvPr>
              <p:cNvSpPr txBox="1"/>
              <p:nvPr/>
            </p:nvSpPr>
            <p:spPr>
              <a:xfrm>
                <a:off x="1219200" y="5026967"/>
                <a:ext cx="19812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" name="文本框 11">
                <a:extLst>
                  <a:ext uri="{FF2B5EF4-FFF2-40B4-BE49-F238E27FC236}">
                    <a16:creationId xmlns:a16="http://schemas.microsoft.com/office/drawing/2014/main" id="{D094368C-2C20-BFFE-00FC-7C1C92829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5026967"/>
                <a:ext cx="19812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0479B344-3523-85CA-6F14-6258E7018220}"/>
              </a:ext>
            </a:extLst>
          </p:cNvPr>
          <p:cNvSpPr txBox="1"/>
          <p:nvPr/>
        </p:nvSpPr>
        <p:spPr>
          <a:xfrm>
            <a:off x="2425129" y="3708548"/>
            <a:ext cx="553998" cy="10668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sz="2400" b="1" dirty="0"/>
              <a:t>……</a:t>
            </a:r>
            <a:endParaRPr kumimoji="1" lang="zh-CN" altLang="en-US" sz="2400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CAF07BB-D825-812F-24BF-76B985080132}"/>
              </a:ext>
            </a:extLst>
          </p:cNvPr>
          <p:cNvSpPr txBox="1"/>
          <p:nvPr/>
        </p:nvSpPr>
        <p:spPr>
          <a:xfrm>
            <a:off x="1219200" y="3500735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S</a:t>
            </a:r>
            <a:endParaRPr kumimoji="1" lang="zh-CN" altLang="en-US" sz="2400" dirty="0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B3DC942C-BC27-F122-FCC0-0E67A2AD6159}"/>
              </a:ext>
            </a:extLst>
          </p:cNvPr>
          <p:cNvSpPr/>
          <p:nvPr/>
        </p:nvSpPr>
        <p:spPr>
          <a:xfrm>
            <a:off x="6934200" y="1600200"/>
            <a:ext cx="990600" cy="62547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E601179-B7AA-83ED-862B-AEFF982E45B4}"/>
              </a:ext>
            </a:extLst>
          </p:cNvPr>
          <p:cNvSpPr txBox="1"/>
          <p:nvPr/>
        </p:nvSpPr>
        <p:spPr>
          <a:xfrm>
            <a:off x="7162800" y="1692721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C1</a:t>
            </a:r>
            <a:endParaRPr kumimoji="1" lang="zh-CN" altLang="en-US" sz="2400" dirty="0"/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1CFB4E3C-9D0F-AF28-232A-70796A499E22}"/>
              </a:ext>
            </a:extLst>
          </p:cNvPr>
          <p:cNvSpPr/>
          <p:nvPr/>
        </p:nvSpPr>
        <p:spPr>
          <a:xfrm>
            <a:off x="6934200" y="2506391"/>
            <a:ext cx="990600" cy="62547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95B965F-489F-3710-5B09-CD6C7AA9E03A}"/>
              </a:ext>
            </a:extLst>
          </p:cNvPr>
          <p:cNvSpPr txBox="1"/>
          <p:nvPr/>
        </p:nvSpPr>
        <p:spPr>
          <a:xfrm>
            <a:off x="7162800" y="2598912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C2</a:t>
            </a:r>
            <a:endParaRPr kumimoji="1" lang="zh-CN" altLang="en-US" sz="2400" dirty="0"/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B0F73034-B225-24DB-6BBC-C3E7F27533AF}"/>
              </a:ext>
            </a:extLst>
          </p:cNvPr>
          <p:cNvSpPr/>
          <p:nvPr/>
        </p:nvSpPr>
        <p:spPr>
          <a:xfrm>
            <a:off x="6934200" y="5517940"/>
            <a:ext cx="990600" cy="62547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8781641-4B59-C52B-5BAF-3EE43A0E6061}"/>
              </a:ext>
            </a:extLst>
          </p:cNvPr>
          <p:cNvSpPr txBox="1"/>
          <p:nvPr/>
        </p:nvSpPr>
        <p:spPr>
          <a:xfrm>
            <a:off x="7118091" y="5610461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CN</a:t>
            </a:r>
            <a:endParaRPr kumimoji="1" lang="zh-CN" altLang="en-US" sz="24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5D9D1E-405D-40D5-4E4A-C797AA3B2C79}"/>
              </a:ext>
            </a:extLst>
          </p:cNvPr>
          <p:cNvSpPr txBox="1"/>
          <p:nvPr/>
        </p:nvSpPr>
        <p:spPr>
          <a:xfrm>
            <a:off x="7277017" y="3803711"/>
            <a:ext cx="553998" cy="10668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sz="2400" b="1" dirty="0"/>
              <a:t>……</a:t>
            </a:r>
            <a:endParaRPr kumimoji="1" lang="zh-CN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BE07664-A017-9169-53B9-A977FA24853C}"/>
                  </a:ext>
                </a:extLst>
              </p:cNvPr>
              <p:cNvSpPr txBox="1"/>
              <p:nvPr/>
            </p:nvSpPr>
            <p:spPr>
              <a:xfrm>
                <a:off x="4542692" y="2373941"/>
                <a:ext cx="19812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BE07664-A017-9169-53B9-A977FA248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2692" y="2373941"/>
                <a:ext cx="1981200" cy="461665"/>
              </a:xfrm>
              <a:prstGeom prst="rect">
                <a:avLst/>
              </a:prstGeom>
              <a:blipFill>
                <a:blip r:embed="rId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C4239DC5-A5BD-8EE8-379C-950F62B53FCF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4124326" y="1912938"/>
            <a:ext cx="2809874" cy="2243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C2DB3270-1FC0-45EF-482C-F717EC0D863F}"/>
              </a:ext>
            </a:extLst>
          </p:cNvPr>
          <p:cNvCxnSpPr>
            <a:cxnSpLocks/>
          </p:cNvCxnSpPr>
          <p:nvPr/>
        </p:nvCxnSpPr>
        <p:spPr>
          <a:xfrm>
            <a:off x="4124326" y="2873105"/>
            <a:ext cx="283332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C0B4E8A-107F-C61B-F78C-1525B324BBAB}"/>
                  </a:ext>
                </a:extLst>
              </p:cNvPr>
              <p:cNvSpPr txBox="1"/>
              <p:nvPr/>
            </p:nvSpPr>
            <p:spPr>
              <a:xfrm>
                <a:off x="4618552" y="1396938"/>
                <a:ext cx="19812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C0B4E8A-107F-C61B-F78C-1525B324B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552" y="1396938"/>
                <a:ext cx="1981200" cy="461665"/>
              </a:xfrm>
              <a:prstGeom prst="rect">
                <a:avLst/>
              </a:prstGeom>
              <a:blipFill>
                <a:blip r:embed="rId7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397304D-0DA6-BCE2-957A-FC129F51F783}"/>
                  </a:ext>
                </a:extLst>
              </p:cNvPr>
              <p:cNvSpPr txBox="1"/>
              <p:nvPr/>
            </p:nvSpPr>
            <p:spPr>
              <a:xfrm>
                <a:off x="4548554" y="5368236"/>
                <a:ext cx="19812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397304D-0DA6-BCE2-957A-FC129F51F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554" y="5368236"/>
                <a:ext cx="1981200" cy="461665"/>
              </a:xfrm>
              <a:prstGeom prst="rect">
                <a:avLst/>
              </a:prstGeom>
              <a:blipFill>
                <a:blip r:embed="rId8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A4805612-2DEC-2B5B-70AD-07AE91582B7B}"/>
              </a:ext>
            </a:extLst>
          </p:cNvPr>
          <p:cNvCxnSpPr>
            <a:cxnSpLocks/>
          </p:cNvCxnSpPr>
          <p:nvPr/>
        </p:nvCxnSpPr>
        <p:spPr>
          <a:xfrm>
            <a:off x="4130188" y="5867400"/>
            <a:ext cx="283332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DED5BC2-AB11-F569-5190-C234A81F2BBA}"/>
                  </a:ext>
                </a:extLst>
              </p:cNvPr>
              <p:cNvSpPr txBox="1"/>
              <p:nvPr/>
            </p:nvSpPr>
            <p:spPr>
              <a:xfrm>
                <a:off x="1219200" y="3493905"/>
                <a:ext cx="19812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DED5BC2-AB11-F569-5190-C234A81F2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3493905"/>
                <a:ext cx="198120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EBBC6B46-76CD-D098-2B27-33DAE3F96612}"/>
              </a:ext>
            </a:extLst>
          </p:cNvPr>
          <p:cNvSpPr txBox="1"/>
          <p:nvPr/>
        </p:nvSpPr>
        <p:spPr>
          <a:xfrm>
            <a:off x="3113791" y="2952311"/>
            <a:ext cx="830997" cy="122245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en-US" altLang="zh-CN" sz="2400" dirty="0"/>
              <a:t>Network</a:t>
            </a:r>
            <a:endParaRPr kumimoji="1" lang="zh-CN" altLang="en-US" sz="2400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2033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26BA5-A92E-7861-6D66-2414CA4A5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A3C0975-8A05-971F-AB97-E278FEB2C8D7}"/>
              </a:ext>
            </a:extLst>
          </p:cNvPr>
          <p:cNvSpPr/>
          <p:nvPr/>
        </p:nvSpPr>
        <p:spPr>
          <a:xfrm>
            <a:off x="4572000" y="2514600"/>
            <a:ext cx="3886200" cy="406876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308825A9-62CB-BCB0-3187-8F42BB339C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Problem 1a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7" name="Rectangle 3">
                <a:extLst>
                  <a:ext uri="{FF2B5EF4-FFF2-40B4-BE49-F238E27FC236}">
                    <a16:creationId xmlns:a16="http://schemas.microsoft.com/office/drawing/2014/main" id="{E0D186B3-01F8-43BB-BAEB-4F7DE26441A2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dirty="0">
                    <a:latin typeface="Calibri"/>
                    <a:cs typeface="Calibri"/>
                  </a:rPr>
                  <a:t>We need design the allocation of server’s rate </a:t>
                </a:r>
                <a:r>
                  <a:rPr lang="en-US" altLang="zh-CN" sz="2400" i="1" dirty="0">
                    <a:latin typeface="Calibri"/>
                    <a:cs typeface="Calibri"/>
                  </a:rPr>
                  <a:t>u</a:t>
                </a:r>
                <a:r>
                  <a:rPr lang="en-US" altLang="zh-CN" sz="2400" i="1" baseline="-25000" dirty="0">
                    <a:latin typeface="Calibri"/>
                    <a:cs typeface="Calibri"/>
                  </a:rPr>
                  <a:t>s </a:t>
                </a:r>
                <a:r>
                  <a:rPr lang="en-US" sz="2400" dirty="0">
                    <a:latin typeface="Calibri"/>
                    <a:cs typeface="Calibri"/>
                  </a:rPr>
                  <a:t>, which is the set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𝑢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Calibri"/>
                    <a:cs typeface="Calibri"/>
                  </a:rPr>
                  <a:t>,</a:t>
                </a:r>
                <a:r>
                  <a:rPr lang="en-US" altLang="zh-CN" sz="2400" dirty="0"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Calibri"/>
                          </a:rPr>
                          <m:t>𝑢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Calibri"/>
                      </a:rPr>
                      <m:t>, 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Calibri"/>
                          </a:rPr>
                          <m:t>𝑢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2400" dirty="0">
                    <a:latin typeface="Calibri"/>
                    <a:cs typeface="Calibri"/>
                  </a:rPr>
                  <a:t>}, and this allocation should satisfy the following constraints:</a:t>
                </a: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Calibri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≤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𝑠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 dirty="0">
                    <a:latin typeface="Calibri"/>
                    <a:cs typeface="Calibri"/>
                  </a:rPr>
                  <a:t> </a:t>
                </a: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𝑚𝑎𝑥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≤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≤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𝑁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𝐹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, </m:t>
                        </m:r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𝐹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𝑁𝐹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𝑠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>
                  <a:latin typeface="Calibri"/>
                  <a:cs typeface="Calibri"/>
                </a:endParaRP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𝑑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𝑚𝑖𝑛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Calibri"/>
                      </a:rPr>
                      <m:t>𝑚𝑖𝑛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Calibri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, …,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Calibri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>
                  <a:latin typeface="Calibri"/>
                  <a:cs typeface="Calibri"/>
                </a:endParaRP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𝑁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&lt;</m:t>
                    </m:r>
                  </m:oMath>
                </a14:m>
                <a:r>
                  <a:rPr lang="en-US" altLang="zh-CN" sz="2400" dirty="0"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Calibri"/>
                          </a:rPr>
                          <m:t>𝑑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Calibri"/>
                          </a:rPr>
                          <m:t>𝑚𝑖𝑛</m:t>
                        </m:r>
                      </m:sub>
                    </m:sSub>
                  </m:oMath>
                </a14:m>
                <a:endParaRPr lang="en-US" sz="2400" dirty="0">
                  <a:latin typeface="Calibri"/>
                  <a:cs typeface="Calibri"/>
                </a:endParaRPr>
              </a:p>
              <a:p>
                <a:pPr marL="533400" indent="-533400">
                  <a:lnSpc>
                    <a:spcPct val="80000"/>
                  </a:lnSpc>
                  <a:buFontTx/>
                  <a:buNone/>
                </a:pPr>
                <a:endParaRPr lang="en-US" sz="2400" dirty="0">
                  <a:latin typeface="Calibri"/>
                  <a:cs typeface="Calibri"/>
                </a:endParaRPr>
              </a:p>
              <a:p>
                <a:pPr marL="533400" indent="-533400">
                  <a:lnSpc>
                    <a:spcPct val="80000"/>
                  </a:lnSpc>
                  <a:buFontTx/>
                  <a:buNone/>
                </a:pPr>
                <a:r>
                  <a:rPr lang="en-US" sz="2400" dirty="0">
                    <a:latin typeface="Calibri"/>
                    <a:cs typeface="Calibri"/>
                  </a:rPr>
                  <a:t>	</a:t>
                </a:r>
              </a:p>
            </p:txBody>
          </p:sp>
        </mc:Choice>
        <mc:Fallback xmlns="">
          <p:sp>
            <p:nvSpPr>
              <p:cNvPr id="16387" name="Rectangle 3">
                <a:extLst>
                  <a:ext uri="{FF2B5EF4-FFF2-40B4-BE49-F238E27FC236}">
                    <a16:creationId xmlns:a16="http://schemas.microsoft.com/office/drawing/2014/main" id="{E0D186B3-01F8-43BB-BAEB-4F7DE26441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235" t="-14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DE2A79A-55FC-B5AB-4A06-F706796CE899}"/>
                  </a:ext>
                </a:extLst>
              </p:cNvPr>
              <p:cNvSpPr txBox="1"/>
              <p:nvPr/>
            </p:nvSpPr>
            <p:spPr>
              <a:xfrm>
                <a:off x="5832231" y="3129159"/>
                <a:ext cx="2172903" cy="5654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DE2A79A-55FC-B5AB-4A06-F706796CE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231" y="3129159"/>
                <a:ext cx="2172903" cy="565411"/>
              </a:xfrm>
              <a:prstGeom prst="rect">
                <a:avLst/>
              </a:prstGeom>
              <a:blipFill>
                <a:blip r:embed="rId4"/>
                <a:stretch>
                  <a:fillRect l="-1163" t="-2222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C8834E5-22D9-5393-353C-88597D958104}"/>
                  </a:ext>
                </a:extLst>
              </p:cNvPr>
              <p:cNvSpPr txBox="1"/>
              <p:nvPr/>
            </p:nvSpPr>
            <p:spPr>
              <a:xfrm>
                <a:off x="5015115" y="2571560"/>
                <a:ext cx="852285" cy="472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cs typeface="Calibri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C8834E5-22D9-5393-353C-88597D9581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115" y="2571560"/>
                <a:ext cx="852285" cy="472565"/>
              </a:xfrm>
              <a:prstGeom prst="rect">
                <a:avLst/>
              </a:prstGeom>
              <a:blipFill>
                <a:blip r:embed="rId5"/>
                <a:stretch>
                  <a:fillRect l="-2941" b="-15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5F5DF00-11BE-318A-2161-2873AA12A71F}"/>
                  </a:ext>
                </a:extLst>
              </p:cNvPr>
              <p:cNvSpPr txBox="1"/>
              <p:nvPr/>
            </p:nvSpPr>
            <p:spPr>
              <a:xfrm>
                <a:off x="3172842" y="4425142"/>
                <a:ext cx="4572000" cy="5648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CN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Calibri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5F5DF00-11BE-318A-2161-2873AA12A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842" y="4425142"/>
                <a:ext cx="4572000" cy="564898"/>
              </a:xfrm>
              <a:prstGeom prst="rect">
                <a:avLst/>
              </a:prstGeom>
              <a:blipFill>
                <a:blip r:embed="rId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8E19BE8-8CBF-F25F-0BF9-FBC7C16DC90B}"/>
                  </a:ext>
                </a:extLst>
              </p:cNvPr>
              <p:cNvSpPr txBox="1"/>
              <p:nvPr/>
            </p:nvSpPr>
            <p:spPr>
              <a:xfrm>
                <a:off x="4876800" y="4965499"/>
                <a:ext cx="4572000" cy="5648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kumimoji="1" lang="en-US" altLang="zh-CN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Calibri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8E19BE8-8CBF-F25F-0BF9-FBC7C16DC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4965499"/>
                <a:ext cx="4572000" cy="564898"/>
              </a:xfrm>
              <a:prstGeom prst="rect">
                <a:avLst/>
              </a:prstGeom>
              <a:blipFill>
                <a:blip r:embed="rId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3986E6F-821F-6184-1978-46EABCD2AECB}"/>
                  </a:ext>
                </a:extLst>
              </p:cNvPr>
              <p:cNvSpPr txBox="1"/>
              <p:nvPr/>
            </p:nvSpPr>
            <p:spPr>
              <a:xfrm>
                <a:off x="4305300" y="2355003"/>
                <a:ext cx="4419600" cy="5570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kumimoji="1" lang="en-US" altLang="zh-CN" dirty="0"/>
              </a:p>
              <a:p>
                <a:r>
                  <a:rPr kumimoji="1" lang="en-US" altLang="zh-CN" dirty="0"/>
                  <a:t>     If </a:t>
                </a:r>
              </a:p>
              <a:p>
                <a:r>
                  <a:rPr kumimoji="1" lang="en-US" altLang="zh-CN" dirty="0"/>
                  <a:t>    </a:t>
                </a:r>
              </a:p>
              <a:p>
                <a:r>
                  <a:rPr kumimoji="1" lang="en-US" altLang="zh-CN" dirty="0"/>
                  <a:t>     We have</a:t>
                </a:r>
              </a:p>
              <a:p>
                <a:endParaRPr kumimoji="1" lang="en-US" altLang="zh-CN" dirty="0"/>
              </a:p>
              <a:p>
                <a:r>
                  <a:rPr kumimoji="1" lang="en-US" altLang="zh-CN" dirty="0"/>
                  <a:t>     Violate constraint 2</a:t>
                </a:r>
              </a:p>
              <a:p>
                <a:endParaRPr kumimoji="1" lang="en-US" altLang="zh-CN" dirty="0"/>
              </a:p>
              <a:p>
                <a:endParaRPr kumimoji="1" lang="en-US" altLang="zh-CN" dirty="0"/>
              </a:p>
              <a:p>
                <a:r>
                  <a:rPr kumimoji="1" lang="en-US" altLang="zh-CN" dirty="0"/>
                  <a:t>    If </a:t>
                </a:r>
              </a:p>
              <a:p>
                <a:endParaRPr kumimoji="1" lang="en-US" altLang="zh-CN" dirty="0"/>
              </a:p>
              <a:p>
                <a:r>
                  <a:rPr kumimoji="1" lang="en-US" altLang="zh-CN" dirty="0"/>
                  <a:t>    There must be</a:t>
                </a:r>
              </a:p>
              <a:p>
                <a:endParaRPr kumimoji="1" lang="en-US" altLang="zh-CN" dirty="0"/>
              </a:p>
              <a:p>
                <a:r>
                  <a:rPr kumimoji="1" lang="en-US" altLang="zh-CN" dirty="0"/>
                  <a:t>    Back to the first situation.</a:t>
                </a:r>
              </a:p>
              <a:p>
                <a:endParaRPr kumimoji="1" lang="en-US" altLang="zh-CN" dirty="0"/>
              </a:p>
              <a:p>
                <a:r>
                  <a:rPr kumimoji="1" lang="en-US" altLang="zh-CN" dirty="0"/>
                  <a:t>    So,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  <a:cs typeface="Calibri"/>
                          </a:rPr>
                          <m:t>𝑁</m:t>
                        </m:r>
                      </m:den>
                    </m:f>
                  </m:oMath>
                </a14:m>
                <a:endParaRPr kumimoji="1" lang="en-US" altLang="zh-CN" sz="2000" dirty="0"/>
              </a:p>
              <a:p>
                <a:endParaRPr kumimoji="1" lang="en-US" altLang="zh-CN" dirty="0"/>
              </a:p>
              <a:p>
                <a:endParaRPr kumimoji="1" lang="en-US" altLang="zh-CN" dirty="0"/>
              </a:p>
              <a:p>
                <a:endParaRPr kumimoji="1" lang="en-US" altLang="zh-CN" dirty="0"/>
              </a:p>
              <a:p>
                <a:endParaRPr kumimoji="1"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3986E6F-821F-6184-1978-46EABCD2A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5300" y="2355003"/>
                <a:ext cx="4419600" cy="55705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5384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Problem 1 a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lnSpc>
                <a:spcPct val="80000"/>
              </a:lnSpc>
              <a:buFontTx/>
              <a:buAutoNum type="alphaLcParenR"/>
            </a:pPr>
            <a:r>
              <a:rPr lang="en-US" sz="2400" dirty="0">
                <a:latin typeface="Calibri"/>
                <a:cs typeface="Calibri"/>
              </a:rPr>
              <a:t>Consider a distribution scheme in which the server sends the file to each client, in parallel, at a rate of </a:t>
            </a:r>
            <a:r>
              <a:rPr lang="en-US" sz="2400" i="1" dirty="0">
                <a:latin typeface="Calibri"/>
                <a:cs typeface="Calibri"/>
              </a:rPr>
              <a:t>u</a:t>
            </a:r>
            <a:r>
              <a:rPr lang="en-US" sz="2400" i="1" baseline="-25000" dirty="0">
                <a:latin typeface="Calibri"/>
                <a:cs typeface="Calibri"/>
              </a:rPr>
              <a:t>s</a:t>
            </a:r>
            <a:r>
              <a:rPr lang="en-US" sz="2400" dirty="0">
                <a:latin typeface="Calibri"/>
                <a:cs typeface="Calibri"/>
              </a:rPr>
              <a:t>/</a:t>
            </a:r>
            <a:r>
              <a:rPr lang="en-US" sz="2400" i="1" dirty="0">
                <a:latin typeface="Calibri"/>
                <a:cs typeface="Calibri"/>
              </a:rPr>
              <a:t>N</a:t>
            </a:r>
            <a:r>
              <a:rPr lang="en-US" sz="2400" dirty="0">
                <a:latin typeface="Calibri"/>
                <a:cs typeface="Calibri"/>
              </a:rPr>
              <a:t>.</a:t>
            </a:r>
          </a:p>
          <a:p>
            <a:pPr marL="533400" indent="-533400">
              <a:lnSpc>
                <a:spcPct val="80000"/>
              </a:lnSpc>
              <a:buFontTx/>
              <a:buAutoNum type="alphaLcParenR"/>
            </a:pPr>
            <a:endParaRPr lang="en-US" sz="2400" dirty="0">
              <a:latin typeface="Calibri"/>
              <a:cs typeface="Calibri"/>
            </a:endParaRPr>
          </a:p>
          <a:p>
            <a:pPr marL="533400" indent="-533400">
              <a:lnSpc>
                <a:spcPct val="80000"/>
              </a:lnSpc>
              <a:buFontTx/>
              <a:buNone/>
            </a:pPr>
            <a:r>
              <a:rPr lang="en-US" sz="2400" dirty="0">
                <a:latin typeface="Calibri"/>
                <a:cs typeface="Calibri"/>
              </a:rPr>
              <a:t> 	Note that this rate is less than each of the client</a:t>
            </a:r>
            <a:r>
              <a:rPr lang="ja-JP" altLang="en-US" sz="2400" dirty="0">
                <a:latin typeface="Calibri"/>
                <a:cs typeface="Calibri"/>
              </a:rPr>
              <a:t>’</a:t>
            </a:r>
            <a:r>
              <a:rPr lang="en-US" sz="2400" dirty="0">
                <a:latin typeface="Calibri"/>
                <a:cs typeface="Calibri"/>
              </a:rPr>
              <a:t>s download rate, since by assumption </a:t>
            </a:r>
            <a:r>
              <a:rPr lang="en-US" sz="2400" i="1" dirty="0">
                <a:latin typeface="Calibri"/>
                <a:cs typeface="Calibri"/>
              </a:rPr>
              <a:t>u</a:t>
            </a:r>
            <a:r>
              <a:rPr lang="en-US" sz="2400" i="1" baseline="-25000" dirty="0">
                <a:latin typeface="Calibri"/>
                <a:cs typeface="Calibri"/>
              </a:rPr>
              <a:t>s</a:t>
            </a:r>
            <a:r>
              <a:rPr lang="en-US" sz="2400" dirty="0">
                <a:latin typeface="Calibri"/>
                <a:cs typeface="Calibri"/>
              </a:rPr>
              <a:t>/</a:t>
            </a:r>
            <a:r>
              <a:rPr lang="en-US" sz="2400" i="1" dirty="0">
                <a:latin typeface="Calibri"/>
                <a:cs typeface="Calibri"/>
              </a:rPr>
              <a:t>N </a:t>
            </a:r>
            <a:r>
              <a:rPr lang="en-US" sz="2400" dirty="0">
                <a:latin typeface="Calibri"/>
                <a:cs typeface="Calibri"/>
              </a:rPr>
              <a:t>&lt; </a:t>
            </a:r>
            <a:r>
              <a:rPr lang="en-US" sz="2400" i="1" dirty="0" err="1">
                <a:latin typeface="Calibri"/>
                <a:cs typeface="Calibri"/>
              </a:rPr>
              <a:t>d</a:t>
            </a:r>
            <a:r>
              <a:rPr lang="en-US" sz="2400" baseline="-25000" dirty="0" err="1">
                <a:latin typeface="Calibri"/>
                <a:cs typeface="Calibri"/>
              </a:rPr>
              <a:t>min</a:t>
            </a:r>
            <a:r>
              <a:rPr lang="en-US" sz="2400" dirty="0">
                <a:latin typeface="Calibri"/>
                <a:cs typeface="Calibri"/>
              </a:rPr>
              <a:t>. </a:t>
            </a:r>
          </a:p>
          <a:p>
            <a:pPr marL="533400" indent="-533400">
              <a:lnSpc>
                <a:spcPct val="80000"/>
              </a:lnSpc>
              <a:buFontTx/>
              <a:buNone/>
            </a:pPr>
            <a:endParaRPr lang="en-US" sz="2400" dirty="0">
              <a:latin typeface="Calibri"/>
              <a:cs typeface="Calibri"/>
            </a:endParaRPr>
          </a:p>
          <a:p>
            <a:pPr marL="533400" indent="-533400">
              <a:lnSpc>
                <a:spcPct val="80000"/>
              </a:lnSpc>
              <a:buFontTx/>
              <a:buNone/>
            </a:pPr>
            <a:r>
              <a:rPr lang="en-US" sz="2400" dirty="0">
                <a:latin typeface="Calibri"/>
                <a:cs typeface="Calibri"/>
              </a:rPr>
              <a:t>	Thus each client can also receive at rate </a:t>
            </a:r>
            <a:r>
              <a:rPr lang="en-US" sz="2400" i="1" dirty="0">
                <a:latin typeface="Calibri"/>
                <a:cs typeface="Calibri"/>
              </a:rPr>
              <a:t>u</a:t>
            </a:r>
            <a:r>
              <a:rPr lang="en-US" sz="2400" i="1" baseline="-25000" dirty="0">
                <a:latin typeface="Calibri"/>
                <a:cs typeface="Calibri"/>
              </a:rPr>
              <a:t>s</a:t>
            </a:r>
            <a:r>
              <a:rPr lang="en-US" sz="2400" dirty="0">
                <a:latin typeface="Calibri"/>
                <a:cs typeface="Calibri"/>
              </a:rPr>
              <a:t>/</a:t>
            </a:r>
            <a:r>
              <a:rPr lang="en-US" sz="2400" i="1" dirty="0">
                <a:latin typeface="Calibri"/>
                <a:cs typeface="Calibri"/>
              </a:rPr>
              <a:t>N</a:t>
            </a:r>
            <a:r>
              <a:rPr lang="en-US" sz="2400" dirty="0">
                <a:latin typeface="Calibri"/>
                <a:cs typeface="Calibri"/>
              </a:rPr>
              <a:t>. Since each client receives at rate </a:t>
            </a:r>
            <a:r>
              <a:rPr lang="en-US" sz="2400" i="1" dirty="0">
                <a:latin typeface="Calibri"/>
                <a:cs typeface="Calibri"/>
              </a:rPr>
              <a:t>u</a:t>
            </a:r>
            <a:r>
              <a:rPr lang="en-US" sz="2400" i="1" baseline="-25000" dirty="0">
                <a:latin typeface="Calibri"/>
                <a:cs typeface="Calibri"/>
              </a:rPr>
              <a:t>s</a:t>
            </a:r>
            <a:r>
              <a:rPr lang="en-US" sz="2400" dirty="0">
                <a:latin typeface="Calibri"/>
                <a:cs typeface="Calibri"/>
              </a:rPr>
              <a:t>/</a:t>
            </a:r>
            <a:r>
              <a:rPr lang="en-US" sz="2400" i="1" dirty="0">
                <a:latin typeface="Calibri"/>
                <a:cs typeface="Calibri"/>
              </a:rPr>
              <a:t>N</a:t>
            </a:r>
            <a:r>
              <a:rPr lang="en-US" sz="2400" dirty="0">
                <a:latin typeface="Calibri"/>
                <a:cs typeface="Calibri"/>
              </a:rPr>
              <a:t>, the time for each client to receive the entire file is F/( </a:t>
            </a:r>
            <a:r>
              <a:rPr lang="en-US" sz="2400" i="1" dirty="0">
                <a:latin typeface="Calibri"/>
                <a:cs typeface="Calibri"/>
              </a:rPr>
              <a:t>u</a:t>
            </a:r>
            <a:r>
              <a:rPr lang="en-US" sz="2400" i="1" baseline="-25000" dirty="0">
                <a:latin typeface="Calibri"/>
                <a:cs typeface="Calibri"/>
              </a:rPr>
              <a:t>s</a:t>
            </a:r>
            <a:r>
              <a:rPr lang="en-US" sz="2400" dirty="0">
                <a:latin typeface="Calibri"/>
                <a:cs typeface="Calibri"/>
              </a:rPr>
              <a:t>/</a:t>
            </a:r>
            <a:r>
              <a:rPr lang="en-US" sz="2400" i="1" dirty="0">
                <a:latin typeface="Calibri"/>
                <a:cs typeface="Calibri"/>
              </a:rPr>
              <a:t>N</a:t>
            </a:r>
            <a:r>
              <a:rPr lang="en-US" sz="2400" dirty="0">
                <a:latin typeface="Calibri"/>
                <a:cs typeface="Calibri"/>
              </a:rPr>
              <a:t>) = </a:t>
            </a:r>
            <a:r>
              <a:rPr lang="en-US" sz="2400" i="1" dirty="0">
                <a:latin typeface="Calibri"/>
                <a:cs typeface="Calibri"/>
              </a:rPr>
              <a:t>NF/ u</a:t>
            </a:r>
            <a:r>
              <a:rPr lang="en-US" sz="2400" i="1" baseline="-25000" dirty="0">
                <a:latin typeface="Calibri"/>
                <a:cs typeface="Calibri"/>
              </a:rPr>
              <a:t>s</a:t>
            </a:r>
            <a:r>
              <a:rPr lang="en-US" sz="2400" i="1" dirty="0">
                <a:latin typeface="Calibri"/>
                <a:cs typeface="Calibri"/>
              </a:rPr>
              <a:t>. </a:t>
            </a:r>
          </a:p>
          <a:p>
            <a:pPr marL="533400" indent="-533400">
              <a:lnSpc>
                <a:spcPct val="80000"/>
              </a:lnSpc>
              <a:buFontTx/>
              <a:buNone/>
            </a:pPr>
            <a:endParaRPr lang="en-US" sz="2400" dirty="0">
              <a:latin typeface="Calibri"/>
              <a:cs typeface="Calibri"/>
            </a:endParaRPr>
          </a:p>
          <a:p>
            <a:pPr marL="533400" indent="-533400">
              <a:lnSpc>
                <a:spcPct val="80000"/>
              </a:lnSpc>
              <a:buFontTx/>
              <a:buNone/>
            </a:pPr>
            <a:r>
              <a:rPr lang="en-US" sz="2400" dirty="0">
                <a:latin typeface="Calibri"/>
                <a:cs typeface="Calibri"/>
              </a:rPr>
              <a:t>	Since all the clients receive the file in </a:t>
            </a:r>
            <a:r>
              <a:rPr lang="en-US" sz="2400" i="1" dirty="0">
                <a:latin typeface="Calibri"/>
                <a:cs typeface="Calibri"/>
              </a:rPr>
              <a:t>NF/ u</a:t>
            </a:r>
            <a:r>
              <a:rPr lang="en-US" sz="2400" i="1" baseline="-25000" dirty="0">
                <a:latin typeface="Calibri"/>
                <a:cs typeface="Calibri"/>
              </a:rPr>
              <a:t>s</a:t>
            </a:r>
            <a:r>
              <a:rPr lang="en-US" sz="2400" dirty="0">
                <a:latin typeface="Calibri"/>
                <a:cs typeface="Calibri"/>
              </a:rPr>
              <a:t>, the overall distribution time is also </a:t>
            </a:r>
            <a:r>
              <a:rPr lang="en-US" sz="2400" i="1" dirty="0">
                <a:latin typeface="Calibri"/>
                <a:cs typeface="Calibri"/>
              </a:rPr>
              <a:t>NF/ u</a:t>
            </a:r>
            <a:r>
              <a:rPr lang="en-US" sz="2400" i="1" baseline="-25000" dirty="0">
                <a:latin typeface="Calibri"/>
                <a:cs typeface="Calibri"/>
              </a:rPr>
              <a:t>s</a:t>
            </a:r>
            <a:r>
              <a:rPr lang="en-US" sz="2400" i="1" dirty="0">
                <a:latin typeface="Calibri"/>
                <a:cs typeface="Calibri"/>
              </a:rPr>
              <a:t>. </a:t>
            </a:r>
            <a:endParaRPr lang="en-US"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7832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B4673-B270-00E2-9F60-5EB56E63A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1F94DEFC-F578-6044-9953-7248521D45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Problem 1b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7" name="Rectangle 3">
                <a:extLst>
                  <a:ext uri="{FF2B5EF4-FFF2-40B4-BE49-F238E27FC236}">
                    <a16:creationId xmlns:a16="http://schemas.microsoft.com/office/drawing/2014/main" id="{0B5D93A0-6157-3092-1082-F9379CE0BF7D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dirty="0">
                    <a:latin typeface="Calibri"/>
                    <a:cs typeface="Calibri"/>
                  </a:rPr>
                  <a:t>We need design the allocation of server’s rate </a:t>
                </a:r>
                <a:r>
                  <a:rPr lang="en-US" altLang="zh-CN" sz="2400" i="1" dirty="0">
                    <a:latin typeface="Calibri"/>
                    <a:cs typeface="Calibri"/>
                  </a:rPr>
                  <a:t>u</a:t>
                </a:r>
                <a:r>
                  <a:rPr lang="en-US" altLang="zh-CN" sz="2400" i="1" baseline="-25000" dirty="0">
                    <a:latin typeface="Calibri"/>
                    <a:cs typeface="Calibri"/>
                  </a:rPr>
                  <a:t>s </a:t>
                </a:r>
                <a:r>
                  <a:rPr lang="en-US" sz="2400" dirty="0">
                    <a:latin typeface="Calibri"/>
                    <a:cs typeface="Calibri"/>
                  </a:rPr>
                  <a:t>, which is the set </a:t>
                </a:r>
                <a:r>
                  <a:rPr lang="en-US" altLang="zh-CN" sz="2400" dirty="0">
                    <a:latin typeface="Calibri"/>
                    <a:cs typeface="Calibri"/>
                  </a:rPr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Calibri"/>
                          </a:rPr>
                          <m:t>𝑢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Calibri"/>
                    <a:cs typeface="Calibri"/>
                  </a:rPr>
                  <a:t>,</a:t>
                </a:r>
                <a:r>
                  <a:rPr lang="en-US" altLang="zh-CN" sz="2400" dirty="0"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Calibri"/>
                          </a:rPr>
                          <m:t>𝑢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cs typeface="Calibri"/>
                      </a:rPr>
                      <m:t>, 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Calibri"/>
                          </a:rPr>
                          <m:t>𝑢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Calibri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Calibri"/>
                    <a:cs typeface="Calibri"/>
                  </a:rPr>
                  <a:t>}, </a:t>
                </a:r>
                <a:r>
                  <a:rPr lang="en-US" sz="2400" dirty="0">
                    <a:latin typeface="Calibri"/>
                    <a:cs typeface="Calibri"/>
                  </a:rPr>
                  <a:t>and this allocation should satisfy the following constraints:</a:t>
                </a: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Calibri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≤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𝑠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 dirty="0">
                    <a:latin typeface="Calibri"/>
                    <a:cs typeface="Calibri"/>
                  </a:rPr>
                  <a:t> </a:t>
                </a: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𝑚𝑎𝑥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≤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≤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𝑁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𝐹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, </m:t>
                        </m:r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𝐹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𝐹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Calibri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Calibri"/>
                              </a:rPr>
                              <m:t>𝑚𝑖𝑛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>
                  <a:latin typeface="Calibri"/>
                  <a:cs typeface="Calibri"/>
                </a:endParaRP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𝑑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𝑚𝑖𝑛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Calibri"/>
                      </a:rPr>
                      <m:t>𝑚𝑖𝑛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Calibri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, …,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Calibri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>
                  <a:latin typeface="Calibri"/>
                  <a:cs typeface="Calibri"/>
                </a:endParaRP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𝑁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&gt;</m:t>
                    </m:r>
                  </m:oMath>
                </a14:m>
                <a:r>
                  <a:rPr lang="en-US" altLang="zh-CN" sz="2400" dirty="0"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Calibri"/>
                          </a:rPr>
                          <m:t>𝑑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Calibri"/>
                          </a:rPr>
                          <m:t>𝑚𝑖𝑛</m:t>
                        </m:r>
                      </m:sub>
                    </m:sSub>
                  </m:oMath>
                </a14:m>
                <a:endParaRPr lang="en-US" sz="2400" dirty="0">
                  <a:latin typeface="Calibri"/>
                  <a:cs typeface="Calibri"/>
                </a:endParaRPr>
              </a:p>
              <a:p>
                <a:pPr marL="533400" indent="-533400">
                  <a:lnSpc>
                    <a:spcPct val="80000"/>
                  </a:lnSpc>
                  <a:buFontTx/>
                  <a:buNone/>
                </a:pPr>
                <a:endParaRPr lang="en-US" sz="2400" dirty="0">
                  <a:latin typeface="Calibri"/>
                  <a:cs typeface="Calibri"/>
                </a:endParaRPr>
              </a:p>
              <a:p>
                <a:pPr marL="533400" indent="-533400">
                  <a:lnSpc>
                    <a:spcPct val="80000"/>
                  </a:lnSpc>
                  <a:buFontTx/>
                  <a:buNone/>
                </a:pPr>
                <a:r>
                  <a:rPr lang="en-US" sz="2400" dirty="0">
                    <a:latin typeface="Calibri"/>
                    <a:cs typeface="Calibri"/>
                  </a:rPr>
                  <a:t>	</a:t>
                </a:r>
              </a:p>
            </p:txBody>
          </p:sp>
        </mc:Choice>
        <mc:Fallback xmlns="">
          <p:sp>
            <p:nvSpPr>
              <p:cNvPr id="16387" name="Rectangle 3">
                <a:extLst>
                  <a:ext uri="{FF2B5EF4-FFF2-40B4-BE49-F238E27FC236}">
                    <a16:creationId xmlns:a16="http://schemas.microsoft.com/office/drawing/2014/main" id="{0B5D93A0-6157-3092-1082-F9379CE0BF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235" t="-14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1698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Problem 1 b 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latin typeface="Calibri"/>
                <a:cs typeface="Calibri"/>
              </a:rPr>
              <a:t>b) Consider a distribution scheme in which the server sends the file to each client, in parallel, at a rate of </a:t>
            </a:r>
            <a:r>
              <a:rPr lang="en-US" sz="2400" i="1" dirty="0" err="1">
                <a:latin typeface="Calibri"/>
                <a:cs typeface="Calibri"/>
              </a:rPr>
              <a:t>d</a:t>
            </a:r>
            <a:r>
              <a:rPr lang="en-US" sz="2400" baseline="-25000" dirty="0" err="1">
                <a:latin typeface="Calibri"/>
                <a:cs typeface="Calibri"/>
              </a:rPr>
              <a:t>min</a:t>
            </a:r>
            <a:r>
              <a:rPr lang="en-US" sz="2400" dirty="0">
                <a:latin typeface="Calibri"/>
                <a:cs typeface="Calibri"/>
              </a:rPr>
              <a:t>.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 dirty="0">
              <a:latin typeface="Calibri"/>
              <a:cs typeface="Calibri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latin typeface="Calibri"/>
                <a:cs typeface="Calibri"/>
              </a:rPr>
              <a:t>	Note that the aggregate rate, </a:t>
            </a:r>
            <a:r>
              <a:rPr lang="en-US" sz="2400" i="1" dirty="0">
                <a:latin typeface="Calibri"/>
                <a:cs typeface="Calibri"/>
              </a:rPr>
              <a:t>N </a:t>
            </a:r>
            <a:r>
              <a:rPr lang="en-US" sz="2400" i="1" dirty="0" err="1">
                <a:latin typeface="Calibri"/>
                <a:cs typeface="Calibri"/>
              </a:rPr>
              <a:t>d</a:t>
            </a:r>
            <a:r>
              <a:rPr lang="en-US" sz="2400" baseline="-25000" dirty="0" err="1">
                <a:latin typeface="Calibri"/>
                <a:cs typeface="Calibri"/>
              </a:rPr>
              <a:t>min</a:t>
            </a:r>
            <a:r>
              <a:rPr lang="en-US" sz="2400" dirty="0">
                <a:latin typeface="Calibri"/>
                <a:cs typeface="Calibri"/>
              </a:rPr>
              <a:t>, is less than the server</a:t>
            </a:r>
            <a:r>
              <a:rPr lang="ja-JP" altLang="en-US" sz="2400" dirty="0">
                <a:latin typeface="Calibri"/>
                <a:cs typeface="Calibri"/>
              </a:rPr>
              <a:t>’</a:t>
            </a:r>
            <a:r>
              <a:rPr lang="en-US" sz="2400" dirty="0">
                <a:latin typeface="Calibri"/>
                <a:cs typeface="Calibri"/>
              </a:rPr>
              <a:t>s link rate </a:t>
            </a:r>
            <a:r>
              <a:rPr lang="en-US" sz="2400" i="1" dirty="0">
                <a:latin typeface="Calibri"/>
                <a:cs typeface="Calibri"/>
              </a:rPr>
              <a:t>u</a:t>
            </a:r>
            <a:r>
              <a:rPr lang="en-US" sz="2400" i="1" baseline="-25000" dirty="0">
                <a:latin typeface="Calibri"/>
                <a:cs typeface="Calibri"/>
              </a:rPr>
              <a:t>s</a:t>
            </a:r>
            <a:r>
              <a:rPr lang="en-US" sz="2400" dirty="0">
                <a:latin typeface="Calibri"/>
                <a:cs typeface="Calibri"/>
              </a:rPr>
              <a:t>, since by assumption </a:t>
            </a:r>
            <a:r>
              <a:rPr lang="en-US" sz="2400" i="1" dirty="0">
                <a:latin typeface="Calibri"/>
                <a:cs typeface="Calibri"/>
              </a:rPr>
              <a:t>u</a:t>
            </a:r>
            <a:r>
              <a:rPr lang="en-US" sz="2400" i="1" baseline="-25000" dirty="0">
                <a:latin typeface="Calibri"/>
                <a:cs typeface="Calibri"/>
              </a:rPr>
              <a:t>s</a:t>
            </a:r>
            <a:r>
              <a:rPr lang="en-US" sz="2400" i="1" dirty="0">
                <a:latin typeface="Calibri"/>
                <a:cs typeface="Calibri"/>
              </a:rPr>
              <a:t>/N</a:t>
            </a:r>
            <a:r>
              <a:rPr lang="en-US" sz="2400" dirty="0">
                <a:latin typeface="Calibri"/>
                <a:cs typeface="Calibri"/>
              </a:rPr>
              <a:t> &gt; </a:t>
            </a:r>
            <a:r>
              <a:rPr lang="en-US" sz="2400" i="1" dirty="0" err="1">
                <a:latin typeface="Calibri"/>
                <a:cs typeface="Calibri"/>
              </a:rPr>
              <a:t>d</a:t>
            </a:r>
            <a:r>
              <a:rPr lang="en-US" sz="2400" i="1" baseline="-25000" dirty="0" err="1">
                <a:latin typeface="Calibri"/>
                <a:cs typeface="Calibri"/>
              </a:rPr>
              <a:t>min</a:t>
            </a:r>
            <a:r>
              <a:rPr lang="en-US" sz="2400" dirty="0">
                <a:latin typeface="Calibri"/>
                <a:cs typeface="Calibri"/>
              </a:rPr>
              <a:t>.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 dirty="0">
              <a:latin typeface="Calibri"/>
              <a:cs typeface="Calibri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latin typeface="Calibri"/>
                <a:cs typeface="Calibri"/>
              </a:rPr>
              <a:t>	Since each client receives at rate </a:t>
            </a:r>
            <a:r>
              <a:rPr lang="en-US" sz="2400" i="1" dirty="0" err="1">
                <a:latin typeface="Calibri"/>
                <a:cs typeface="Calibri"/>
              </a:rPr>
              <a:t>d</a:t>
            </a:r>
            <a:r>
              <a:rPr lang="en-US" sz="2400" baseline="-25000" dirty="0" err="1">
                <a:latin typeface="Calibri"/>
                <a:cs typeface="Calibri"/>
              </a:rPr>
              <a:t>min</a:t>
            </a:r>
            <a:r>
              <a:rPr lang="en-US" sz="2400" dirty="0">
                <a:latin typeface="Calibri"/>
                <a:cs typeface="Calibri"/>
              </a:rPr>
              <a:t>,  the time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latin typeface="Calibri"/>
                <a:cs typeface="Calibri"/>
              </a:rPr>
              <a:t>	for each client to receive the entire file is F/ </a:t>
            </a:r>
            <a:r>
              <a:rPr lang="en-US" sz="2400" i="1" dirty="0" err="1">
                <a:latin typeface="Calibri"/>
                <a:cs typeface="Calibri"/>
              </a:rPr>
              <a:t>d</a:t>
            </a:r>
            <a:r>
              <a:rPr lang="en-US" sz="2400" baseline="-25000" dirty="0" err="1">
                <a:latin typeface="Calibri"/>
                <a:cs typeface="Calibri"/>
              </a:rPr>
              <a:t>min</a:t>
            </a:r>
            <a:r>
              <a:rPr lang="en-US" sz="2400" i="1" dirty="0">
                <a:latin typeface="Calibri"/>
                <a:cs typeface="Calibri"/>
              </a:rPr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latin typeface="Calibri"/>
                <a:cs typeface="Calibri"/>
              </a:rPr>
              <a:t>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latin typeface="Calibri"/>
                <a:cs typeface="Calibri"/>
              </a:rPr>
              <a:t>	Since all the clients receive the file in this time, the overall distribution time is also F/ </a:t>
            </a:r>
            <a:r>
              <a:rPr lang="en-US" sz="2400" i="1" dirty="0" err="1">
                <a:latin typeface="Calibri"/>
                <a:cs typeface="Calibri"/>
              </a:rPr>
              <a:t>d</a:t>
            </a:r>
            <a:r>
              <a:rPr lang="en-US" sz="2400" baseline="-25000" dirty="0" err="1">
                <a:latin typeface="Calibri"/>
                <a:cs typeface="Calibri"/>
              </a:rPr>
              <a:t>min</a:t>
            </a:r>
            <a:r>
              <a:rPr lang="en-US" sz="2400" i="1" dirty="0">
                <a:latin typeface="Calibri"/>
                <a:cs typeface="Calibri"/>
              </a:rPr>
              <a:t>.</a:t>
            </a:r>
            <a:r>
              <a:rPr lang="en-US" sz="2400" dirty="0">
                <a:latin typeface="Calibri"/>
                <a:cs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17306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1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ＭＳ Ｐゴシック" pitchFamily="34" charset="-128"/>
                <a:cs typeface="+mn-cs"/>
              </a:rPr>
              <a:t>Application Layer</a:t>
            </a:r>
          </a:p>
        </p:txBody>
      </p:sp>
      <p:sp>
        <p:nvSpPr>
          <p:cNvPr id="220162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ＭＳ Ｐゴシック" pitchFamily="34" charset="-128"/>
                <a:cs typeface="+mn-cs"/>
              </a:rPr>
              <a:t>2-</a:t>
            </a:r>
            <a:fld id="{A66ADED0-0A6B-4171-9BB0-6E16D5065B5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ＭＳ Ｐゴシック" pitchFamily="34" charset="-128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0163" name="Rectangle 2"/>
          <p:cNvSpPr>
            <a:spLocks noGrp="1" noChangeArrowheads="1"/>
          </p:cNvSpPr>
          <p:nvPr>
            <p:ph type="title"/>
          </p:nvPr>
        </p:nvSpPr>
        <p:spPr>
          <a:xfrm>
            <a:off x="298450" y="61913"/>
            <a:ext cx="8520113" cy="1143000"/>
          </a:xfrm>
        </p:spPr>
        <p:txBody>
          <a:bodyPr/>
          <a:lstStyle/>
          <a:p>
            <a:r>
              <a:rPr lang="en-US" sz="3600">
                <a:ea typeface="ＭＳ Ｐゴシック" pitchFamily="34" charset="-128"/>
              </a:rPr>
              <a:t>File distribution time: client-server</a:t>
            </a:r>
          </a:p>
        </p:txBody>
      </p:sp>
      <p:sp>
        <p:nvSpPr>
          <p:cNvPr id="220164" name="Rectangle 47"/>
          <p:cNvSpPr>
            <a:spLocks noGrp="1" noChangeArrowheads="1"/>
          </p:cNvSpPr>
          <p:nvPr>
            <p:ph type="body" idx="1"/>
          </p:nvPr>
        </p:nvSpPr>
        <p:spPr>
          <a:xfrm>
            <a:off x="322263" y="1252538"/>
            <a:ext cx="4100512" cy="2014537"/>
          </a:xfrm>
        </p:spPr>
        <p:txBody>
          <a:bodyPr/>
          <a:lstStyle/>
          <a:p>
            <a:r>
              <a:rPr lang="en-US" sz="2400" i="1">
                <a:solidFill>
                  <a:srgbClr val="CC0000"/>
                </a:solidFill>
                <a:ea typeface="ＭＳ Ｐゴシック" pitchFamily="34" charset="-128"/>
              </a:rPr>
              <a:t>server transmission: </a:t>
            </a:r>
            <a:r>
              <a:rPr lang="en-US" sz="2400">
                <a:ea typeface="ＭＳ Ｐゴシック" pitchFamily="34" charset="-128"/>
              </a:rPr>
              <a:t>must</a:t>
            </a:r>
            <a:r>
              <a:rPr lang="en-US" sz="2400" i="1">
                <a:solidFill>
                  <a:srgbClr val="CC0000"/>
                </a:solidFill>
                <a:ea typeface="ＭＳ Ｐゴシック" pitchFamily="34" charset="-128"/>
              </a:rPr>
              <a:t> </a:t>
            </a:r>
            <a:r>
              <a:rPr lang="en-US" sz="2400">
                <a:ea typeface="ＭＳ Ｐゴシック" pitchFamily="34" charset="-128"/>
              </a:rPr>
              <a:t>sequentially send (upload) </a:t>
            </a:r>
            <a:r>
              <a:rPr lang="en-US" sz="2400" i="1">
                <a:ea typeface="ＭＳ Ｐゴシック" pitchFamily="34" charset="-128"/>
              </a:rPr>
              <a:t>N </a:t>
            </a:r>
            <a:r>
              <a:rPr lang="en-US" sz="2400">
                <a:ea typeface="ＭＳ Ｐゴシック" pitchFamily="34" charset="-128"/>
              </a:rPr>
              <a:t>file</a:t>
            </a:r>
            <a:r>
              <a:rPr lang="en-US" sz="2400" i="1">
                <a:ea typeface="ＭＳ Ｐゴシック" pitchFamily="34" charset="-128"/>
              </a:rPr>
              <a:t> </a:t>
            </a:r>
            <a:r>
              <a:rPr lang="en-US" sz="2400">
                <a:ea typeface="ＭＳ Ｐゴシック" pitchFamily="34" charset="-128"/>
              </a:rPr>
              <a:t>copies</a:t>
            </a:r>
            <a:r>
              <a:rPr lang="en-US" sz="2600">
                <a:ea typeface="ＭＳ Ｐゴシック" pitchFamily="34" charset="-128"/>
              </a:rPr>
              <a:t>:</a:t>
            </a:r>
          </a:p>
          <a:p>
            <a:pPr lvl="1">
              <a:lnSpc>
                <a:spcPct val="100000"/>
              </a:lnSpc>
              <a:buSzPct val="85000"/>
            </a:pPr>
            <a:r>
              <a:rPr lang="en-US" sz="2000">
                <a:ea typeface="ＭＳ Ｐゴシック" pitchFamily="34" charset="-128"/>
              </a:rPr>
              <a:t>time to send one copy: </a:t>
            </a:r>
            <a:r>
              <a:rPr lang="en-US" sz="2000" i="1">
                <a:ea typeface="ＭＳ Ｐゴシック" pitchFamily="34" charset="-128"/>
              </a:rPr>
              <a:t>F/u</a:t>
            </a:r>
            <a:r>
              <a:rPr lang="en-US" sz="2000" i="1" baseline="-25000">
                <a:ea typeface="ＭＳ Ｐゴシック" pitchFamily="34" charset="-128"/>
              </a:rPr>
              <a:t>s </a:t>
            </a:r>
            <a:endParaRPr lang="en-US" sz="2000">
              <a:ea typeface="ＭＳ Ｐゴシック" pitchFamily="34" charset="-128"/>
            </a:endParaRPr>
          </a:p>
          <a:p>
            <a:pPr lvl="1">
              <a:lnSpc>
                <a:spcPct val="100000"/>
              </a:lnSpc>
              <a:buSzPct val="85000"/>
            </a:pPr>
            <a:r>
              <a:rPr lang="en-US" sz="2000">
                <a:ea typeface="ＭＳ Ｐゴシック" pitchFamily="34" charset="-128"/>
              </a:rPr>
              <a:t>time to send N copies: </a:t>
            </a:r>
            <a:r>
              <a:rPr lang="en-US" sz="2000" i="1">
                <a:ea typeface="ＭＳ Ｐゴシック" pitchFamily="34" charset="-128"/>
              </a:rPr>
              <a:t>NF/u</a:t>
            </a:r>
            <a:r>
              <a:rPr lang="en-US" sz="2000" i="1" baseline="-25000">
                <a:ea typeface="ＭＳ Ｐゴシック" pitchFamily="34" charset="-128"/>
              </a:rPr>
              <a:t>s</a:t>
            </a:r>
            <a:endParaRPr lang="en-US" sz="2000">
              <a:ea typeface="ＭＳ Ｐゴシック" pitchFamily="34" charset="-128"/>
            </a:endParaRPr>
          </a:p>
        </p:txBody>
      </p:sp>
      <p:sp>
        <p:nvSpPr>
          <p:cNvPr id="245813" name="Line 53"/>
          <p:cNvSpPr>
            <a:spLocks noChangeShapeType="1"/>
          </p:cNvSpPr>
          <p:nvPr/>
        </p:nvSpPr>
        <p:spPr bwMode="auto">
          <a:xfrm flipV="1">
            <a:off x="5746750" y="5368925"/>
            <a:ext cx="430213" cy="69215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45814" name="Text Box 54"/>
          <p:cNvSpPr txBox="1">
            <a:spLocks noChangeArrowheads="1"/>
          </p:cNvSpPr>
          <p:nvPr/>
        </p:nvSpPr>
        <p:spPr bwMode="auto">
          <a:xfrm>
            <a:off x="5484813" y="6022975"/>
            <a:ext cx="26701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increases linearly in N</a:t>
            </a:r>
          </a:p>
        </p:txBody>
      </p:sp>
      <p:sp>
        <p:nvSpPr>
          <p:cNvPr id="220167" name="Text Box 51"/>
          <p:cNvSpPr txBox="1">
            <a:spLocks noChangeArrowheads="1"/>
          </p:cNvSpPr>
          <p:nvPr/>
        </p:nvSpPr>
        <p:spPr bwMode="auto">
          <a:xfrm>
            <a:off x="1249363" y="4662488"/>
            <a:ext cx="278606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342900" marR="0" lvl="0" indent="-342900" algn="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time to  distribute F </a:t>
            </a:r>
          </a:p>
          <a:p>
            <a:pPr marL="342900" marR="0" lvl="0" indent="-342900" algn="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to N clients using </a:t>
            </a:r>
          </a:p>
          <a:p>
            <a:pPr marL="342900" marR="0" lvl="0" indent="-342900" algn="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client-server approach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pitchFamily="34" charset="-128"/>
                <a:cs typeface="+mn-cs"/>
              </a:rPr>
              <a:t> 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0168" name="Rectangle 55"/>
          <p:cNvSpPr>
            <a:spLocks noChangeArrowheads="1"/>
          </p:cNvSpPr>
          <p:nvPr/>
        </p:nvSpPr>
        <p:spPr bwMode="auto">
          <a:xfrm>
            <a:off x="1157288" y="4591050"/>
            <a:ext cx="7032625" cy="1235075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/>
              <a:ea typeface="ＭＳ Ｐゴシック" pitchFamily="34" charset="-128"/>
              <a:cs typeface="+mn-cs"/>
            </a:endParaRPr>
          </a:p>
        </p:txBody>
      </p:sp>
      <p:pic>
        <p:nvPicPr>
          <p:cNvPr id="220169" name="Picture 5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5" y="857250"/>
            <a:ext cx="6518275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70" name="Text Box 96"/>
          <p:cNvSpPr txBox="1">
            <a:spLocks noChangeArrowheads="1"/>
          </p:cNvSpPr>
          <p:nvPr/>
        </p:nvSpPr>
        <p:spPr bwMode="auto">
          <a:xfrm>
            <a:off x="3946525" y="4905375"/>
            <a:ext cx="4238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 D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c-s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 &gt; max{NF/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u</a:t>
            </a:r>
            <a:r>
              <a:rPr kumimoji="0" lang="en-US" sz="2800" b="0" i="1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s,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,F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/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d</a:t>
            </a:r>
            <a:r>
              <a:rPr kumimoji="0" lang="en-US" sz="2800" b="0" i="1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min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}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 </a:t>
            </a:r>
          </a:p>
        </p:txBody>
      </p:sp>
      <p:sp>
        <p:nvSpPr>
          <p:cNvPr id="220171" name="Rectangle 47"/>
          <p:cNvSpPr>
            <a:spLocks noChangeArrowheads="1"/>
          </p:cNvSpPr>
          <p:nvPr/>
        </p:nvSpPr>
        <p:spPr bwMode="auto">
          <a:xfrm>
            <a:off x="363538" y="3081338"/>
            <a:ext cx="4316412" cy="20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pitchFamily="34" charset="0"/>
                <a:ea typeface="ＭＳ Ｐゴシック" pitchFamily="34" charset="-128"/>
                <a:cs typeface="+mn-cs"/>
              </a:rPr>
              <a:t>client: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itchFamily="34" charset="0"/>
                <a:ea typeface="ＭＳ Ｐゴシック" pitchFamily="34" charset="-128"/>
                <a:cs typeface="+mn-cs"/>
              </a:rPr>
              <a:t>each client must download file copy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itchFamily="34" charset="0"/>
                <a:ea typeface="ＭＳ Ｐゴシック" pitchFamily="34" charset="-128"/>
                <a:cs typeface="+mn-cs"/>
              </a:rPr>
              <a:t>d</a:t>
            </a:r>
            <a:r>
              <a:rPr kumimoji="0" lang="en-US" sz="20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itchFamily="34" charset="0"/>
                <a:ea typeface="ＭＳ Ｐゴシック" pitchFamily="34" charset="-128"/>
                <a:cs typeface="+mn-cs"/>
              </a:rPr>
              <a:t>min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itchFamily="34" charset="0"/>
                <a:ea typeface="ＭＳ Ｐゴシック" pitchFamily="34" charset="-128"/>
                <a:cs typeface="+mn-cs"/>
              </a:rPr>
              <a:t> = min client download rate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itchFamily="34" charset="0"/>
                <a:ea typeface="ＭＳ Ｐゴシック" pitchFamily="34" charset="-128"/>
                <a:cs typeface="+mn-cs"/>
              </a:rPr>
              <a:t>min client download time: F/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itchFamily="34" charset="0"/>
                <a:ea typeface="ＭＳ Ｐゴシック" pitchFamily="34" charset="-128"/>
                <a:cs typeface="+mn-cs"/>
              </a:rPr>
              <a:t>d</a:t>
            </a:r>
            <a:r>
              <a:rPr kumimoji="0" lang="en-US" sz="20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itchFamily="34" charset="0"/>
                <a:ea typeface="ＭＳ Ｐゴシック" pitchFamily="34" charset="-128"/>
                <a:cs typeface="+mn-cs"/>
              </a:rPr>
              <a:t>min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pitchFamily="34" charset="0"/>
                <a:ea typeface="ＭＳ Ｐゴシック" pitchFamily="34" charset="-128"/>
                <a:cs typeface="+mn-cs"/>
              </a:rPr>
              <a:t>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0172" name="Line 120"/>
          <p:cNvSpPr>
            <a:spLocks noChangeShapeType="1"/>
          </p:cNvSpPr>
          <p:nvPr/>
        </p:nvSpPr>
        <p:spPr bwMode="auto">
          <a:xfrm>
            <a:off x="4843463" y="5334000"/>
            <a:ext cx="174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0173" name="Freeform 4"/>
          <p:cNvSpPr>
            <a:spLocks/>
          </p:cNvSpPr>
          <p:nvPr/>
        </p:nvSpPr>
        <p:spPr bwMode="auto">
          <a:xfrm>
            <a:off x="5600700" y="2111375"/>
            <a:ext cx="2136775" cy="1209675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0174" name="Line 14"/>
          <p:cNvSpPr>
            <a:spLocks noChangeShapeType="1"/>
          </p:cNvSpPr>
          <p:nvPr/>
        </p:nvSpPr>
        <p:spPr bwMode="auto">
          <a:xfrm>
            <a:off x="5338763" y="2085975"/>
            <a:ext cx="455612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0175" name="Text Box 15"/>
          <p:cNvSpPr txBox="1">
            <a:spLocks noChangeArrowheads="1"/>
          </p:cNvSpPr>
          <p:nvPr/>
        </p:nvSpPr>
        <p:spPr bwMode="auto">
          <a:xfrm>
            <a:off x="5364163" y="1763713"/>
            <a:ext cx="3667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u</a:t>
            </a:r>
            <a:r>
              <a:rPr kumimoji="0" lang="en-US" sz="16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s</a:t>
            </a:r>
          </a:p>
        </p:txBody>
      </p:sp>
      <p:sp>
        <p:nvSpPr>
          <p:cNvPr id="220176" name="Line 39"/>
          <p:cNvSpPr>
            <a:spLocks noChangeShapeType="1"/>
          </p:cNvSpPr>
          <p:nvPr/>
        </p:nvSpPr>
        <p:spPr bwMode="auto">
          <a:xfrm>
            <a:off x="5089525" y="2713038"/>
            <a:ext cx="574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0177" name="Line 40"/>
          <p:cNvSpPr>
            <a:spLocks noChangeShapeType="1"/>
          </p:cNvSpPr>
          <p:nvPr/>
        </p:nvSpPr>
        <p:spPr bwMode="auto">
          <a:xfrm flipH="1">
            <a:off x="5119688" y="2814638"/>
            <a:ext cx="5667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0178" name="Text Box 44"/>
          <p:cNvSpPr txBox="1">
            <a:spLocks noChangeArrowheads="1"/>
          </p:cNvSpPr>
          <p:nvPr/>
        </p:nvSpPr>
        <p:spPr bwMode="auto">
          <a:xfrm>
            <a:off x="6183313" y="2460625"/>
            <a:ext cx="895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network</a:t>
            </a:r>
          </a:p>
        </p:txBody>
      </p:sp>
      <p:sp>
        <p:nvSpPr>
          <p:cNvPr id="220179" name="AutoShape 327"/>
          <p:cNvSpPr>
            <a:spLocks noChangeArrowheads="1"/>
          </p:cNvSpPr>
          <p:nvPr/>
        </p:nvSpPr>
        <p:spPr bwMode="auto">
          <a:xfrm>
            <a:off x="4740275" y="1562100"/>
            <a:ext cx="334963" cy="401638"/>
          </a:xfrm>
          <a:prstGeom prst="can">
            <a:avLst>
              <a:gd name="adj" fmla="val 24242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sp>
        <p:nvSpPr>
          <p:cNvPr id="220180" name="Line 22"/>
          <p:cNvSpPr>
            <a:spLocks noChangeShapeType="1"/>
          </p:cNvSpPr>
          <p:nvPr/>
        </p:nvSpPr>
        <p:spPr bwMode="auto">
          <a:xfrm flipV="1">
            <a:off x="7000875" y="1819275"/>
            <a:ext cx="180975" cy="530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0181" name="Line 23"/>
          <p:cNvSpPr>
            <a:spLocks noChangeShapeType="1"/>
          </p:cNvSpPr>
          <p:nvPr/>
        </p:nvSpPr>
        <p:spPr bwMode="auto">
          <a:xfrm flipH="1">
            <a:off x="7078663" y="1825625"/>
            <a:ext cx="187325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0182" name="Line 22"/>
          <p:cNvSpPr>
            <a:spLocks noChangeShapeType="1"/>
          </p:cNvSpPr>
          <p:nvPr/>
        </p:nvSpPr>
        <p:spPr bwMode="auto">
          <a:xfrm flipV="1">
            <a:off x="6416675" y="1736725"/>
            <a:ext cx="179388" cy="530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0183" name="Line 23"/>
          <p:cNvSpPr>
            <a:spLocks noChangeShapeType="1"/>
          </p:cNvSpPr>
          <p:nvPr/>
        </p:nvSpPr>
        <p:spPr bwMode="auto">
          <a:xfrm flipH="1">
            <a:off x="6492875" y="1743075"/>
            <a:ext cx="185738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0184" name="Line 138"/>
          <p:cNvSpPr>
            <a:spLocks noChangeShapeType="1"/>
          </p:cNvSpPr>
          <p:nvPr/>
        </p:nvSpPr>
        <p:spPr bwMode="auto">
          <a:xfrm>
            <a:off x="7723188" y="2579688"/>
            <a:ext cx="6588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0185" name="Line 139"/>
          <p:cNvSpPr>
            <a:spLocks noChangeShapeType="1"/>
          </p:cNvSpPr>
          <p:nvPr/>
        </p:nvSpPr>
        <p:spPr bwMode="auto">
          <a:xfrm>
            <a:off x="7726363" y="2682875"/>
            <a:ext cx="660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0186" name="Text Box 41"/>
          <p:cNvSpPr txBox="1">
            <a:spLocks noChangeArrowheads="1"/>
          </p:cNvSpPr>
          <p:nvPr/>
        </p:nvSpPr>
        <p:spPr bwMode="auto">
          <a:xfrm>
            <a:off x="7813675" y="2146300"/>
            <a:ext cx="450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d</a:t>
            </a:r>
            <a:r>
              <a:rPr kumimoji="0" lang="en-US" sz="16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i</a:t>
            </a:r>
          </a:p>
        </p:txBody>
      </p:sp>
      <p:sp>
        <p:nvSpPr>
          <p:cNvPr id="220187" name="Text Box 41"/>
          <p:cNvSpPr txBox="1">
            <a:spLocks noChangeArrowheads="1"/>
          </p:cNvSpPr>
          <p:nvPr/>
        </p:nvSpPr>
        <p:spPr bwMode="auto">
          <a:xfrm>
            <a:off x="7829550" y="2663825"/>
            <a:ext cx="506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u</a:t>
            </a:r>
            <a:r>
              <a:rPr kumimoji="0" lang="en-US" sz="16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i</a:t>
            </a:r>
          </a:p>
        </p:txBody>
      </p:sp>
      <p:sp>
        <p:nvSpPr>
          <p:cNvPr id="220188" name="Text Box 47"/>
          <p:cNvSpPr txBox="1">
            <a:spLocks noChangeArrowheads="1"/>
          </p:cNvSpPr>
          <p:nvPr/>
        </p:nvSpPr>
        <p:spPr bwMode="auto">
          <a:xfrm>
            <a:off x="4498975" y="1616075"/>
            <a:ext cx="790575" cy="30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F</a:t>
            </a:r>
            <a:endParaRPr kumimoji="0" lang="en-US" sz="1400" b="0" i="1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grpSp>
        <p:nvGrpSpPr>
          <p:cNvPr id="220189" name="Group 143"/>
          <p:cNvGrpSpPr>
            <a:grpSpLocks/>
          </p:cNvGrpSpPr>
          <p:nvPr/>
        </p:nvGrpSpPr>
        <p:grpSpPr bwMode="auto">
          <a:xfrm>
            <a:off x="5114925" y="1690688"/>
            <a:ext cx="292100" cy="517525"/>
            <a:chOff x="4140" y="429"/>
            <a:chExt cx="1425" cy="2396"/>
          </a:xfrm>
        </p:grpSpPr>
        <p:sp>
          <p:nvSpPr>
            <p:cNvPr id="220202" name="Freeform 144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0203" name="Rectangle 145"/>
            <p:cNvSpPr>
              <a:spLocks noChangeArrowheads="1"/>
            </p:cNvSpPr>
            <p:nvPr/>
          </p:nvSpPr>
          <p:spPr bwMode="auto">
            <a:xfrm>
              <a:off x="4210" y="429"/>
              <a:ext cx="1046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0204" name="Freeform 146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0205" name="Freeform 147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0206" name="Rectangle 148"/>
            <p:cNvSpPr>
              <a:spLocks noChangeArrowheads="1"/>
            </p:cNvSpPr>
            <p:nvPr/>
          </p:nvSpPr>
          <p:spPr bwMode="auto">
            <a:xfrm>
              <a:off x="4210" y="694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grpSp>
          <p:nvGrpSpPr>
            <p:cNvPr id="220207" name="Group 149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20232" name="AutoShape 150"/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5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pitchFamily="82" charset="2"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  <a:cs typeface="+mn-cs"/>
                </a:endParaRPr>
              </a:p>
            </p:txBody>
          </p:sp>
          <p:sp>
            <p:nvSpPr>
              <p:cNvPr id="220233" name="AutoShape 151"/>
              <p:cNvSpPr>
                <a:spLocks noChangeArrowheads="1"/>
              </p:cNvSpPr>
              <p:nvPr/>
            </p:nvSpPr>
            <p:spPr bwMode="auto">
              <a:xfrm>
                <a:off x="637" y="2585"/>
                <a:ext cx="686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pitchFamily="82" charset="2"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  <a:cs typeface="+mn-cs"/>
                </a:endParaRPr>
              </a:p>
            </p:txBody>
          </p:sp>
        </p:grpSp>
        <p:sp>
          <p:nvSpPr>
            <p:cNvPr id="220208" name="Rectangle 152"/>
            <p:cNvSpPr>
              <a:spLocks noChangeArrowheads="1"/>
            </p:cNvSpPr>
            <p:nvPr/>
          </p:nvSpPr>
          <p:spPr bwMode="auto">
            <a:xfrm>
              <a:off x="4225" y="1017"/>
              <a:ext cx="596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grpSp>
          <p:nvGrpSpPr>
            <p:cNvPr id="220209" name="Group 153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20230" name="AutoShape 154"/>
              <p:cNvSpPr>
                <a:spLocks noChangeArrowheads="1"/>
              </p:cNvSpPr>
              <p:nvPr/>
            </p:nvSpPr>
            <p:spPr bwMode="auto">
              <a:xfrm>
                <a:off x="610" y="2569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pitchFamily="82" charset="2"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  <a:cs typeface="+mn-cs"/>
                </a:endParaRPr>
              </a:p>
            </p:txBody>
          </p:sp>
          <p:sp>
            <p:nvSpPr>
              <p:cNvPr id="220231" name="AutoShape 155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8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pitchFamily="82" charset="2"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  <a:cs typeface="+mn-cs"/>
                </a:endParaRPr>
              </a:p>
            </p:txBody>
          </p:sp>
        </p:grpSp>
        <p:sp>
          <p:nvSpPr>
            <p:cNvPr id="220210" name="Rectangle 156"/>
            <p:cNvSpPr>
              <a:spLocks noChangeArrowheads="1"/>
            </p:cNvSpPr>
            <p:nvPr/>
          </p:nvSpPr>
          <p:spPr bwMode="auto">
            <a:xfrm>
              <a:off x="4217" y="1355"/>
              <a:ext cx="596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0211" name="Rectangle 157"/>
            <p:cNvSpPr>
              <a:spLocks noChangeArrowheads="1"/>
            </p:cNvSpPr>
            <p:nvPr/>
          </p:nvSpPr>
          <p:spPr bwMode="auto">
            <a:xfrm>
              <a:off x="4225" y="1656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grpSp>
          <p:nvGrpSpPr>
            <p:cNvPr id="220212" name="Group 158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0228" name="AutoShape 159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4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pitchFamily="82" charset="2"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  <a:cs typeface="+mn-cs"/>
                </a:endParaRPr>
              </a:p>
            </p:txBody>
          </p:sp>
          <p:sp>
            <p:nvSpPr>
              <p:cNvPr id="220229" name="AutoShape 160"/>
              <p:cNvSpPr>
                <a:spLocks noChangeArrowheads="1"/>
              </p:cNvSpPr>
              <p:nvPr/>
            </p:nvSpPr>
            <p:spPr bwMode="auto">
              <a:xfrm>
                <a:off x="635" y="2582"/>
                <a:ext cx="685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pitchFamily="82" charset="2"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  <a:cs typeface="+mn-cs"/>
                </a:endParaRPr>
              </a:p>
            </p:txBody>
          </p:sp>
        </p:grpSp>
        <p:sp>
          <p:nvSpPr>
            <p:cNvPr id="220213" name="Freeform 161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grpSp>
          <p:nvGrpSpPr>
            <p:cNvPr id="220214" name="Group 162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0226" name="AutoShape 163"/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pitchFamily="82" charset="2"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  <a:cs typeface="+mn-cs"/>
                </a:endParaRPr>
              </a:p>
            </p:txBody>
          </p:sp>
          <p:sp>
            <p:nvSpPr>
              <p:cNvPr id="220227" name="AutoShape 164"/>
              <p:cNvSpPr>
                <a:spLocks noChangeArrowheads="1"/>
              </p:cNvSpPr>
              <p:nvPr/>
            </p:nvSpPr>
            <p:spPr bwMode="auto">
              <a:xfrm>
                <a:off x="630" y="2581"/>
                <a:ext cx="68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pitchFamily="82" charset="2"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  <a:cs typeface="+mn-cs"/>
                </a:endParaRPr>
              </a:p>
            </p:txBody>
          </p:sp>
        </p:grpSp>
        <p:sp>
          <p:nvSpPr>
            <p:cNvPr id="220215" name="Rectangle 165"/>
            <p:cNvSpPr>
              <a:spLocks noChangeArrowheads="1"/>
            </p:cNvSpPr>
            <p:nvPr/>
          </p:nvSpPr>
          <p:spPr bwMode="auto">
            <a:xfrm>
              <a:off x="5247" y="429"/>
              <a:ext cx="70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0216" name="Freeform 166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0217" name="Freeform 167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7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0218" name="Oval 168"/>
            <p:cNvSpPr>
              <a:spLocks noChangeArrowheads="1"/>
            </p:cNvSpPr>
            <p:nvPr/>
          </p:nvSpPr>
          <p:spPr bwMode="auto">
            <a:xfrm>
              <a:off x="5519" y="2612"/>
              <a:ext cx="46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0219" name="Freeform 169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0220" name="AutoShape 170"/>
            <p:cNvSpPr>
              <a:spLocks noChangeArrowheads="1"/>
            </p:cNvSpPr>
            <p:nvPr/>
          </p:nvSpPr>
          <p:spPr bwMode="auto">
            <a:xfrm>
              <a:off x="4140" y="2678"/>
              <a:ext cx="1200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0221" name="AutoShape 171"/>
            <p:cNvSpPr>
              <a:spLocks noChangeArrowheads="1"/>
            </p:cNvSpPr>
            <p:nvPr/>
          </p:nvSpPr>
          <p:spPr bwMode="auto">
            <a:xfrm>
              <a:off x="4210" y="2707"/>
              <a:ext cx="1069" cy="8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0222" name="Oval 172"/>
            <p:cNvSpPr>
              <a:spLocks noChangeArrowheads="1"/>
            </p:cNvSpPr>
            <p:nvPr/>
          </p:nvSpPr>
          <p:spPr bwMode="auto">
            <a:xfrm>
              <a:off x="4310" y="2384"/>
              <a:ext cx="155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0223" name="Oval 173"/>
            <p:cNvSpPr>
              <a:spLocks noChangeArrowheads="1"/>
            </p:cNvSpPr>
            <p:nvPr/>
          </p:nvSpPr>
          <p:spPr bwMode="auto">
            <a:xfrm>
              <a:off x="4489" y="2384"/>
              <a:ext cx="155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Arial" pitchFamily="34" charset="0"/>
              </a:endParaRPr>
            </a:p>
          </p:txBody>
        </p:sp>
        <p:sp>
          <p:nvSpPr>
            <p:cNvPr id="220224" name="Oval 174"/>
            <p:cNvSpPr>
              <a:spLocks noChangeArrowheads="1"/>
            </p:cNvSpPr>
            <p:nvPr/>
          </p:nvSpPr>
          <p:spPr bwMode="auto">
            <a:xfrm>
              <a:off x="4659" y="2384"/>
              <a:ext cx="163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0225" name="Rectangle 175"/>
            <p:cNvSpPr>
              <a:spLocks noChangeArrowheads="1"/>
            </p:cNvSpPr>
            <p:nvPr/>
          </p:nvSpPr>
          <p:spPr bwMode="auto">
            <a:xfrm>
              <a:off x="5062" y="1833"/>
              <a:ext cx="85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</p:grpSp>
      <p:grpSp>
        <p:nvGrpSpPr>
          <p:cNvPr id="220190" name="Group 176"/>
          <p:cNvGrpSpPr>
            <a:grpSpLocks/>
          </p:cNvGrpSpPr>
          <p:nvPr/>
        </p:nvGrpSpPr>
        <p:grpSpPr bwMode="auto">
          <a:xfrm>
            <a:off x="4471988" y="2492375"/>
            <a:ext cx="620712" cy="512763"/>
            <a:chOff x="-44" y="1473"/>
            <a:chExt cx="981" cy="1105"/>
          </a:xfrm>
        </p:grpSpPr>
        <p:pic>
          <p:nvPicPr>
            <p:cNvPr id="220200" name="Picture 177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0201" name="Freeform 17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</p:grpSp>
      <p:grpSp>
        <p:nvGrpSpPr>
          <p:cNvPr id="220191" name="Group 179"/>
          <p:cNvGrpSpPr>
            <a:grpSpLocks/>
          </p:cNvGrpSpPr>
          <p:nvPr/>
        </p:nvGrpSpPr>
        <p:grpSpPr bwMode="auto">
          <a:xfrm>
            <a:off x="6300788" y="1284288"/>
            <a:ext cx="620712" cy="512762"/>
            <a:chOff x="-44" y="1473"/>
            <a:chExt cx="981" cy="1105"/>
          </a:xfrm>
        </p:grpSpPr>
        <p:pic>
          <p:nvPicPr>
            <p:cNvPr id="220198" name="Picture 180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0199" name="Freeform 18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</p:grpSp>
      <p:grpSp>
        <p:nvGrpSpPr>
          <p:cNvPr id="220192" name="Group 182"/>
          <p:cNvGrpSpPr>
            <a:grpSpLocks/>
          </p:cNvGrpSpPr>
          <p:nvPr/>
        </p:nvGrpSpPr>
        <p:grpSpPr bwMode="auto">
          <a:xfrm>
            <a:off x="6910388" y="1360488"/>
            <a:ext cx="620712" cy="512762"/>
            <a:chOff x="-44" y="1473"/>
            <a:chExt cx="981" cy="1105"/>
          </a:xfrm>
        </p:grpSpPr>
        <p:pic>
          <p:nvPicPr>
            <p:cNvPr id="220196" name="Picture 183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0197" name="Freeform 184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</p:grpSp>
      <p:grpSp>
        <p:nvGrpSpPr>
          <p:cNvPr id="220193" name="Group 185"/>
          <p:cNvGrpSpPr>
            <a:grpSpLocks/>
          </p:cNvGrpSpPr>
          <p:nvPr/>
        </p:nvGrpSpPr>
        <p:grpSpPr bwMode="auto">
          <a:xfrm flipH="1">
            <a:off x="8369300" y="2362200"/>
            <a:ext cx="620713" cy="512763"/>
            <a:chOff x="-44" y="1473"/>
            <a:chExt cx="981" cy="1105"/>
          </a:xfrm>
        </p:grpSpPr>
        <p:pic>
          <p:nvPicPr>
            <p:cNvPr id="220194" name="Picture 186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0195" name="Freeform 187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4113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3" grpId="0" animBg="1"/>
      <p:bldP spid="2458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09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ＭＳ Ｐゴシック" pitchFamily="34" charset="-128"/>
                <a:cs typeface="+mn-cs"/>
              </a:rPr>
              <a:t>Application Layer</a:t>
            </a:r>
          </a:p>
        </p:txBody>
      </p:sp>
      <p:sp>
        <p:nvSpPr>
          <p:cNvPr id="222210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ＭＳ Ｐゴシック" pitchFamily="34" charset="-128"/>
                <a:cs typeface="+mn-cs"/>
              </a:rPr>
              <a:t>2-</a:t>
            </a:r>
            <a:fld id="{24F69638-2F21-480C-A753-F625761B071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ＭＳ Ｐゴシック" pitchFamily="34" charset="-128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22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98450" y="61913"/>
            <a:ext cx="8520113" cy="1143000"/>
          </a:xfrm>
        </p:spPr>
        <p:txBody>
          <a:bodyPr/>
          <a:lstStyle/>
          <a:p>
            <a:r>
              <a:rPr lang="en-US" sz="3600">
                <a:ea typeface="ＭＳ Ｐゴシック" pitchFamily="34" charset="-128"/>
              </a:rPr>
              <a:t>File distribution time: P2P</a:t>
            </a:r>
          </a:p>
        </p:txBody>
      </p:sp>
      <p:sp>
        <p:nvSpPr>
          <p:cNvPr id="222212" name="Rectangle 47"/>
          <p:cNvSpPr>
            <a:spLocks noGrp="1" noChangeArrowheads="1"/>
          </p:cNvSpPr>
          <p:nvPr>
            <p:ph type="body" idx="4294967295"/>
          </p:nvPr>
        </p:nvSpPr>
        <p:spPr>
          <a:xfrm>
            <a:off x="322263" y="1252538"/>
            <a:ext cx="4100512" cy="2014537"/>
          </a:xfrm>
        </p:spPr>
        <p:txBody>
          <a:bodyPr/>
          <a:lstStyle/>
          <a:p>
            <a:r>
              <a:rPr lang="en-US" sz="2400" i="1">
                <a:solidFill>
                  <a:srgbClr val="CC0000"/>
                </a:solidFill>
                <a:ea typeface="ＭＳ Ｐゴシック" pitchFamily="34" charset="-128"/>
              </a:rPr>
              <a:t>server transmission: </a:t>
            </a:r>
            <a:r>
              <a:rPr lang="en-US" sz="2400">
                <a:ea typeface="ＭＳ Ｐゴシック" pitchFamily="34" charset="-128"/>
              </a:rPr>
              <a:t>must</a:t>
            </a:r>
            <a:r>
              <a:rPr lang="en-US" sz="2400" i="1">
                <a:solidFill>
                  <a:srgbClr val="CC0000"/>
                </a:solidFill>
                <a:ea typeface="ＭＳ Ｐゴシック" pitchFamily="34" charset="-128"/>
              </a:rPr>
              <a:t> </a:t>
            </a:r>
            <a:r>
              <a:rPr lang="en-US" sz="2400">
                <a:ea typeface="ＭＳ Ｐゴシック" pitchFamily="34" charset="-128"/>
              </a:rPr>
              <a:t>upload at least one</a:t>
            </a:r>
            <a:r>
              <a:rPr lang="en-US" sz="2400" i="1">
                <a:ea typeface="ＭＳ Ｐゴシック" pitchFamily="34" charset="-128"/>
              </a:rPr>
              <a:t> </a:t>
            </a:r>
            <a:r>
              <a:rPr lang="en-US" sz="2400">
                <a:ea typeface="ＭＳ Ｐゴシック" pitchFamily="34" charset="-128"/>
              </a:rPr>
              <a:t>copy</a:t>
            </a:r>
            <a:endParaRPr lang="en-US" sz="2600">
              <a:ea typeface="ＭＳ Ｐゴシック" pitchFamily="34" charset="-128"/>
            </a:endParaRPr>
          </a:p>
          <a:p>
            <a:pPr lvl="1">
              <a:lnSpc>
                <a:spcPct val="100000"/>
              </a:lnSpc>
              <a:buSzPct val="85000"/>
            </a:pPr>
            <a:r>
              <a:rPr lang="en-US" sz="2000">
                <a:ea typeface="ＭＳ Ｐゴシック" pitchFamily="34" charset="-128"/>
              </a:rPr>
              <a:t>time to send one copy: </a:t>
            </a:r>
            <a:r>
              <a:rPr lang="en-US" sz="2000" i="1">
                <a:ea typeface="ＭＳ Ｐゴシック" pitchFamily="34" charset="-128"/>
              </a:rPr>
              <a:t>F/u</a:t>
            </a:r>
            <a:r>
              <a:rPr lang="en-US" sz="2000" i="1" baseline="-25000">
                <a:ea typeface="ＭＳ Ｐゴシック" pitchFamily="34" charset="-128"/>
              </a:rPr>
              <a:t>s </a:t>
            </a:r>
            <a:endParaRPr lang="en-US" sz="2000">
              <a:ea typeface="ＭＳ Ｐゴシック" pitchFamily="34" charset="-128"/>
            </a:endParaRPr>
          </a:p>
        </p:txBody>
      </p:sp>
      <p:sp>
        <p:nvSpPr>
          <p:cNvPr id="222213" name="Text Box 51"/>
          <p:cNvSpPr txBox="1">
            <a:spLocks noChangeArrowheads="1"/>
          </p:cNvSpPr>
          <p:nvPr/>
        </p:nvSpPr>
        <p:spPr bwMode="auto">
          <a:xfrm>
            <a:off x="331788" y="4464050"/>
            <a:ext cx="24098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342900" marR="0" lvl="0" indent="-342900" algn="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time to  distribute F </a:t>
            </a:r>
          </a:p>
          <a:p>
            <a:pPr marL="342900" marR="0" lvl="0" indent="-342900" algn="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to N clients using </a:t>
            </a:r>
          </a:p>
          <a:p>
            <a:pPr marL="342900" marR="0" lvl="0" indent="-342900" algn="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P2P approach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ＭＳ Ｐゴシック" pitchFamily="34" charset="-128"/>
                <a:cs typeface="+mn-cs"/>
              </a:rPr>
              <a:t> 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2214" name="Rectangle 55"/>
          <p:cNvSpPr>
            <a:spLocks noChangeArrowheads="1"/>
          </p:cNvSpPr>
          <p:nvPr/>
        </p:nvSpPr>
        <p:spPr bwMode="auto">
          <a:xfrm>
            <a:off x="217488" y="4371975"/>
            <a:ext cx="8726487" cy="1235075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/>
              <a:ea typeface="ＭＳ Ｐゴシック" pitchFamily="34" charset="-128"/>
              <a:cs typeface="+mn-cs"/>
            </a:endParaRPr>
          </a:p>
        </p:txBody>
      </p:sp>
      <p:pic>
        <p:nvPicPr>
          <p:cNvPr id="222215" name="Picture 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5" y="857250"/>
            <a:ext cx="493871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2216" name="Freeform 4"/>
          <p:cNvSpPr>
            <a:spLocks/>
          </p:cNvSpPr>
          <p:nvPr/>
        </p:nvSpPr>
        <p:spPr bwMode="auto">
          <a:xfrm>
            <a:off x="5600700" y="2111375"/>
            <a:ext cx="2136775" cy="1209675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2217" name="Line 14"/>
          <p:cNvSpPr>
            <a:spLocks noChangeShapeType="1"/>
          </p:cNvSpPr>
          <p:nvPr/>
        </p:nvSpPr>
        <p:spPr bwMode="auto">
          <a:xfrm>
            <a:off x="5338763" y="2085975"/>
            <a:ext cx="455612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2218" name="Text Box 15"/>
          <p:cNvSpPr txBox="1">
            <a:spLocks noChangeArrowheads="1"/>
          </p:cNvSpPr>
          <p:nvPr/>
        </p:nvSpPr>
        <p:spPr bwMode="auto">
          <a:xfrm>
            <a:off x="5364163" y="1763713"/>
            <a:ext cx="3667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u</a:t>
            </a:r>
            <a:r>
              <a:rPr kumimoji="0" lang="en-US" sz="16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s</a:t>
            </a:r>
          </a:p>
        </p:txBody>
      </p:sp>
      <p:sp>
        <p:nvSpPr>
          <p:cNvPr id="222219" name="Line 39"/>
          <p:cNvSpPr>
            <a:spLocks noChangeShapeType="1"/>
          </p:cNvSpPr>
          <p:nvPr/>
        </p:nvSpPr>
        <p:spPr bwMode="auto">
          <a:xfrm>
            <a:off x="5089525" y="2713038"/>
            <a:ext cx="574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2220" name="Line 40"/>
          <p:cNvSpPr>
            <a:spLocks noChangeShapeType="1"/>
          </p:cNvSpPr>
          <p:nvPr/>
        </p:nvSpPr>
        <p:spPr bwMode="auto">
          <a:xfrm flipH="1">
            <a:off x="5119688" y="2814638"/>
            <a:ext cx="5667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2221" name="Text Box 44"/>
          <p:cNvSpPr txBox="1">
            <a:spLocks noChangeArrowheads="1"/>
          </p:cNvSpPr>
          <p:nvPr/>
        </p:nvSpPr>
        <p:spPr bwMode="auto">
          <a:xfrm>
            <a:off x="6183313" y="2460625"/>
            <a:ext cx="895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network</a:t>
            </a:r>
          </a:p>
        </p:txBody>
      </p:sp>
      <p:sp>
        <p:nvSpPr>
          <p:cNvPr id="222222" name="AutoShape 327"/>
          <p:cNvSpPr>
            <a:spLocks noChangeArrowheads="1"/>
          </p:cNvSpPr>
          <p:nvPr/>
        </p:nvSpPr>
        <p:spPr bwMode="auto">
          <a:xfrm>
            <a:off x="4740275" y="1562100"/>
            <a:ext cx="334963" cy="401638"/>
          </a:xfrm>
          <a:prstGeom prst="can">
            <a:avLst>
              <a:gd name="adj" fmla="val 24242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sp>
        <p:nvSpPr>
          <p:cNvPr id="222223" name="Line 22"/>
          <p:cNvSpPr>
            <a:spLocks noChangeShapeType="1"/>
          </p:cNvSpPr>
          <p:nvPr/>
        </p:nvSpPr>
        <p:spPr bwMode="auto">
          <a:xfrm flipV="1">
            <a:off x="7000875" y="1819275"/>
            <a:ext cx="180975" cy="530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2224" name="Line 23"/>
          <p:cNvSpPr>
            <a:spLocks noChangeShapeType="1"/>
          </p:cNvSpPr>
          <p:nvPr/>
        </p:nvSpPr>
        <p:spPr bwMode="auto">
          <a:xfrm flipH="1">
            <a:off x="7078663" y="1825625"/>
            <a:ext cx="187325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2225" name="Line 22"/>
          <p:cNvSpPr>
            <a:spLocks noChangeShapeType="1"/>
          </p:cNvSpPr>
          <p:nvPr/>
        </p:nvSpPr>
        <p:spPr bwMode="auto">
          <a:xfrm flipV="1">
            <a:off x="6416675" y="1736725"/>
            <a:ext cx="179388" cy="530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2226" name="Line 23"/>
          <p:cNvSpPr>
            <a:spLocks noChangeShapeType="1"/>
          </p:cNvSpPr>
          <p:nvPr/>
        </p:nvSpPr>
        <p:spPr bwMode="auto">
          <a:xfrm flipH="1">
            <a:off x="6492875" y="1743075"/>
            <a:ext cx="185738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2227" name="Line 26"/>
          <p:cNvSpPr>
            <a:spLocks noChangeShapeType="1"/>
          </p:cNvSpPr>
          <p:nvPr/>
        </p:nvSpPr>
        <p:spPr bwMode="auto">
          <a:xfrm>
            <a:off x="7723188" y="2579688"/>
            <a:ext cx="6588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2228" name="Line 27"/>
          <p:cNvSpPr>
            <a:spLocks noChangeShapeType="1"/>
          </p:cNvSpPr>
          <p:nvPr/>
        </p:nvSpPr>
        <p:spPr bwMode="auto">
          <a:xfrm>
            <a:off x="7726363" y="2682875"/>
            <a:ext cx="660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2229" name="Text Box 41"/>
          <p:cNvSpPr txBox="1">
            <a:spLocks noChangeArrowheads="1"/>
          </p:cNvSpPr>
          <p:nvPr/>
        </p:nvSpPr>
        <p:spPr bwMode="auto">
          <a:xfrm>
            <a:off x="7813675" y="2146300"/>
            <a:ext cx="450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d</a:t>
            </a:r>
            <a:r>
              <a:rPr kumimoji="0" lang="en-US" sz="16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i</a:t>
            </a:r>
          </a:p>
        </p:txBody>
      </p:sp>
      <p:sp>
        <p:nvSpPr>
          <p:cNvPr id="222230" name="Text Box 41"/>
          <p:cNvSpPr txBox="1">
            <a:spLocks noChangeArrowheads="1"/>
          </p:cNvSpPr>
          <p:nvPr/>
        </p:nvSpPr>
        <p:spPr bwMode="auto">
          <a:xfrm>
            <a:off x="7829550" y="2663825"/>
            <a:ext cx="506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u</a:t>
            </a:r>
            <a:r>
              <a:rPr kumimoji="0" lang="en-US" sz="16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i</a:t>
            </a:r>
          </a:p>
        </p:txBody>
      </p:sp>
      <p:sp>
        <p:nvSpPr>
          <p:cNvPr id="222231" name="Text Box 47"/>
          <p:cNvSpPr txBox="1">
            <a:spLocks noChangeArrowheads="1"/>
          </p:cNvSpPr>
          <p:nvPr/>
        </p:nvSpPr>
        <p:spPr bwMode="auto">
          <a:xfrm>
            <a:off x="4498975" y="1616075"/>
            <a:ext cx="790575" cy="30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F</a:t>
            </a:r>
            <a:endParaRPr kumimoji="0" lang="en-US" sz="1400" b="0" i="1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2232" name="Text Box 31"/>
          <p:cNvSpPr txBox="1">
            <a:spLocks noChangeArrowheads="1"/>
          </p:cNvSpPr>
          <p:nvPr/>
        </p:nvSpPr>
        <p:spPr bwMode="auto">
          <a:xfrm>
            <a:off x="2698750" y="4657725"/>
            <a:ext cx="6134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 D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P2P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 &gt; max{F/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u</a:t>
            </a:r>
            <a:r>
              <a:rPr kumimoji="0" lang="en-US" sz="2800" b="0" i="1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s,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,F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/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d</a:t>
            </a:r>
            <a:r>
              <a:rPr kumimoji="0" lang="en-US" sz="2800" b="0" i="1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min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,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,NF/(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 +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itchFamily="18" charset="2"/>
                <a:ea typeface="ＭＳ Ｐゴシック" pitchFamily="34" charset="-128"/>
                <a:cs typeface="+mn-cs"/>
              </a:rPr>
              <a:t>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)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}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 </a:t>
            </a:r>
          </a:p>
        </p:txBody>
      </p:sp>
      <p:sp>
        <p:nvSpPr>
          <p:cNvPr id="222233" name="Rectangle 47"/>
          <p:cNvSpPr>
            <a:spLocks noChangeArrowheads="1"/>
          </p:cNvSpPr>
          <p:nvPr/>
        </p:nvSpPr>
        <p:spPr bwMode="auto">
          <a:xfrm>
            <a:off x="333375" y="2309813"/>
            <a:ext cx="4316413" cy="125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tabLst/>
              <a:defRPr/>
            </a:pP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pitchFamily="34" charset="0"/>
                <a:ea typeface="ＭＳ Ｐゴシック" pitchFamily="34" charset="-128"/>
                <a:cs typeface="+mn-cs"/>
              </a:rPr>
              <a:t>client: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itchFamily="34" charset="0"/>
                <a:ea typeface="ＭＳ Ｐゴシック" pitchFamily="34" charset="-128"/>
                <a:cs typeface="+mn-cs"/>
              </a:rPr>
              <a:t>each client must download file copy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itchFamily="34" charset="0"/>
                <a:ea typeface="ＭＳ Ｐゴシック" pitchFamily="34" charset="-128"/>
                <a:cs typeface="+mn-cs"/>
              </a:rPr>
              <a:t>min client download time: F/d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itchFamily="34" charset="0"/>
                <a:ea typeface="ＭＳ Ｐゴシック" pitchFamily="34" charset="-128"/>
                <a:cs typeface="+mn-cs"/>
              </a:rPr>
              <a:t>min</a:t>
            </a:r>
            <a:r>
              <a:rPr kumimoji="0" lang="en-US" sz="20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pitchFamily="34" charset="0"/>
                <a:ea typeface="ＭＳ Ｐゴシック" pitchFamily="34" charset="-128"/>
                <a:cs typeface="+mn-cs"/>
              </a:rPr>
              <a:t>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2234" name="Line 33"/>
          <p:cNvSpPr>
            <a:spLocks noChangeShapeType="1"/>
          </p:cNvSpPr>
          <p:nvPr/>
        </p:nvSpPr>
        <p:spPr bwMode="auto">
          <a:xfrm>
            <a:off x="3732213" y="5124450"/>
            <a:ext cx="174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22235" name="Rectangle 47"/>
          <p:cNvSpPr>
            <a:spLocks noChangeArrowheads="1"/>
          </p:cNvSpPr>
          <p:nvPr/>
        </p:nvSpPr>
        <p:spPr bwMode="auto">
          <a:xfrm>
            <a:off x="307975" y="3343275"/>
            <a:ext cx="6711950" cy="125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tabLst/>
              <a:defRPr/>
            </a:pP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 pitchFamily="34" charset="0"/>
                <a:ea typeface="ＭＳ Ｐゴシック" pitchFamily="34" charset="-128"/>
                <a:cs typeface="+mn-cs"/>
              </a:rPr>
              <a:t>clients: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itchFamily="34" charset="0"/>
                <a:ea typeface="ＭＳ Ｐゴシック" pitchFamily="34" charset="-128"/>
                <a:cs typeface="+mn-cs"/>
              </a:rPr>
              <a:t>as aggregate must download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itchFamily="34" charset="0"/>
                <a:ea typeface="ＭＳ Ｐゴシック" pitchFamily="34" charset="-128"/>
                <a:cs typeface="+mn-cs"/>
              </a:rPr>
              <a:t>NF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itchFamily="34" charset="0"/>
                <a:ea typeface="ＭＳ Ｐゴシック" pitchFamily="34" charset="-128"/>
                <a:cs typeface="+mn-cs"/>
              </a:rPr>
              <a:t> bits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itchFamily="34" charset="0"/>
                <a:ea typeface="ＭＳ Ｐゴシック" pitchFamily="34" charset="-128"/>
                <a:cs typeface="+mn-cs"/>
              </a:rPr>
              <a:t>max upload rate (limting max download rate) is u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itchFamily="34" charset="0"/>
                <a:ea typeface="ＭＳ Ｐゴシック" pitchFamily="34" charset="-128"/>
                <a:cs typeface="+mn-cs"/>
              </a:rPr>
              <a:t>s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itchFamily="34" charset="0"/>
                <a:ea typeface="ＭＳ Ｐゴシック" pitchFamily="34" charset="-128"/>
                <a:cs typeface="+mn-cs"/>
              </a:rPr>
              <a:t> +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itchFamily="18" charset="2"/>
                <a:ea typeface="ＭＳ Ｐゴシック" pitchFamily="34" charset="-128"/>
                <a:cs typeface="+mn-cs"/>
              </a:rPr>
              <a:t>S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itchFamily="34" charset="0"/>
                <a:ea typeface="ＭＳ Ｐゴシック" pitchFamily="34" charset="-128"/>
                <a:cs typeface="+mn-cs"/>
              </a:rPr>
              <a:t>u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itchFamily="34" charset="0"/>
                <a:ea typeface="ＭＳ Ｐゴシック" pitchFamily="34" charset="-128"/>
                <a:cs typeface="+mn-cs"/>
              </a:rPr>
              <a:t>i</a:t>
            </a:r>
          </a:p>
        </p:txBody>
      </p:sp>
      <p:sp>
        <p:nvSpPr>
          <p:cNvPr id="245813" name="Line 53"/>
          <p:cNvSpPr>
            <a:spLocks noChangeShapeType="1"/>
          </p:cNvSpPr>
          <p:nvPr/>
        </p:nvSpPr>
        <p:spPr bwMode="auto">
          <a:xfrm flipV="1">
            <a:off x="7650163" y="5137150"/>
            <a:ext cx="573087" cy="949325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245814" name="Text Box 54"/>
          <p:cNvSpPr txBox="1">
            <a:spLocks noChangeArrowheads="1"/>
          </p:cNvSpPr>
          <p:nvPr/>
        </p:nvSpPr>
        <p:spPr bwMode="auto">
          <a:xfrm>
            <a:off x="1827213" y="6069013"/>
            <a:ext cx="65293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… but so does this, as each peer brings service capacity</a:t>
            </a:r>
          </a:p>
        </p:txBody>
      </p:sp>
      <p:sp>
        <p:nvSpPr>
          <p:cNvPr id="2" name="Line 53"/>
          <p:cNvSpPr>
            <a:spLocks noChangeShapeType="1"/>
          </p:cNvSpPr>
          <p:nvPr/>
        </p:nvSpPr>
        <p:spPr bwMode="auto">
          <a:xfrm flipV="1">
            <a:off x="6365875" y="5092700"/>
            <a:ext cx="430213" cy="69215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3" name="Text Box 54"/>
          <p:cNvSpPr txBox="1">
            <a:spLocks noChangeArrowheads="1"/>
          </p:cNvSpPr>
          <p:nvPr/>
        </p:nvSpPr>
        <p:spPr bwMode="auto">
          <a:xfrm>
            <a:off x="3941763" y="5756275"/>
            <a:ext cx="2994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increases linearly in </a:t>
            </a:r>
            <a:r>
              <a:rPr kumimoji="0" 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rPr>
              <a:t> …</a:t>
            </a:r>
          </a:p>
        </p:txBody>
      </p:sp>
      <p:grpSp>
        <p:nvGrpSpPr>
          <p:cNvPr id="222240" name="Group 41"/>
          <p:cNvGrpSpPr>
            <a:grpSpLocks/>
          </p:cNvGrpSpPr>
          <p:nvPr/>
        </p:nvGrpSpPr>
        <p:grpSpPr bwMode="auto">
          <a:xfrm>
            <a:off x="5114925" y="1690688"/>
            <a:ext cx="292100" cy="517525"/>
            <a:chOff x="4140" y="429"/>
            <a:chExt cx="1425" cy="2396"/>
          </a:xfrm>
        </p:grpSpPr>
        <p:sp>
          <p:nvSpPr>
            <p:cNvPr id="222253" name="Freeform 4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2254" name="Rectangle 43"/>
            <p:cNvSpPr>
              <a:spLocks noChangeArrowheads="1"/>
            </p:cNvSpPr>
            <p:nvPr/>
          </p:nvSpPr>
          <p:spPr bwMode="auto">
            <a:xfrm>
              <a:off x="4210" y="429"/>
              <a:ext cx="1046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2255" name="Freeform 4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2256" name="Freeform 4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2257" name="Rectangle 46"/>
            <p:cNvSpPr>
              <a:spLocks noChangeArrowheads="1"/>
            </p:cNvSpPr>
            <p:nvPr/>
          </p:nvSpPr>
          <p:spPr bwMode="auto">
            <a:xfrm>
              <a:off x="4210" y="694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grpSp>
          <p:nvGrpSpPr>
            <p:cNvPr id="222258" name="Group 4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22283" name="AutoShape 48"/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5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pitchFamily="82" charset="2"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  <a:cs typeface="+mn-cs"/>
                </a:endParaRPr>
              </a:p>
            </p:txBody>
          </p:sp>
          <p:sp>
            <p:nvSpPr>
              <p:cNvPr id="222284" name="AutoShape 49"/>
              <p:cNvSpPr>
                <a:spLocks noChangeArrowheads="1"/>
              </p:cNvSpPr>
              <p:nvPr/>
            </p:nvSpPr>
            <p:spPr bwMode="auto">
              <a:xfrm>
                <a:off x="637" y="2585"/>
                <a:ext cx="686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pitchFamily="82" charset="2"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  <a:cs typeface="+mn-cs"/>
                </a:endParaRPr>
              </a:p>
            </p:txBody>
          </p:sp>
        </p:grpSp>
        <p:sp>
          <p:nvSpPr>
            <p:cNvPr id="222259" name="Rectangle 50"/>
            <p:cNvSpPr>
              <a:spLocks noChangeArrowheads="1"/>
            </p:cNvSpPr>
            <p:nvPr/>
          </p:nvSpPr>
          <p:spPr bwMode="auto">
            <a:xfrm>
              <a:off x="4225" y="1017"/>
              <a:ext cx="596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grpSp>
          <p:nvGrpSpPr>
            <p:cNvPr id="222260" name="Group 5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22281" name="AutoShape 52"/>
              <p:cNvSpPr>
                <a:spLocks noChangeArrowheads="1"/>
              </p:cNvSpPr>
              <p:nvPr/>
            </p:nvSpPr>
            <p:spPr bwMode="auto">
              <a:xfrm>
                <a:off x="610" y="2569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pitchFamily="82" charset="2"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  <a:cs typeface="+mn-cs"/>
                </a:endParaRPr>
              </a:p>
            </p:txBody>
          </p:sp>
          <p:sp>
            <p:nvSpPr>
              <p:cNvPr id="222282" name="AutoShape 53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8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pitchFamily="82" charset="2"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  <a:cs typeface="+mn-cs"/>
                </a:endParaRPr>
              </a:p>
            </p:txBody>
          </p:sp>
        </p:grpSp>
        <p:sp>
          <p:nvSpPr>
            <p:cNvPr id="222261" name="Rectangle 54"/>
            <p:cNvSpPr>
              <a:spLocks noChangeArrowheads="1"/>
            </p:cNvSpPr>
            <p:nvPr/>
          </p:nvSpPr>
          <p:spPr bwMode="auto">
            <a:xfrm>
              <a:off x="4217" y="1355"/>
              <a:ext cx="596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2262" name="Rectangle 55"/>
            <p:cNvSpPr>
              <a:spLocks noChangeArrowheads="1"/>
            </p:cNvSpPr>
            <p:nvPr/>
          </p:nvSpPr>
          <p:spPr bwMode="auto">
            <a:xfrm>
              <a:off x="4225" y="1656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grpSp>
          <p:nvGrpSpPr>
            <p:cNvPr id="222263" name="Group 5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2279" name="AutoShape 57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4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pitchFamily="82" charset="2"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  <a:cs typeface="+mn-cs"/>
                </a:endParaRPr>
              </a:p>
            </p:txBody>
          </p:sp>
          <p:sp>
            <p:nvSpPr>
              <p:cNvPr id="222280" name="AutoShape 58"/>
              <p:cNvSpPr>
                <a:spLocks noChangeArrowheads="1"/>
              </p:cNvSpPr>
              <p:nvPr/>
            </p:nvSpPr>
            <p:spPr bwMode="auto">
              <a:xfrm>
                <a:off x="635" y="2582"/>
                <a:ext cx="685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pitchFamily="82" charset="2"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  <a:cs typeface="+mn-cs"/>
                </a:endParaRPr>
              </a:p>
            </p:txBody>
          </p:sp>
        </p:grpSp>
        <p:sp>
          <p:nvSpPr>
            <p:cNvPr id="222264" name="Freeform 5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grpSp>
          <p:nvGrpSpPr>
            <p:cNvPr id="222265" name="Group 6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2277" name="AutoShape 61"/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pitchFamily="82" charset="2"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  <a:cs typeface="+mn-cs"/>
                </a:endParaRPr>
              </a:p>
            </p:txBody>
          </p:sp>
          <p:sp>
            <p:nvSpPr>
              <p:cNvPr id="222278" name="AutoShape 62"/>
              <p:cNvSpPr>
                <a:spLocks noChangeArrowheads="1"/>
              </p:cNvSpPr>
              <p:nvPr/>
            </p:nvSpPr>
            <p:spPr bwMode="auto">
              <a:xfrm>
                <a:off x="630" y="2581"/>
                <a:ext cx="68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pitchFamily="82" charset="2"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  <a:cs typeface="+mn-cs"/>
                </a:endParaRPr>
              </a:p>
            </p:txBody>
          </p:sp>
        </p:grpSp>
        <p:sp>
          <p:nvSpPr>
            <p:cNvPr id="222266" name="Rectangle 63"/>
            <p:cNvSpPr>
              <a:spLocks noChangeArrowheads="1"/>
            </p:cNvSpPr>
            <p:nvPr/>
          </p:nvSpPr>
          <p:spPr bwMode="auto">
            <a:xfrm>
              <a:off x="5247" y="429"/>
              <a:ext cx="70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2267" name="Freeform 6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2268" name="Freeform 6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7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2269" name="Oval 66"/>
            <p:cNvSpPr>
              <a:spLocks noChangeArrowheads="1"/>
            </p:cNvSpPr>
            <p:nvPr/>
          </p:nvSpPr>
          <p:spPr bwMode="auto">
            <a:xfrm>
              <a:off x="5519" y="2612"/>
              <a:ext cx="46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2270" name="Freeform 6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2271" name="AutoShape 68"/>
            <p:cNvSpPr>
              <a:spLocks noChangeArrowheads="1"/>
            </p:cNvSpPr>
            <p:nvPr/>
          </p:nvSpPr>
          <p:spPr bwMode="auto">
            <a:xfrm>
              <a:off x="4140" y="2678"/>
              <a:ext cx="1200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2272" name="AutoShape 69"/>
            <p:cNvSpPr>
              <a:spLocks noChangeArrowheads="1"/>
            </p:cNvSpPr>
            <p:nvPr/>
          </p:nvSpPr>
          <p:spPr bwMode="auto">
            <a:xfrm>
              <a:off x="4210" y="2707"/>
              <a:ext cx="1069" cy="8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2273" name="Oval 70"/>
            <p:cNvSpPr>
              <a:spLocks noChangeArrowheads="1"/>
            </p:cNvSpPr>
            <p:nvPr/>
          </p:nvSpPr>
          <p:spPr bwMode="auto">
            <a:xfrm>
              <a:off x="4310" y="2384"/>
              <a:ext cx="155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2274" name="Oval 71"/>
            <p:cNvSpPr>
              <a:spLocks noChangeArrowheads="1"/>
            </p:cNvSpPr>
            <p:nvPr/>
          </p:nvSpPr>
          <p:spPr bwMode="auto">
            <a:xfrm>
              <a:off x="4489" y="2384"/>
              <a:ext cx="155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Arial" pitchFamily="34" charset="0"/>
              </a:endParaRPr>
            </a:p>
          </p:txBody>
        </p:sp>
        <p:sp>
          <p:nvSpPr>
            <p:cNvPr id="222275" name="Oval 72"/>
            <p:cNvSpPr>
              <a:spLocks noChangeArrowheads="1"/>
            </p:cNvSpPr>
            <p:nvPr/>
          </p:nvSpPr>
          <p:spPr bwMode="auto">
            <a:xfrm>
              <a:off x="4659" y="2384"/>
              <a:ext cx="163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  <p:sp>
          <p:nvSpPr>
            <p:cNvPr id="222276" name="Rectangle 73"/>
            <p:cNvSpPr>
              <a:spLocks noChangeArrowheads="1"/>
            </p:cNvSpPr>
            <p:nvPr/>
          </p:nvSpPr>
          <p:spPr bwMode="auto">
            <a:xfrm>
              <a:off x="5062" y="1833"/>
              <a:ext cx="85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</p:grpSp>
      <p:grpSp>
        <p:nvGrpSpPr>
          <p:cNvPr id="222241" name="Group 74"/>
          <p:cNvGrpSpPr>
            <a:grpSpLocks/>
          </p:cNvGrpSpPr>
          <p:nvPr/>
        </p:nvGrpSpPr>
        <p:grpSpPr bwMode="auto">
          <a:xfrm flipH="1">
            <a:off x="8369300" y="2362200"/>
            <a:ext cx="620713" cy="512763"/>
            <a:chOff x="-44" y="1473"/>
            <a:chExt cx="981" cy="1105"/>
          </a:xfrm>
        </p:grpSpPr>
        <p:pic>
          <p:nvPicPr>
            <p:cNvPr id="222251" name="Picture 75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2252" name="Freeform 7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</p:grpSp>
      <p:grpSp>
        <p:nvGrpSpPr>
          <p:cNvPr id="222242" name="Group 77"/>
          <p:cNvGrpSpPr>
            <a:grpSpLocks/>
          </p:cNvGrpSpPr>
          <p:nvPr/>
        </p:nvGrpSpPr>
        <p:grpSpPr bwMode="auto">
          <a:xfrm>
            <a:off x="6300788" y="1284288"/>
            <a:ext cx="620712" cy="512762"/>
            <a:chOff x="-44" y="1473"/>
            <a:chExt cx="981" cy="1105"/>
          </a:xfrm>
        </p:grpSpPr>
        <p:pic>
          <p:nvPicPr>
            <p:cNvPr id="222249" name="Picture 78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2250" name="Freeform 7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</p:grpSp>
      <p:grpSp>
        <p:nvGrpSpPr>
          <p:cNvPr id="222243" name="Group 80"/>
          <p:cNvGrpSpPr>
            <a:grpSpLocks/>
          </p:cNvGrpSpPr>
          <p:nvPr/>
        </p:nvGrpSpPr>
        <p:grpSpPr bwMode="auto">
          <a:xfrm>
            <a:off x="6910388" y="1360488"/>
            <a:ext cx="620712" cy="512762"/>
            <a:chOff x="-44" y="1473"/>
            <a:chExt cx="981" cy="1105"/>
          </a:xfrm>
        </p:grpSpPr>
        <p:pic>
          <p:nvPicPr>
            <p:cNvPr id="222247" name="Picture 81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2248" name="Freeform 8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</p:grpSp>
      <p:grpSp>
        <p:nvGrpSpPr>
          <p:cNvPr id="222244" name="Group 83"/>
          <p:cNvGrpSpPr>
            <a:grpSpLocks/>
          </p:cNvGrpSpPr>
          <p:nvPr/>
        </p:nvGrpSpPr>
        <p:grpSpPr bwMode="auto">
          <a:xfrm>
            <a:off x="4471988" y="2492375"/>
            <a:ext cx="620712" cy="512763"/>
            <a:chOff x="-44" y="1473"/>
            <a:chExt cx="981" cy="1105"/>
          </a:xfrm>
        </p:grpSpPr>
        <p:pic>
          <p:nvPicPr>
            <p:cNvPr id="222245" name="Picture 84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2246" name="Freeform 85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pitchFamily="82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995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3" grpId="0" animBg="1"/>
      <p:bldP spid="245814" grpId="0"/>
      <p:bldP spid="2" grpId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6300" dirty="0"/>
              <a:t>Problem 2</a:t>
            </a:r>
          </a:p>
          <a:p>
            <a:pPr marL="0" indent="0">
              <a:buNone/>
            </a:pPr>
            <a:r>
              <a:rPr lang="en-US" dirty="0"/>
              <a:t>For calculating the minimum distribution time for client-server distribution, we use the following formula: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 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	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Similarly, for calculating the minimum distribution time for P2P distribution, we use the following formula: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 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 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Where, </a:t>
            </a:r>
            <a:r>
              <a:rPr lang="en-US" i="1" dirty="0"/>
              <a:t>F</a:t>
            </a:r>
            <a:r>
              <a:rPr lang="en-US" dirty="0"/>
              <a:t> = 15 </a:t>
            </a:r>
            <a:r>
              <a:rPr lang="en-US" dirty="0" err="1"/>
              <a:t>Gbits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u</a:t>
            </a:r>
            <a:r>
              <a:rPr lang="en-US" i="1" baseline="-25000" dirty="0"/>
              <a:t>s </a:t>
            </a:r>
            <a:r>
              <a:rPr lang="en-US" dirty="0"/>
              <a:t>= 30 Mbps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fr-FR" i="1" dirty="0" err="1"/>
              <a:t>d</a:t>
            </a:r>
            <a:r>
              <a:rPr lang="fr-FR" i="1" baseline="-25000" dirty="0" err="1"/>
              <a:t>min</a:t>
            </a:r>
            <a:r>
              <a:rPr lang="fr-FR" i="1" baseline="-25000" dirty="0"/>
              <a:t> </a:t>
            </a:r>
            <a:r>
              <a:rPr lang="fr-FR" baseline="-25000" dirty="0"/>
              <a:t>= </a:t>
            </a:r>
            <a:r>
              <a:rPr lang="fr-FR" i="1" dirty="0"/>
              <a:t>d</a:t>
            </a:r>
            <a:r>
              <a:rPr lang="fr-FR" i="1" baseline="-25000" dirty="0"/>
              <a:t>i</a:t>
            </a:r>
            <a:r>
              <a:rPr lang="fr-FR" baseline="-25000" dirty="0"/>
              <a:t> </a:t>
            </a:r>
            <a:r>
              <a:rPr lang="fr-FR" dirty="0"/>
              <a:t>= 2 Mbps</a:t>
            </a:r>
            <a:endParaRPr lang="en-US" b="1" dirty="0"/>
          </a:p>
          <a:p>
            <a:pPr marL="0" indent="0">
              <a:buNone/>
            </a:pPr>
            <a:r>
              <a:rPr lang="fr-FR" dirty="0"/>
              <a:t> 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Text Box 96"/>
          <p:cNvSpPr txBox="1">
            <a:spLocks noChangeArrowheads="1"/>
          </p:cNvSpPr>
          <p:nvPr/>
        </p:nvSpPr>
        <p:spPr bwMode="auto">
          <a:xfrm>
            <a:off x="1676400" y="1904999"/>
            <a:ext cx="4238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sz="2800" i="1" dirty="0">
                <a:solidFill>
                  <a:srgbClr val="000000"/>
                </a:solidFill>
              </a:rPr>
              <a:t> D</a:t>
            </a:r>
            <a:r>
              <a:rPr lang="en-US" sz="2800" i="1" baseline="-25000" dirty="0">
                <a:solidFill>
                  <a:srgbClr val="000000"/>
                </a:solidFill>
              </a:rPr>
              <a:t>c-s</a:t>
            </a:r>
            <a:r>
              <a:rPr lang="en-US" sz="2800" i="1" dirty="0">
                <a:solidFill>
                  <a:srgbClr val="000000"/>
                </a:solidFill>
              </a:rPr>
              <a:t> &gt; max{NF/</a:t>
            </a:r>
            <a:r>
              <a:rPr lang="en-US" sz="2800" i="1" dirty="0" err="1">
                <a:solidFill>
                  <a:srgbClr val="000000"/>
                </a:solidFill>
              </a:rPr>
              <a:t>u</a:t>
            </a:r>
            <a:r>
              <a:rPr lang="en-US" sz="2800" i="1" baseline="-25000" dirty="0" err="1">
                <a:solidFill>
                  <a:srgbClr val="000000"/>
                </a:solidFill>
              </a:rPr>
              <a:t>s,</a:t>
            </a:r>
            <a:r>
              <a:rPr lang="en-US" sz="2800" i="1" dirty="0" err="1">
                <a:solidFill>
                  <a:srgbClr val="000000"/>
                </a:solidFill>
              </a:rPr>
              <a:t>,F</a:t>
            </a:r>
            <a:r>
              <a:rPr lang="en-US" sz="2800" i="1" dirty="0">
                <a:solidFill>
                  <a:srgbClr val="000000"/>
                </a:solidFill>
              </a:rPr>
              <a:t>/</a:t>
            </a:r>
            <a:r>
              <a:rPr lang="en-US" sz="2800" i="1" dirty="0" err="1">
                <a:solidFill>
                  <a:srgbClr val="000000"/>
                </a:solidFill>
              </a:rPr>
              <a:t>d</a:t>
            </a:r>
            <a:r>
              <a:rPr lang="en-US" sz="2800" i="1" baseline="-25000" dirty="0" err="1">
                <a:solidFill>
                  <a:srgbClr val="000000"/>
                </a:solidFill>
              </a:rPr>
              <a:t>min</a:t>
            </a:r>
            <a:r>
              <a:rPr lang="en-US" sz="2800" i="1" dirty="0">
                <a:solidFill>
                  <a:srgbClr val="000000"/>
                </a:solidFill>
              </a:rPr>
              <a:t>}</a:t>
            </a:r>
            <a:r>
              <a:rPr lang="en-US" sz="2800" i="1" dirty="0">
                <a:solidFill>
                  <a:srgbClr val="CC0000"/>
                </a:solidFill>
              </a:rPr>
              <a:t> </a:t>
            </a:r>
          </a:p>
        </p:txBody>
      </p:sp>
      <p:sp>
        <p:nvSpPr>
          <p:cNvPr id="5" name="Text Box 31"/>
          <p:cNvSpPr txBox="1">
            <a:spLocks noChangeArrowheads="1"/>
          </p:cNvSpPr>
          <p:nvPr/>
        </p:nvSpPr>
        <p:spPr bwMode="auto">
          <a:xfrm>
            <a:off x="1219200" y="3443287"/>
            <a:ext cx="6134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sz="2800" i="1" dirty="0">
                <a:solidFill>
                  <a:srgbClr val="000000"/>
                </a:solidFill>
              </a:rPr>
              <a:t> D</a:t>
            </a:r>
            <a:r>
              <a:rPr lang="en-US" sz="2800" i="1" baseline="-25000" dirty="0">
                <a:solidFill>
                  <a:srgbClr val="000000"/>
                </a:solidFill>
              </a:rPr>
              <a:t>P2P</a:t>
            </a:r>
            <a:r>
              <a:rPr lang="en-US" sz="2800" i="1" dirty="0">
                <a:solidFill>
                  <a:srgbClr val="000000"/>
                </a:solidFill>
              </a:rPr>
              <a:t> &gt; max{F/</a:t>
            </a:r>
            <a:r>
              <a:rPr lang="en-US" sz="2800" i="1" dirty="0" err="1">
                <a:solidFill>
                  <a:srgbClr val="000000"/>
                </a:solidFill>
              </a:rPr>
              <a:t>u</a:t>
            </a:r>
            <a:r>
              <a:rPr lang="en-US" sz="2800" i="1" baseline="-25000" dirty="0" err="1">
                <a:solidFill>
                  <a:srgbClr val="000000"/>
                </a:solidFill>
              </a:rPr>
              <a:t>s,</a:t>
            </a:r>
            <a:r>
              <a:rPr lang="en-US" sz="2800" i="1" dirty="0" err="1">
                <a:solidFill>
                  <a:srgbClr val="000000"/>
                </a:solidFill>
              </a:rPr>
              <a:t>,F</a:t>
            </a:r>
            <a:r>
              <a:rPr lang="en-US" sz="2800" i="1" dirty="0">
                <a:solidFill>
                  <a:srgbClr val="000000"/>
                </a:solidFill>
              </a:rPr>
              <a:t>/</a:t>
            </a:r>
            <a:r>
              <a:rPr lang="en-US" sz="2800" i="1" dirty="0" err="1">
                <a:solidFill>
                  <a:srgbClr val="000000"/>
                </a:solidFill>
              </a:rPr>
              <a:t>d</a:t>
            </a:r>
            <a:r>
              <a:rPr lang="en-US" sz="2800" i="1" baseline="-25000" dirty="0" err="1">
                <a:solidFill>
                  <a:srgbClr val="000000"/>
                </a:solidFill>
              </a:rPr>
              <a:t>min</a:t>
            </a:r>
            <a:r>
              <a:rPr lang="en-US" sz="2800" i="1" baseline="-25000" dirty="0">
                <a:solidFill>
                  <a:srgbClr val="000000"/>
                </a:solidFill>
              </a:rPr>
              <a:t>,</a:t>
            </a:r>
            <a:r>
              <a:rPr lang="en-US" sz="2800" i="1" dirty="0">
                <a:solidFill>
                  <a:srgbClr val="000000"/>
                </a:solidFill>
              </a:rPr>
              <a:t>,NF/(</a:t>
            </a:r>
            <a:r>
              <a:rPr lang="en-US" sz="2400" dirty="0">
                <a:solidFill>
                  <a:srgbClr val="000000"/>
                </a:solidFill>
              </a:rPr>
              <a:t>u</a:t>
            </a:r>
            <a:r>
              <a:rPr lang="en-US" sz="2400" baseline="-25000" dirty="0">
                <a:solidFill>
                  <a:srgbClr val="000000"/>
                </a:solidFill>
              </a:rPr>
              <a:t>s</a:t>
            </a:r>
            <a:r>
              <a:rPr lang="en-US" sz="2400" dirty="0">
                <a:solidFill>
                  <a:srgbClr val="000000"/>
                </a:solidFill>
              </a:rPr>
              <a:t> + </a:t>
            </a:r>
            <a:r>
              <a:rPr lang="en-US" sz="2800" dirty="0">
                <a:solidFill>
                  <a:srgbClr val="000000"/>
                </a:solidFill>
                <a:latin typeface="Symbol" pitchFamily="18" charset="2"/>
              </a:rPr>
              <a:t>S</a:t>
            </a:r>
            <a:r>
              <a:rPr lang="en-US" sz="2400" dirty="0">
                <a:solidFill>
                  <a:srgbClr val="000000"/>
                </a:solidFill>
              </a:rPr>
              <a:t>u</a:t>
            </a:r>
            <a:r>
              <a:rPr lang="en-US" sz="2400" baseline="-25000" dirty="0">
                <a:solidFill>
                  <a:srgbClr val="000000"/>
                </a:solidFill>
              </a:rPr>
              <a:t>i</a:t>
            </a:r>
            <a:r>
              <a:rPr lang="en-US" sz="2800" dirty="0">
                <a:solidFill>
                  <a:srgbClr val="000000"/>
                </a:solidFill>
              </a:rPr>
              <a:t>)</a:t>
            </a:r>
            <a:r>
              <a:rPr lang="en-US" sz="2800" i="1" dirty="0">
                <a:solidFill>
                  <a:srgbClr val="000000"/>
                </a:solidFill>
              </a:rPr>
              <a:t>}</a:t>
            </a:r>
            <a:r>
              <a:rPr lang="en-US" sz="2800" i="1" dirty="0">
                <a:solidFill>
                  <a:srgbClr val="CC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0298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7">
            <a:extLst>
              <a:ext uri="{FF2B5EF4-FFF2-40B4-BE49-F238E27FC236}">
                <a16:creationId xmlns:a16="http://schemas.microsoft.com/office/drawing/2014/main" id="{570FFFF3-4232-418B-91DB-3DB45B1B47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51907" name="Rectangle 8">
            <a:extLst>
              <a:ext uri="{FF2B5EF4-FFF2-40B4-BE49-F238E27FC236}">
                <a16:creationId xmlns:a16="http://schemas.microsoft.com/office/drawing/2014/main" id="{328452F4-322D-4557-8A5A-20DF4BF60A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3CA798A5-3C91-4DF1-BD71-2E5D0956A2C9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251908" name="Rectangle 2">
            <a:extLst>
              <a:ext uri="{FF2B5EF4-FFF2-40B4-BE49-F238E27FC236}">
                <a16:creationId xmlns:a16="http://schemas.microsoft.com/office/drawing/2014/main" id="{2E490CB6-A8FF-401D-AAFC-76B3F61B52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8450" y="160338"/>
            <a:ext cx="8491538" cy="849312"/>
          </a:xfrm>
        </p:spPr>
        <p:txBody>
          <a:bodyPr/>
          <a:lstStyle/>
          <a:p>
            <a:r>
              <a:rPr lang="en-US" altLang="zh-TW" sz="3600" dirty="0">
                <a:ea typeface="ＭＳ Ｐゴシック" panose="020B0600070205080204" pitchFamily="34" charset="-128"/>
              </a:rPr>
              <a:t>BitTorrent: sending file chunks</a:t>
            </a:r>
          </a:p>
        </p:txBody>
      </p:sp>
      <p:sp>
        <p:nvSpPr>
          <p:cNvPr id="251910" name="Rectangle 6">
            <a:extLst>
              <a:ext uri="{FF2B5EF4-FFF2-40B4-BE49-F238E27FC236}">
                <a16:creationId xmlns:a16="http://schemas.microsoft.com/office/drawing/2014/main" id="{DF0319FD-7A61-4740-9C59-5797DF8C8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322" y="1425575"/>
            <a:ext cx="4521200" cy="411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i="1" dirty="0">
                <a:solidFill>
                  <a:srgbClr val="0070C0"/>
                </a:solidFill>
              </a:rPr>
              <a:t>sending chunks:</a:t>
            </a:r>
            <a:endParaRPr lang="en-US" altLang="zh-TW" i="1" dirty="0">
              <a:solidFill>
                <a:srgbClr val="CC0000"/>
              </a:solidFill>
            </a:endParaRPr>
          </a:p>
          <a:p>
            <a:pPr>
              <a:buSzPct val="75000"/>
            </a:pPr>
            <a:r>
              <a:rPr lang="en-US" altLang="zh-TW" sz="2400" dirty="0"/>
              <a:t>(</a:t>
            </a:r>
            <a:r>
              <a:rPr lang="en-US" altLang="zh-TW" sz="2400" i="1" dirty="0">
                <a:solidFill>
                  <a:srgbClr val="CC0000"/>
                </a:solidFill>
              </a:rPr>
              <a:t>tit-for-tat</a:t>
            </a:r>
            <a:r>
              <a:rPr lang="en-US" altLang="zh-TW" sz="2400" dirty="0"/>
              <a:t>) Alice </a:t>
            </a:r>
            <a:r>
              <a:rPr lang="en-US" altLang="zh-TW" sz="2400" dirty="0">
                <a:solidFill>
                  <a:srgbClr val="0070C0"/>
                </a:solidFill>
              </a:rPr>
              <a:t>sends chunks to those four peers currently sending her chunks </a:t>
            </a:r>
            <a:r>
              <a:rPr lang="en-US" altLang="zh-TW" sz="2400" i="1" dirty="0">
                <a:solidFill>
                  <a:srgbClr val="0070C0"/>
                </a:solidFill>
              </a:rPr>
              <a:t>at highest rate</a:t>
            </a:r>
            <a:r>
              <a:rPr lang="en-US" altLang="zh-TW" sz="2400" dirty="0">
                <a:solidFill>
                  <a:srgbClr val="0070C0"/>
                </a:solidFill>
              </a:rPr>
              <a:t> </a:t>
            </a:r>
          </a:p>
          <a:p>
            <a:pPr lvl="1"/>
            <a:r>
              <a:rPr lang="en-US" altLang="zh-TW" sz="2000" dirty="0"/>
              <a:t>other peers are choked by Alice (do not receive chunks from her)</a:t>
            </a:r>
          </a:p>
          <a:p>
            <a:pPr lvl="1"/>
            <a:r>
              <a:rPr lang="en-US" altLang="zh-TW" sz="2000" dirty="0"/>
              <a:t>re-evaluate top 4 every10 secs</a:t>
            </a:r>
          </a:p>
          <a:p>
            <a:pPr>
              <a:buSzPct val="75000"/>
            </a:pPr>
            <a:r>
              <a:rPr lang="en-US" altLang="zh-TW" sz="2400" dirty="0"/>
              <a:t>(</a:t>
            </a:r>
            <a:r>
              <a:rPr lang="en-US" altLang="zh-TW" sz="2400" i="1" dirty="0">
                <a:solidFill>
                  <a:srgbClr val="CC0000"/>
                </a:solidFill>
              </a:rPr>
              <a:t>randomization</a:t>
            </a:r>
            <a:r>
              <a:rPr lang="en-US" altLang="zh-TW" sz="2400" dirty="0"/>
              <a:t>) every 30 secs: </a:t>
            </a:r>
            <a:r>
              <a:rPr lang="en-US" altLang="zh-TW" sz="2400" dirty="0">
                <a:solidFill>
                  <a:srgbClr val="0070C0"/>
                </a:solidFill>
              </a:rPr>
              <a:t>randomly select another peer</a:t>
            </a:r>
            <a:r>
              <a:rPr lang="en-US" altLang="zh-TW" sz="2400" dirty="0"/>
              <a:t>, starts sending chunks</a:t>
            </a:r>
          </a:p>
          <a:p>
            <a:pPr lvl="1"/>
            <a:r>
              <a:rPr lang="ja-JP" altLang="en-US" sz="2000" dirty="0"/>
              <a:t>“</a:t>
            </a:r>
            <a:r>
              <a:rPr lang="en-US" altLang="ja-JP" sz="2000" dirty="0"/>
              <a:t>optimistically unchoke</a:t>
            </a:r>
            <a:r>
              <a:rPr lang="ja-JP" altLang="en-US" sz="2000" dirty="0"/>
              <a:t>”</a:t>
            </a:r>
            <a:r>
              <a:rPr lang="en-US" altLang="ja-JP" sz="2000" dirty="0"/>
              <a:t> this peer</a:t>
            </a:r>
          </a:p>
          <a:p>
            <a:pPr lvl="1"/>
            <a:r>
              <a:rPr lang="en-US" altLang="zh-TW" sz="2000" dirty="0"/>
              <a:t>newly chosen peer may join top 4</a:t>
            </a:r>
          </a:p>
          <a:p>
            <a:pPr>
              <a:lnSpc>
                <a:spcPct val="100000"/>
              </a:lnSpc>
              <a:buSzTx/>
              <a:buFont typeface="Wingdings" panose="05000000000000000000" pitchFamily="2" charset="2"/>
              <a:buChar char="§"/>
            </a:pPr>
            <a:endParaRPr lang="en-US" altLang="zh-TW" sz="2000" dirty="0"/>
          </a:p>
        </p:txBody>
      </p:sp>
      <p:pic>
        <p:nvPicPr>
          <p:cNvPr id="251911" name="Picture 10" descr="underline_base">
            <a:extLst>
              <a:ext uri="{FF2B5EF4-FFF2-40B4-BE49-F238E27FC236}">
                <a16:creationId xmlns:a16="http://schemas.microsoft.com/office/drawing/2014/main" id="{51E7D2F6-9E2C-48A6-A1C1-EEC748E40117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812800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260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Problem 3a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686800" cy="5486400"/>
          </a:xfrm>
        </p:spPr>
        <p:txBody>
          <a:bodyPr>
            <a:normAutofit/>
          </a:bodyPr>
          <a:lstStyle/>
          <a:p>
            <a:r>
              <a:rPr lang="en-US" sz="2800" dirty="0"/>
              <a:t>Yes. His first claim is possible, as long as there are enough peers staying in the swarm for a long enough time. Bob can always receive data through optimistic </a:t>
            </a:r>
            <a:r>
              <a:rPr lang="en-US" sz="2800" dirty="0" err="1"/>
              <a:t>unchoking</a:t>
            </a:r>
            <a:r>
              <a:rPr lang="en-US" sz="2800" dirty="0"/>
              <a:t> by other peers.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27115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Problem 3b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686800" cy="5486400"/>
          </a:xfrm>
        </p:spPr>
        <p:txBody>
          <a:bodyPr>
            <a:normAutofit/>
          </a:bodyPr>
          <a:lstStyle/>
          <a:p>
            <a:r>
              <a:rPr lang="en-US" sz="2800" dirty="0"/>
              <a:t>His second claim is also true. He can run a client on each host, let each client  “free-ride,” and combine the collected chunks from the different hosts into a single file. He can even write a small scheduling program to make the different hosts ask for different chunks of the file. This is actually a kind of Sybil attack in P2P networks. </a:t>
            </a:r>
          </a:p>
        </p:txBody>
      </p:sp>
    </p:spTree>
    <p:extLst>
      <p:ext uri="{BB962C8B-B14F-4D97-AF65-F5344CB8AC3E}">
        <p14:creationId xmlns:p14="http://schemas.microsoft.com/office/powerpoint/2010/main" val="3935013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7" name="Rectangle 2">
            <a:extLst>
              <a:ext uri="{FF2B5EF4-FFF2-40B4-BE49-F238E27FC236}">
                <a16:creationId xmlns:a16="http://schemas.microsoft.com/office/drawing/2014/main" id="{F10CF543-3664-4877-9912-8AD3EA6C94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1950" y="228600"/>
            <a:ext cx="8172450" cy="871538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Streaming multimedia: DASH</a:t>
            </a:r>
          </a:p>
        </p:txBody>
      </p:sp>
      <p:sp>
        <p:nvSpPr>
          <p:cNvPr id="203778" name="Rectangle 3">
            <a:extLst>
              <a:ext uri="{FF2B5EF4-FFF2-40B4-BE49-F238E27FC236}">
                <a16:creationId xmlns:a16="http://schemas.microsoft.com/office/drawing/2014/main" id="{4B0773C2-8D27-4C21-AF3A-6D9A01714E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0075" y="1381125"/>
            <a:ext cx="7772400" cy="5053013"/>
          </a:xfrm>
        </p:spPr>
        <p:txBody>
          <a:bodyPr/>
          <a:lstStyle/>
          <a:p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DASH: D</a:t>
            </a:r>
            <a:r>
              <a:rPr lang="en-US" altLang="en-US" dirty="0">
                <a:ea typeface="ＭＳ Ｐゴシック" panose="020B0600070205080204" pitchFamily="34" charset="-128"/>
              </a:rPr>
              <a:t>ynamic, </a:t>
            </a: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en-US" dirty="0">
                <a:ea typeface="ＭＳ Ｐゴシック" panose="020B0600070205080204" pitchFamily="34" charset="-128"/>
              </a:rPr>
              <a:t>daptive </a:t>
            </a: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</a:t>
            </a:r>
            <a:r>
              <a:rPr lang="en-US" altLang="en-US" dirty="0">
                <a:ea typeface="ＭＳ Ｐゴシック" panose="020B0600070205080204" pitchFamily="34" charset="-128"/>
              </a:rPr>
              <a:t>treaming over </a:t>
            </a: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H</a:t>
            </a:r>
            <a:r>
              <a:rPr lang="en-US" altLang="en-US" dirty="0">
                <a:ea typeface="ＭＳ Ｐゴシック" panose="020B0600070205080204" pitchFamily="34" charset="-128"/>
              </a:rPr>
              <a:t>TTP</a:t>
            </a:r>
          </a:p>
          <a:p>
            <a:r>
              <a:rPr lang="en-US" altLang="en-US" i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server: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divides video file into </a:t>
            </a: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multiple chunks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each chunk stored, </a:t>
            </a: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encoded at different rates </a:t>
            </a:r>
          </a:p>
          <a:p>
            <a:pPr lvl="1"/>
            <a:r>
              <a:rPr lang="en-US" altLang="en-US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manifest file</a:t>
            </a:r>
            <a:r>
              <a:rPr lang="en-US" altLang="en-US" i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: </a:t>
            </a: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provides URLs for different chunks</a:t>
            </a:r>
          </a:p>
        </p:txBody>
      </p:sp>
      <p:pic>
        <p:nvPicPr>
          <p:cNvPr id="203779" name="Picture 17" descr="underline_base">
            <a:extLst>
              <a:ext uri="{FF2B5EF4-FFF2-40B4-BE49-F238E27FC236}">
                <a16:creationId xmlns:a16="http://schemas.microsoft.com/office/drawing/2014/main" id="{1915DFFD-F34C-4EE4-9A64-A2274135808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3" y="95726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7">
            <a:extLst>
              <a:ext uri="{FF2B5EF4-FFF2-40B4-BE49-F238E27FC236}">
                <a16:creationId xmlns:a16="http://schemas.microsoft.com/office/drawing/2014/main" id="{CB9159AD-366D-45D6-B4AE-FE17C320F9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24675" y="6454775"/>
            <a:ext cx="1547813" cy="3000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03781" name="Rectangle 8">
            <a:extLst>
              <a:ext uri="{FF2B5EF4-FFF2-40B4-BE49-F238E27FC236}">
                <a16:creationId xmlns:a16="http://schemas.microsoft.com/office/drawing/2014/main" id="{77BC9319-73CE-4E97-864F-06BED500E6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02635201-145E-4005-A94E-539AF91F1791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5" name="Rectangle 2">
            <a:extLst>
              <a:ext uri="{FF2B5EF4-FFF2-40B4-BE49-F238E27FC236}">
                <a16:creationId xmlns:a16="http://schemas.microsoft.com/office/drawing/2014/main" id="{22C62C5A-D830-4EE1-83A8-EC7FA0B2A8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1950" y="228600"/>
            <a:ext cx="8172450" cy="871538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Streaming multimedia: DASH</a:t>
            </a:r>
          </a:p>
        </p:txBody>
      </p:sp>
      <p:sp>
        <p:nvSpPr>
          <p:cNvPr id="205826" name="Rectangle 3">
            <a:extLst>
              <a:ext uri="{FF2B5EF4-FFF2-40B4-BE49-F238E27FC236}">
                <a16:creationId xmlns:a16="http://schemas.microsoft.com/office/drawing/2014/main" id="{F42CB49A-FB18-47FC-A5AF-8D64025FED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0075" y="1198243"/>
            <a:ext cx="7772400" cy="5053013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i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client: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periodically measures server-to-client bandwidth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consulting manifest, requests one chunk at a time </a:t>
            </a:r>
          </a:p>
          <a:p>
            <a:pPr lvl="2"/>
            <a:r>
              <a:rPr lang="en-US" altLang="en-US" sz="2400" dirty="0">
                <a:solidFill>
                  <a:srgbClr val="0070C0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rPr>
              <a:t>chooses maximum coding rate sustainable</a:t>
            </a:r>
            <a:r>
              <a:rPr lang="en-US" altLang="en-US" sz="2400" dirty="0">
                <a:latin typeface="Gill Sans MT" panose="020B0502020104020203" pitchFamily="34" charset="0"/>
                <a:ea typeface="ＭＳ Ｐゴシック" panose="020B0600070205080204" pitchFamily="34" charset="-128"/>
              </a:rPr>
              <a:t> given current bandwidth</a:t>
            </a:r>
          </a:p>
          <a:p>
            <a:pPr lvl="2"/>
            <a:r>
              <a:rPr lang="en-US" altLang="en-US" sz="2400" dirty="0">
                <a:latin typeface="Gill Sans MT" panose="020B0502020104020203" pitchFamily="34" charset="0"/>
                <a:ea typeface="ＭＳ Ｐゴシック" panose="020B0600070205080204" pitchFamily="34" charset="-128"/>
              </a:rPr>
              <a:t>can choose different coding rates at </a:t>
            </a:r>
            <a:r>
              <a:rPr lang="en-US" altLang="en-US" sz="2400" dirty="0">
                <a:solidFill>
                  <a:srgbClr val="0070C0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rPr>
              <a:t>different points in time</a:t>
            </a:r>
            <a:r>
              <a:rPr lang="en-US" altLang="en-US" sz="2400" dirty="0">
                <a:latin typeface="Gill Sans MT" panose="020B0502020104020203" pitchFamily="34" charset="0"/>
                <a:ea typeface="ＭＳ Ｐゴシック" panose="020B0600070205080204" pitchFamily="34" charset="-128"/>
              </a:rPr>
              <a:t> (depending on available bandwidth at time)</a:t>
            </a:r>
            <a:endParaRPr lang="en-US" altLang="en-US" i="1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  <a:p>
            <a:r>
              <a:rPr lang="en-US" altLang="en-US" i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“intelligence” </a:t>
            </a:r>
            <a:r>
              <a:rPr lang="en-US" altLang="en-US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at client: </a:t>
            </a:r>
            <a:r>
              <a:rPr lang="en-US" altLang="en-US" dirty="0">
                <a:ea typeface="ＭＳ Ｐゴシック" panose="020B0600070205080204" pitchFamily="34" charset="-128"/>
              </a:rPr>
              <a:t>client determines</a:t>
            </a:r>
          </a:p>
          <a:p>
            <a:pPr lvl="1"/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when</a:t>
            </a:r>
            <a:r>
              <a:rPr lang="en-US" altLang="en-US" i="1" dirty="0">
                <a:solidFill>
                  <a:srgbClr val="8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to request chunk (so that buffer starvation, or overflow does not occur)</a:t>
            </a:r>
          </a:p>
          <a:p>
            <a:pPr lvl="1"/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what encoding rate </a:t>
            </a:r>
            <a:r>
              <a: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to request </a:t>
            </a:r>
            <a:r>
              <a:rPr lang="en-US" altLang="en-US" dirty="0">
                <a:ea typeface="ＭＳ Ｐゴシック" panose="020B0600070205080204" pitchFamily="34" charset="-128"/>
              </a:rPr>
              <a:t>(higher quality when more bandwidth available) </a:t>
            </a:r>
            <a:endParaRPr lang="en-US" altLang="en-US" dirty="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 lvl="1"/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where</a:t>
            </a:r>
            <a:r>
              <a:rPr lang="en-US" altLang="en-US" i="1" dirty="0">
                <a:solidFill>
                  <a:srgbClr val="8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to request chunk </a:t>
            </a:r>
            <a:r>
              <a:rPr lang="en-US" altLang="en-US" dirty="0">
                <a:ea typeface="ＭＳ Ｐゴシック" panose="020B0600070205080204" pitchFamily="34" charset="-128"/>
              </a:rPr>
              <a:t>(can request from URL server that is “close” to client or has high available bandwidth) </a:t>
            </a:r>
          </a:p>
        </p:txBody>
      </p:sp>
      <p:pic>
        <p:nvPicPr>
          <p:cNvPr id="205827" name="Picture 17" descr="underline_base">
            <a:extLst>
              <a:ext uri="{FF2B5EF4-FFF2-40B4-BE49-F238E27FC236}">
                <a16:creationId xmlns:a16="http://schemas.microsoft.com/office/drawing/2014/main" id="{D140C70F-8DF2-49FA-9E43-31D9A591063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3" y="95726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828" name="Rectangle 7">
            <a:extLst>
              <a:ext uri="{FF2B5EF4-FFF2-40B4-BE49-F238E27FC236}">
                <a16:creationId xmlns:a16="http://schemas.microsoft.com/office/drawing/2014/main" id="{B7495C49-0947-48EB-A8BA-19321C3331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24675" y="6454775"/>
            <a:ext cx="1547813" cy="3000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05829" name="Rectangle 8">
            <a:extLst>
              <a:ext uri="{FF2B5EF4-FFF2-40B4-BE49-F238E27FC236}">
                <a16:creationId xmlns:a16="http://schemas.microsoft.com/office/drawing/2014/main" id="{7AFD7F78-74C1-4AB0-8236-8C3159E99C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BAE4956F-1C38-49ED-84E2-993461F9FB9D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Problem 4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686800" cy="5486400"/>
          </a:xfrm>
        </p:spPr>
        <p:txBody>
          <a:bodyPr>
            <a:normAutofit/>
          </a:bodyPr>
          <a:lstStyle/>
          <a:p>
            <a:r>
              <a:rPr lang="en-US" sz="2800" dirty="0"/>
              <a:t>a) N files, under the assumption that we do a one-to-one matching by pairing video versions with audio versions in a decreasing order of quality and rate. </a:t>
            </a:r>
          </a:p>
          <a:p>
            <a:endParaRPr lang="en-US" sz="28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600B80A-8D3E-1FFB-C94A-92A57CA31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717654"/>
              </p:ext>
            </p:extLst>
          </p:nvPr>
        </p:nvGraphicFramePr>
        <p:xfrm>
          <a:off x="1066800" y="3429000"/>
          <a:ext cx="6512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8000">
                  <a:extLst>
                    <a:ext uri="{9D8B030D-6E8A-4147-A177-3AD203B41FA5}">
                      <a16:colId xmlns:a16="http://schemas.microsoft.com/office/drawing/2014/main" val="379101706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4266810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76499140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Video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Audio</a:t>
                      </a:r>
                      <a:endParaRPr lang="zh-CN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2035127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High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quality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5373450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Medium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quality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9475242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Low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quality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645459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D3EDBEE6-DCCE-1864-7EF1-81D9822727D1}"/>
              </a:ext>
            </a:extLst>
          </p:cNvPr>
          <p:cNvSpPr txBox="1"/>
          <p:nvPr/>
        </p:nvSpPr>
        <p:spPr>
          <a:xfrm>
            <a:off x="4108769" y="2943889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N=3</a:t>
            </a:r>
            <a:endParaRPr kumimoji="1"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6F32CC3-A149-373C-735D-08258E21599E}"/>
              </a:ext>
            </a:extLst>
          </p:cNvPr>
          <p:cNvSpPr txBox="1"/>
          <p:nvPr/>
        </p:nvSpPr>
        <p:spPr>
          <a:xfrm>
            <a:off x="6166169" y="2943889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N=3</a:t>
            </a:r>
            <a:endParaRPr kumimoji="1" lang="zh-CN" altLang="en-US" sz="2400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0BB7E2D-6C26-4F60-CF9A-6DB79A633BFD}"/>
              </a:ext>
            </a:extLst>
          </p:cNvPr>
          <p:cNvSpPr/>
          <p:nvPr/>
        </p:nvSpPr>
        <p:spPr>
          <a:xfrm>
            <a:off x="4261169" y="4276620"/>
            <a:ext cx="457200" cy="304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5AFEE48-1E45-3DB7-FC35-E436D8D0CFD2}"/>
              </a:ext>
            </a:extLst>
          </p:cNvPr>
          <p:cNvSpPr/>
          <p:nvPr/>
        </p:nvSpPr>
        <p:spPr>
          <a:xfrm>
            <a:off x="4261169" y="4886220"/>
            <a:ext cx="457200" cy="304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CB14980-8659-1DE5-7EAF-C47F3155D917}"/>
              </a:ext>
            </a:extLst>
          </p:cNvPr>
          <p:cNvSpPr/>
          <p:nvPr/>
        </p:nvSpPr>
        <p:spPr>
          <a:xfrm>
            <a:off x="4261169" y="5562600"/>
            <a:ext cx="457200" cy="304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1994DBB-FCF4-2690-118F-4E8A96F77573}"/>
              </a:ext>
            </a:extLst>
          </p:cNvPr>
          <p:cNvSpPr/>
          <p:nvPr/>
        </p:nvSpPr>
        <p:spPr>
          <a:xfrm>
            <a:off x="6394769" y="4276620"/>
            <a:ext cx="457200" cy="3048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B7E6A3B-FB76-3E33-1B1E-DB3C1C9786F9}"/>
              </a:ext>
            </a:extLst>
          </p:cNvPr>
          <p:cNvSpPr/>
          <p:nvPr/>
        </p:nvSpPr>
        <p:spPr>
          <a:xfrm>
            <a:off x="6394769" y="4886220"/>
            <a:ext cx="457200" cy="3048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71914BD-799B-FB7B-DAE5-1774B961603A}"/>
              </a:ext>
            </a:extLst>
          </p:cNvPr>
          <p:cNvSpPr/>
          <p:nvPr/>
        </p:nvSpPr>
        <p:spPr>
          <a:xfrm>
            <a:off x="6394769" y="5562600"/>
            <a:ext cx="457200" cy="3048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5F543C6-F843-B03F-32B0-72AB871F7679}"/>
              </a:ext>
            </a:extLst>
          </p:cNvPr>
          <p:cNvSpPr txBox="1"/>
          <p:nvPr/>
        </p:nvSpPr>
        <p:spPr>
          <a:xfrm>
            <a:off x="7696200" y="3657600"/>
            <a:ext cx="129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One to one matching</a:t>
            </a:r>
            <a:endParaRPr kumimoji="1" lang="zh-CN" altLang="en-US" dirty="0"/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D92B5D09-348A-A7F3-9715-22992C8E9C54}"/>
              </a:ext>
            </a:extLst>
          </p:cNvPr>
          <p:cNvCxnSpPr/>
          <p:nvPr/>
        </p:nvCxnSpPr>
        <p:spPr>
          <a:xfrm flipH="1">
            <a:off x="7232969" y="3980765"/>
            <a:ext cx="463231" cy="43883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C41E28B9-1A9F-7027-B053-B75057359B4E}"/>
              </a:ext>
            </a:extLst>
          </p:cNvPr>
          <p:cNvSpPr/>
          <p:nvPr/>
        </p:nvSpPr>
        <p:spPr>
          <a:xfrm>
            <a:off x="3886200" y="4191000"/>
            <a:ext cx="3352800" cy="457200"/>
          </a:xfrm>
          <a:prstGeom prst="rect">
            <a:avLst/>
          </a:prstGeom>
          <a:solidFill>
            <a:schemeClr val="bg2">
              <a:lumMod val="75000"/>
              <a:alpha val="48055"/>
            </a:schemeClr>
          </a:solidFill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E090288-F935-87AA-CED1-B506560EFF7C}"/>
              </a:ext>
            </a:extLst>
          </p:cNvPr>
          <p:cNvSpPr/>
          <p:nvPr/>
        </p:nvSpPr>
        <p:spPr>
          <a:xfrm>
            <a:off x="3886200" y="4797042"/>
            <a:ext cx="3352800" cy="457200"/>
          </a:xfrm>
          <a:prstGeom prst="rect">
            <a:avLst/>
          </a:prstGeom>
          <a:solidFill>
            <a:schemeClr val="bg2">
              <a:lumMod val="75000"/>
              <a:alpha val="48055"/>
            </a:schemeClr>
          </a:solidFill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0FD8D76-9018-45B9-1AB5-920D73D06FA3}"/>
              </a:ext>
            </a:extLst>
          </p:cNvPr>
          <p:cNvSpPr/>
          <p:nvPr/>
        </p:nvSpPr>
        <p:spPr>
          <a:xfrm>
            <a:off x="3886200" y="5462954"/>
            <a:ext cx="3352800" cy="457200"/>
          </a:xfrm>
          <a:prstGeom prst="rect">
            <a:avLst/>
          </a:prstGeom>
          <a:solidFill>
            <a:schemeClr val="bg2">
              <a:lumMod val="75000"/>
              <a:alpha val="48055"/>
            </a:schemeClr>
          </a:solidFill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2541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Problem 4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686800" cy="5486400"/>
          </a:xfrm>
        </p:spPr>
        <p:txBody>
          <a:bodyPr>
            <a:normAutofit/>
          </a:bodyPr>
          <a:lstStyle/>
          <a:p>
            <a:r>
              <a:rPr lang="en-US" sz="2800"/>
              <a:t>b</a:t>
            </a:r>
            <a:r>
              <a:rPr lang="en-US" sz="2800" dirty="0"/>
              <a:t>) 2N files. 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A230B35-A49F-DBE5-44F0-292D7B489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387318"/>
              </p:ext>
            </p:extLst>
          </p:nvPr>
        </p:nvGraphicFramePr>
        <p:xfrm>
          <a:off x="1143000" y="2590800"/>
          <a:ext cx="6512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8000">
                  <a:extLst>
                    <a:ext uri="{9D8B030D-6E8A-4147-A177-3AD203B41FA5}">
                      <a16:colId xmlns:a16="http://schemas.microsoft.com/office/drawing/2014/main" val="379101706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4266810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76499140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Video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Audio</a:t>
                      </a:r>
                      <a:endParaRPr lang="zh-CN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2035127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High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quality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5373450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Medium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quality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9475242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Low</a:t>
                      </a:r>
                      <a:r>
                        <a:rPr lang="zh-CN" altLang="en-US" sz="2400" dirty="0"/>
                        <a:t> </a:t>
                      </a:r>
                      <a:r>
                        <a:rPr lang="en-US" altLang="zh-CN" sz="2400" dirty="0"/>
                        <a:t>quality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645459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2A981D45-7C78-1E51-9A70-EE4ED532522B}"/>
              </a:ext>
            </a:extLst>
          </p:cNvPr>
          <p:cNvSpPr txBox="1"/>
          <p:nvPr/>
        </p:nvSpPr>
        <p:spPr>
          <a:xfrm>
            <a:off x="4184969" y="2105689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N=3</a:t>
            </a:r>
            <a:endParaRPr kumimoji="1"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8CD7FE-6EBF-4588-0938-477435083FCA}"/>
              </a:ext>
            </a:extLst>
          </p:cNvPr>
          <p:cNvSpPr txBox="1"/>
          <p:nvPr/>
        </p:nvSpPr>
        <p:spPr>
          <a:xfrm>
            <a:off x="6242369" y="2105689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N=3</a:t>
            </a:r>
            <a:endParaRPr kumimoji="1" lang="zh-CN" altLang="en-US" sz="2400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6E9BCF8-3FF6-4A8C-5010-82D16DDD703E}"/>
              </a:ext>
            </a:extLst>
          </p:cNvPr>
          <p:cNvSpPr/>
          <p:nvPr/>
        </p:nvSpPr>
        <p:spPr>
          <a:xfrm>
            <a:off x="4337369" y="3438420"/>
            <a:ext cx="457200" cy="304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7B32B48-8978-65F9-B593-4E5147A27F37}"/>
              </a:ext>
            </a:extLst>
          </p:cNvPr>
          <p:cNvSpPr/>
          <p:nvPr/>
        </p:nvSpPr>
        <p:spPr>
          <a:xfrm>
            <a:off x="4337369" y="4048020"/>
            <a:ext cx="457200" cy="304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C43DA44-45D1-5668-844F-D4A5A5429CD8}"/>
              </a:ext>
            </a:extLst>
          </p:cNvPr>
          <p:cNvSpPr/>
          <p:nvPr/>
        </p:nvSpPr>
        <p:spPr>
          <a:xfrm>
            <a:off x="4337369" y="4724400"/>
            <a:ext cx="457200" cy="304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B943DDD-939C-4ABE-E66E-C75E427806B4}"/>
              </a:ext>
            </a:extLst>
          </p:cNvPr>
          <p:cNvSpPr/>
          <p:nvPr/>
        </p:nvSpPr>
        <p:spPr>
          <a:xfrm>
            <a:off x="6470969" y="3438420"/>
            <a:ext cx="457200" cy="3048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D1FA2FF-787B-7C51-EE2D-973430B955D7}"/>
              </a:ext>
            </a:extLst>
          </p:cNvPr>
          <p:cNvSpPr/>
          <p:nvPr/>
        </p:nvSpPr>
        <p:spPr>
          <a:xfrm>
            <a:off x="6470969" y="4048020"/>
            <a:ext cx="457200" cy="3048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B98C4BA-C90C-E32B-5930-011D7787EA22}"/>
              </a:ext>
            </a:extLst>
          </p:cNvPr>
          <p:cNvSpPr/>
          <p:nvPr/>
        </p:nvSpPr>
        <p:spPr>
          <a:xfrm>
            <a:off x="6470969" y="4724400"/>
            <a:ext cx="457200" cy="3048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3181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85000"/>
          <a:buFont typeface="ZapfDingbats" pitchFamily="82" charset="2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5772</TotalTime>
  <Words>1093</Words>
  <Application>Microsoft Macintosh PowerPoint</Application>
  <PresentationFormat>全屏显示(4:3)</PresentationFormat>
  <Paragraphs>185</Paragraphs>
  <Slides>15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ＭＳ Ｐゴシック</vt:lpstr>
      <vt:lpstr>ZapfDingbats</vt:lpstr>
      <vt:lpstr>Arial</vt:lpstr>
      <vt:lpstr>Calibri</vt:lpstr>
      <vt:lpstr>Cambria Math</vt:lpstr>
      <vt:lpstr>Comic Sans MS</vt:lpstr>
      <vt:lpstr>Gill Sans MT</vt:lpstr>
      <vt:lpstr>Symbol</vt:lpstr>
      <vt:lpstr>Tahoma</vt:lpstr>
      <vt:lpstr>Times New Roman</vt:lpstr>
      <vt:lpstr>Wingdings</vt:lpstr>
      <vt:lpstr>Office Theme</vt:lpstr>
      <vt:lpstr>Default Design</vt:lpstr>
      <vt:lpstr>1_Office Theme</vt:lpstr>
      <vt:lpstr>4_Default Design</vt:lpstr>
      <vt:lpstr>Problem 1 </vt:lpstr>
      <vt:lpstr>Problem 1a </vt:lpstr>
      <vt:lpstr>Problem 1 a</vt:lpstr>
      <vt:lpstr>Problem 1b </vt:lpstr>
      <vt:lpstr>Problem 1 b </vt:lpstr>
      <vt:lpstr>File distribution time: client-server</vt:lpstr>
      <vt:lpstr>File distribution time: P2P</vt:lpstr>
      <vt:lpstr>PowerPoint 演示文稿</vt:lpstr>
      <vt:lpstr>BitTorrent: sending file chunks</vt:lpstr>
      <vt:lpstr>Problem 3a </vt:lpstr>
      <vt:lpstr>Problem 3b </vt:lpstr>
      <vt:lpstr>Streaming multimedia: DASH</vt:lpstr>
      <vt:lpstr>Streaming multimedia: DASH</vt:lpstr>
      <vt:lpstr>Problem 4 </vt:lpstr>
      <vt:lpstr>Problem 4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WANG Cong</dc:creator>
  <cp:lastModifiedBy>WANG Lei</cp:lastModifiedBy>
  <cp:revision>177</cp:revision>
  <dcterms:created xsi:type="dcterms:W3CDTF">2013-10-05T08:25:26Z</dcterms:created>
  <dcterms:modified xsi:type="dcterms:W3CDTF">2026-09-30T06:56:09Z</dcterms:modified>
</cp:coreProperties>
</file>