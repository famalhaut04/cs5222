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  <p:sldMasterId id="2147483686" r:id="rId4"/>
    <p:sldMasterId id="2147483699" r:id="rId5"/>
  </p:sldMasterIdLst>
  <p:notesMasterIdLst>
    <p:notesMasterId r:id="rId16"/>
  </p:notesMasterIdLst>
  <p:sldIdLst>
    <p:sldId id="263" r:id="rId6"/>
    <p:sldId id="259" r:id="rId7"/>
    <p:sldId id="258" r:id="rId8"/>
    <p:sldId id="261" r:id="rId9"/>
    <p:sldId id="268" r:id="rId10"/>
    <p:sldId id="264" r:id="rId11"/>
    <p:sldId id="265" r:id="rId12"/>
    <p:sldId id="269" r:id="rId13"/>
    <p:sldId id="267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E5CF6-1A3A-406F-8784-7F2452053FF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E1E38D-4C9A-47DC-A572-2AE2F7B17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4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8B702565-6A3A-46DE-8022-B2C38E918A49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</a:t>
            </a:fld>
            <a:endParaRPr lang="en-US" sz="12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C73E299-2A30-4CD8-808B-2134243773AD}" type="slidenum">
              <a:rPr lang="en-US" sz="1200">
                <a:solidFill>
                  <a:srgbClr val="000000"/>
                </a:solidFill>
                <a:latin typeface="Times New Roman" pitchFamily="18" charset="0"/>
              </a:rPr>
              <a:pPr/>
              <a:t>2</a:t>
            </a:fld>
            <a:endParaRPr 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C4F3A53F-82D9-44ED-A9CE-A8C55460D0C2}" type="slidenum">
              <a:rPr lang="en-US" altLang="en-US" sz="1200">
                <a:solidFill>
                  <a:prstClr val="black"/>
                </a:solidFill>
                <a:latin typeface="Times New Roman" pitchFamily="18" charset="0"/>
              </a:rPr>
              <a:pPr/>
              <a:t>5</a:t>
            </a:fld>
            <a:endParaRPr lang="en-US" altLang="en-US" sz="12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58EA427-F77D-43FC-BA76-E544389AA949}" type="slidenum">
              <a:rPr lang="en-US" altLang="en-US" sz="1200">
                <a:solidFill>
                  <a:prstClr val="black"/>
                </a:solidFill>
                <a:latin typeface="Times New Roman" pitchFamily="18" charset="0"/>
              </a:rPr>
              <a:pPr/>
              <a:t>8</a:t>
            </a:fld>
            <a:endParaRPr lang="en-US" altLang="en-US" sz="12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itchFamily="34" charset="-128"/>
              </a:rPr>
              <a:t>Two simple multiple access control techniques.</a:t>
            </a:r>
          </a:p>
          <a:p>
            <a:endParaRPr lang="en-US" altLang="en-US">
              <a:ea typeface="ＭＳ Ｐゴシック" pitchFamily="34" charset="-128"/>
            </a:endParaRPr>
          </a:p>
          <a:p>
            <a:r>
              <a:rPr lang="en-US" altLang="en-US">
                <a:ea typeface="ＭＳ Ｐゴシック" pitchFamily="34" charset="-128"/>
              </a:rPr>
              <a:t>Each mobile</a:t>
            </a:r>
            <a:r>
              <a:rPr lang="ja-JP" altLang="en-US">
                <a:ea typeface="ＭＳ Ｐゴシック" pitchFamily="34" charset="-128"/>
              </a:rPr>
              <a:t>’</a:t>
            </a:r>
            <a:r>
              <a:rPr lang="en-US" altLang="ja-JP">
                <a:ea typeface="ＭＳ Ｐゴシック" pitchFamily="34" charset="-128"/>
              </a:rPr>
              <a:t>s share of the bandwidth is divided into portions for the uplink and the downlink. Also, possibly, out of band signaling.</a:t>
            </a:r>
          </a:p>
          <a:p>
            <a:endParaRPr lang="en-US" altLang="en-US">
              <a:ea typeface="ＭＳ Ｐゴシック" pitchFamily="34" charset="-128"/>
            </a:endParaRPr>
          </a:p>
          <a:p>
            <a:r>
              <a:rPr lang="en-US" altLang="en-US">
                <a:ea typeface="ＭＳ Ｐゴシック" pitchFamily="34" charset="-128"/>
              </a:rPr>
              <a:t>As we will see, used in AMPS, GSM, IS-54/136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162FF-D181-4195-A196-0017A11483BE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4E2CFFAC-F4F8-41B5-8D50-4B06BF1959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15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54614-0C75-467C-9054-533D05C1432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AE1665D7-BC1B-4CF1-BF00-449204BABB1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91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65003-2DB8-45F2-A8C2-E5356E191A9D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60DCD99C-FA18-4B1D-8A4F-94704DC3ED3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66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3EF91-DCEF-4949-B924-7489C70D9C5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E46741B6-50B6-485C-A8F2-04DB23CFFD7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112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C61A6-6BB5-46D9-9D7A-DAC53565E70B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E73D1180-3678-4981-900A-AFF4FFD241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564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B110C9-3F1C-4536-9F2D-0D014B5EE92C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BB6C2E04-ED2A-4D38-8928-CD1FD65B8AF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530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E12D0-C695-4759-B92A-92F57041735D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84685A13-7D3C-4F01-B78D-6DA57A6366D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493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61472-142F-4EAA-BCD8-CFA530E6CEB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C81973AB-F592-4864-958F-C77A5024253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851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422EB-9085-4358-B7DB-BCE930BE9E23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4359C436-04EA-4807-97EC-E350B51AA34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248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59CD8-4523-4852-96A0-14AD4C6BD87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A3978A01-33AB-4BE9-9752-F6937C53EFD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841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11B2C-D1F1-4FE9-BA4F-8594E406F89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C8712191-F11A-4CC1-940C-ECF8050997E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2875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11D63-3B37-4A7C-A61D-1077D0E58C32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</a:t>
            </a:r>
            <a:fld id="{B0ED1430-6ADF-41BC-BFBC-53ECE210776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29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162FF-D181-4195-A196-0017A11483BE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4E2CFFAC-F4F8-41B5-8D50-4B06BF1959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7624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54614-0C75-467C-9054-533D05C1432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AE1665D7-BC1B-4CF1-BF00-449204BABB1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2601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65003-2DB8-45F2-A8C2-E5356E191A9D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60DCD99C-FA18-4B1D-8A4F-94704DC3ED3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4108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3EF91-DCEF-4949-B924-7489C70D9C5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E46741B6-50B6-485C-A8F2-04DB23CFFD7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82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C61A6-6BB5-46D9-9D7A-DAC53565E70B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E73D1180-3678-4981-900A-AFF4FFD241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754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B110C9-3F1C-4536-9F2D-0D014B5EE92C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BB6C2E04-ED2A-4D38-8928-CD1FD65B8AF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8113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E12D0-C695-4759-B92A-92F57041735D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84685A13-7D3C-4F01-B78D-6DA57A6366D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550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61472-142F-4EAA-BCD8-CFA530E6CEB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C81973AB-F592-4864-958F-C77A5024253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6894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422EB-9085-4358-B7DB-BCE930BE9E23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4359C436-04EA-4807-97EC-E350B51AA34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9046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59CD8-4523-4852-96A0-14AD4C6BD87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A3978A01-33AB-4BE9-9752-F6937C53EFD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2219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11B2C-D1F1-4FE9-BA4F-8594E406F89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C8712191-F11A-4CC1-940C-ECF8050997E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6324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11D63-3B37-4A7C-A61D-1077D0E58C32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</a:t>
            </a:r>
            <a:fld id="{B0ED1430-6ADF-41BC-BFBC-53ECE210776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572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A0DF5-186D-4408-A1E3-148B016BB302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081B0918-6E96-413F-A0EC-C1A38ECF9A5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8194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B86D3-7BCE-4035-BA5D-E18FA4F5A8F5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9DB062DA-EE83-4A5E-A154-7EB1391218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2775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1B5E9-3ABD-4DA6-A92B-62F6735E221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602FBC28-33AB-4361-AD84-4020BF82808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998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CA132-8AAC-4098-BF95-91440FFC319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28FFDBC2-4429-4BCE-91F4-9B346314A4B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0271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704A7-B9DE-4D50-9B0A-C5BE62B8455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9A8F1A9F-DC47-49FC-A57E-F3021C66B93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3387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E86AA-2736-40ED-8ED8-4A340E4F9D9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27352941-53F2-4A1B-BA0F-D631F82BEB2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0477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D618C-3D55-432B-A8D5-72408771468C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5F63AB20-191B-4B8B-9546-81C7D9E48A7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8535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D055A-57D5-4098-B0C0-C0F5CD673369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07AC84FB-7B90-4748-A8B1-2BA3EB795C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331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35804-3413-4B58-AA5C-007FB6E81DA9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DC44A274-CC63-4BBB-B153-56B11558320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480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80040-AFFD-4442-A26C-45B56E3C048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2ECB3333-1D90-43FB-93EC-FC200FCA3B3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6019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C43E4-BE07-4D29-97CD-6C05614AE0EC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34F497AA-F1F5-4427-9791-C9DF7EDA01E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3406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1426E-5A61-4EDE-96DC-94D72F71F05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</a:t>
            </a:r>
            <a:fld id="{E51ED007-5C59-4E04-A091-94A3EB867A7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4726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A0DF5-186D-4408-A1E3-148B016BB302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081B0918-6E96-413F-A0EC-C1A38ECF9A5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7708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B86D3-7BCE-4035-BA5D-E18FA4F5A8F5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9DB062DA-EE83-4A5E-A154-7EB1391218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9600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1B5E9-3ABD-4DA6-A92B-62F6735E221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602FBC28-33AB-4361-AD84-4020BF82808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1656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CA132-8AAC-4098-BF95-91440FFC319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28FFDBC2-4429-4BCE-91F4-9B346314A4B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780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704A7-B9DE-4D50-9B0A-C5BE62B8455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9A8F1A9F-DC47-49FC-A57E-F3021C66B93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19208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E86AA-2736-40ED-8ED8-4A340E4F9D9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27352941-53F2-4A1B-BA0F-D631F82BEB2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9445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D618C-3D55-432B-A8D5-72408771468C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5F63AB20-191B-4B8B-9546-81C7D9E48A7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5230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D055A-57D5-4098-B0C0-C0F5CD673369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07AC84FB-7B90-4748-A8B1-2BA3EB795C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66393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35804-3413-4B58-AA5C-007FB6E81DA9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DC44A274-CC63-4BBB-B153-56B11558320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2909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80040-AFFD-4442-A26C-45B56E3C0488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2ECB3333-1D90-43FB-93EC-FC200FCA3B3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4002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C43E4-BE07-4D29-97CD-6C05614AE0EC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34F497AA-F1F5-4427-9791-C9DF7EDA01E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71087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1426E-5A61-4EDE-96DC-94D72F71F057}" type="datetime1">
              <a:rPr lang="en-US">
                <a:solidFill>
                  <a:srgbClr val="000000"/>
                </a:solidFill>
              </a:rPr>
              <a:pPr>
                <a:defRPr/>
              </a:pPr>
              <a:t>8/31/2021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</a:t>
            </a:r>
            <a:fld id="{E51ED007-5C59-4E04-A091-94A3EB867A7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43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071EEF4-6D5F-4A32-AE9D-E73C354FDF98}" type="datetime1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8/31/2021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ea typeface="ＭＳ Ｐゴシック" pitchFamily="34" charset="-128"/>
              </a:rPr>
              <a:t>2-</a:t>
            </a:r>
            <a:fld id="{C30D7F59-255A-4002-ACEB-CE2AB6D49583}" type="slidenum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0771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071EEF4-6D5F-4A32-AE9D-E73C354FDF98}" type="datetime1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8/31/2021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ea typeface="ＭＳ Ｐゴシック" pitchFamily="34" charset="-128"/>
              </a:rPr>
              <a:t>2-</a:t>
            </a:r>
            <a:fld id="{C30D7F59-255A-4002-ACEB-CE2AB6D49583}" type="slidenum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979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9F13A44-70F7-483C-A03F-8BC94E1C1B0E}" type="datetime1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8/31/2021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ea typeface="ＭＳ Ｐゴシック" pitchFamily="34" charset="-128"/>
              </a:rPr>
              <a:t>2-</a:t>
            </a:r>
            <a:fld id="{E53796A8-920E-44B2-A1B1-62B6637034DD}" type="slidenum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040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9F13A44-70F7-483C-A03F-8BC94E1C1B0E}" type="datetime1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8/31/2021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ea typeface="ＭＳ Ｐゴシック" pitchFamily="34" charset="-128"/>
              </a:rPr>
              <a:t>2-</a:t>
            </a:r>
            <a:fld id="{E53796A8-920E-44B2-A1B1-62B6637034DD}" type="slidenum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655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4271963" cy="4648200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mesh of interconnected routers</a:t>
            </a:r>
          </a:p>
          <a:p>
            <a:pPr eaLnBrk="1" hangingPunct="1"/>
            <a:r>
              <a:rPr lang="en-US" dirty="0">
                <a:solidFill>
                  <a:srgbClr val="CC0000"/>
                </a:solidFill>
                <a:ea typeface="ＭＳ Ｐゴシック" pitchFamily="34" charset="-128"/>
              </a:rPr>
              <a:t>packet-switching: hosts break application-layer messages into </a:t>
            </a:r>
            <a:r>
              <a:rPr lang="en-US" i="1" dirty="0">
                <a:solidFill>
                  <a:srgbClr val="CC0000"/>
                </a:solidFill>
                <a:ea typeface="ＭＳ Ｐゴシック" pitchFamily="34" charset="-128"/>
              </a:rPr>
              <a:t>packets</a:t>
            </a:r>
          </a:p>
          <a:p>
            <a:pPr lvl="1" eaLnBrk="1" hangingPunct="1"/>
            <a:r>
              <a:rPr lang="en-US" dirty="0"/>
              <a:t>forward packets</a:t>
            </a:r>
            <a:r>
              <a:rPr lang="en-US" i="1" dirty="0"/>
              <a:t> </a:t>
            </a:r>
            <a:r>
              <a:rPr lang="en-US" dirty="0"/>
              <a:t>from one router to the next, across links on path from source to destination</a:t>
            </a:r>
          </a:p>
          <a:p>
            <a:pPr lvl="1" eaLnBrk="1" hangingPunct="1"/>
            <a:r>
              <a:rPr lang="en-US"/>
              <a:t>each packet transmitted at full link capacity</a:t>
            </a: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The network core</a:t>
            </a:r>
          </a:p>
        </p:txBody>
      </p:sp>
      <p:sp>
        <p:nvSpPr>
          <p:cNvPr id="55301" name="Freeform 637"/>
          <p:cNvSpPr>
            <a:spLocks/>
          </p:cNvSpPr>
          <p:nvPr/>
        </p:nvSpPr>
        <p:spPr bwMode="auto">
          <a:xfrm>
            <a:off x="5202238" y="1712913"/>
            <a:ext cx="1736725" cy="1071562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55302" name="Group 638"/>
          <p:cNvGrpSpPr>
            <a:grpSpLocks/>
          </p:cNvGrpSpPr>
          <p:nvPr/>
        </p:nvGrpSpPr>
        <p:grpSpPr bwMode="auto">
          <a:xfrm>
            <a:off x="5370513" y="3048000"/>
            <a:ext cx="1458912" cy="933450"/>
            <a:chOff x="2889" y="1631"/>
            <a:chExt cx="980" cy="743"/>
          </a:xfrm>
        </p:grpSpPr>
        <p:sp>
          <p:nvSpPr>
            <p:cNvPr id="55802" name="Rectangle 63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803" name="AutoShape 64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CCFF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sp>
        <p:nvSpPr>
          <p:cNvPr id="55303" name="Freeform 641"/>
          <p:cNvSpPr>
            <a:spLocks/>
          </p:cNvSpPr>
          <p:nvPr/>
        </p:nvSpPr>
        <p:spPr bwMode="auto">
          <a:xfrm>
            <a:off x="5364163" y="4425950"/>
            <a:ext cx="3225800" cy="1665288"/>
          </a:xfrm>
          <a:custGeom>
            <a:avLst/>
            <a:gdLst>
              <a:gd name="T0" fmla="*/ 2147483647 w 2032"/>
              <a:gd name="T1" fmla="*/ 2147483647 h 1049"/>
              <a:gd name="T2" fmla="*/ 2147483647 w 2032"/>
              <a:gd name="T3" fmla="*/ 2147483647 h 1049"/>
              <a:gd name="T4" fmla="*/ 2147483647 w 2032"/>
              <a:gd name="T5" fmla="*/ 2147483647 h 1049"/>
              <a:gd name="T6" fmla="*/ 2147483647 w 2032"/>
              <a:gd name="T7" fmla="*/ 2147483647 h 1049"/>
              <a:gd name="T8" fmla="*/ 2147483647 w 2032"/>
              <a:gd name="T9" fmla="*/ 2147483647 h 1049"/>
              <a:gd name="T10" fmla="*/ 2147483647 w 2032"/>
              <a:gd name="T11" fmla="*/ 2147483647 h 1049"/>
              <a:gd name="T12" fmla="*/ 2147483647 w 2032"/>
              <a:gd name="T13" fmla="*/ 2147483647 h 1049"/>
              <a:gd name="T14" fmla="*/ 2147483647 w 2032"/>
              <a:gd name="T15" fmla="*/ 2147483647 h 1049"/>
              <a:gd name="T16" fmla="*/ 2147483647 w 2032"/>
              <a:gd name="T17" fmla="*/ 2147483647 h 1049"/>
              <a:gd name="T18" fmla="*/ 2147483647 w 2032"/>
              <a:gd name="T19" fmla="*/ 2147483647 h 1049"/>
              <a:gd name="T20" fmla="*/ 2147483647 w 2032"/>
              <a:gd name="T21" fmla="*/ 2147483647 h 1049"/>
              <a:gd name="T22" fmla="*/ 2147483647 w 2032"/>
              <a:gd name="T23" fmla="*/ 2147483647 h 1049"/>
              <a:gd name="T24" fmla="*/ 2147483647 w 2032"/>
              <a:gd name="T25" fmla="*/ 2147483647 h 1049"/>
              <a:gd name="T26" fmla="*/ 2147483647 w 2032"/>
              <a:gd name="T27" fmla="*/ 2147483647 h 1049"/>
              <a:gd name="T28" fmla="*/ 2147483647 w 2032"/>
              <a:gd name="T29" fmla="*/ 2147483647 h 1049"/>
              <a:gd name="T30" fmla="*/ 2147483647 w 2032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032"/>
              <a:gd name="T49" fmla="*/ 0 h 1049"/>
              <a:gd name="T50" fmla="*/ 2032 w 2032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032" h="1049">
                <a:moveTo>
                  <a:pt x="1044" y="26"/>
                </a:moveTo>
                <a:cubicBezTo>
                  <a:pt x="959" y="45"/>
                  <a:pt x="924" y="118"/>
                  <a:pt x="847" y="125"/>
                </a:cubicBezTo>
                <a:cubicBezTo>
                  <a:pt x="770" y="132"/>
                  <a:pt x="697" y="61"/>
                  <a:pt x="580" y="68"/>
                </a:cubicBezTo>
                <a:cubicBezTo>
                  <a:pt x="463" y="75"/>
                  <a:pt x="232" y="119"/>
                  <a:pt x="143" y="170"/>
                </a:cubicBezTo>
                <a:cubicBezTo>
                  <a:pt x="54" y="221"/>
                  <a:pt x="65" y="289"/>
                  <a:pt x="48" y="374"/>
                </a:cubicBezTo>
                <a:cubicBezTo>
                  <a:pt x="31" y="459"/>
                  <a:pt x="0" y="618"/>
                  <a:pt x="41" y="680"/>
                </a:cubicBezTo>
                <a:cubicBezTo>
                  <a:pt x="82" y="742"/>
                  <a:pt x="191" y="709"/>
                  <a:pt x="294" y="744"/>
                </a:cubicBezTo>
                <a:cubicBezTo>
                  <a:pt x="397" y="779"/>
                  <a:pt x="527" y="849"/>
                  <a:pt x="660" y="893"/>
                </a:cubicBezTo>
                <a:cubicBezTo>
                  <a:pt x="793" y="938"/>
                  <a:pt x="944" y="991"/>
                  <a:pt x="1088" y="1014"/>
                </a:cubicBezTo>
                <a:cubicBezTo>
                  <a:pt x="1232" y="1036"/>
                  <a:pt x="1401" y="1049"/>
                  <a:pt x="1525" y="1031"/>
                </a:cubicBezTo>
                <a:cubicBezTo>
                  <a:pt x="1649" y="1012"/>
                  <a:pt x="1749" y="960"/>
                  <a:pt x="1831" y="907"/>
                </a:cubicBezTo>
                <a:cubicBezTo>
                  <a:pt x="1913" y="855"/>
                  <a:pt x="1998" y="824"/>
                  <a:pt x="2015" y="714"/>
                </a:cubicBezTo>
                <a:cubicBezTo>
                  <a:pt x="2032" y="604"/>
                  <a:pt x="1990" y="350"/>
                  <a:pt x="1931" y="251"/>
                </a:cubicBezTo>
                <a:cubicBezTo>
                  <a:pt x="1872" y="151"/>
                  <a:pt x="1754" y="153"/>
                  <a:pt x="1658" y="114"/>
                </a:cubicBezTo>
                <a:cubicBezTo>
                  <a:pt x="1562" y="76"/>
                  <a:pt x="1457" y="30"/>
                  <a:pt x="1355" y="15"/>
                </a:cubicBezTo>
                <a:cubicBezTo>
                  <a:pt x="1253" y="0"/>
                  <a:pt x="1129" y="8"/>
                  <a:pt x="1044" y="26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04" name="Line 642"/>
          <p:cNvSpPr>
            <a:spLocks noChangeShapeType="1"/>
          </p:cNvSpPr>
          <p:nvPr/>
        </p:nvSpPr>
        <p:spPr bwMode="auto">
          <a:xfrm rot="-5400000">
            <a:off x="7845425" y="5162551"/>
            <a:ext cx="523875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05" name="Line 643"/>
          <p:cNvSpPr>
            <a:spLocks noChangeShapeType="1"/>
          </p:cNvSpPr>
          <p:nvPr/>
        </p:nvSpPr>
        <p:spPr bwMode="auto">
          <a:xfrm rot="5400000" flipV="1">
            <a:off x="7991475" y="5443538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06" name="Line 644"/>
          <p:cNvSpPr>
            <a:spLocks noChangeShapeType="1"/>
          </p:cNvSpPr>
          <p:nvPr/>
        </p:nvSpPr>
        <p:spPr bwMode="auto">
          <a:xfrm rot="-5400000">
            <a:off x="8177213" y="5119688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07" name="Line 646"/>
          <p:cNvSpPr>
            <a:spLocks noChangeShapeType="1"/>
          </p:cNvSpPr>
          <p:nvPr/>
        </p:nvSpPr>
        <p:spPr bwMode="auto">
          <a:xfrm>
            <a:off x="6100763" y="4776788"/>
            <a:ext cx="212725" cy="984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08" name="Line 647"/>
          <p:cNvSpPr>
            <a:spLocks noChangeShapeType="1"/>
          </p:cNvSpPr>
          <p:nvPr/>
        </p:nvSpPr>
        <p:spPr bwMode="auto">
          <a:xfrm flipV="1">
            <a:off x="5842000" y="5040313"/>
            <a:ext cx="390525" cy="730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09" name="Line 650"/>
          <p:cNvSpPr>
            <a:spLocks noChangeShapeType="1"/>
          </p:cNvSpPr>
          <p:nvPr/>
        </p:nvSpPr>
        <p:spPr bwMode="auto">
          <a:xfrm flipH="1">
            <a:off x="6267450" y="5087938"/>
            <a:ext cx="103188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10" name="Line 651"/>
          <p:cNvSpPr>
            <a:spLocks noChangeShapeType="1"/>
          </p:cNvSpPr>
          <p:nvPr/>
        </p:nvSpPr>
        <p:spPr bwMode="auto">
          <a:xfrm flipH="1" flipV="1">
            <a:off x="6548438" y="5100638"/>
            <a:ext cx="114300" cy="1730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11" name="Line 652"/>
          <p:cNvSpPr>
            <a:spLocks noChangeShapeType="1"/>
          </p:cNvSpPr>
          <p:nvPr/>
        </p:nvSpPr>
        <p:spPr bwMode="auto">
          <a:xfrm>
            <a:off x="6743700" y="5056188"/>
            <a:ext cx="503238" cy="2698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12" name="Line 654"/>
          <p:cNvSpPr>
            <a:spLocks noChangeShapeType="1"/>
          </p:cNvSpPr>
          <p:nvPr/>
        </p:nvSpPr>
        <p:spPr bwMode="auto">
          <a:xfrm>
            <a:off x="6046788" y="3582988"/>
            <a:ext cx="234950" cy="7461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13" name="Line 655"/>
          <p:cNvSpPr>
            <a:spLocks noChangeShapeType="1"/>
          </p:cNvSpPr>
          <p:nvPr/>
        </p:nvSpPr>
        <p:spPr bwMode="auto">
          <a:xfrm flipV="1">
            <a:off x="5891213" y="3736975"/>
            <a:ext cx="168275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55314" name="Group 656"/>
          <p:cNvGrpSpPr>
            <a:grpSpLocks/>
          </p:cNvGrpSpPr>
          <p:nvPr/>
        </p:nvGrpSpPr>
        <p:grpSpPr bwMode="auto">
          <a:xfrm>
            <a:off x="5611813" y="3503613"/>
            <a:ext cx="506412" cy="352425"/>
            <a:chOff x="2967" y="478"/>
            <a:chExt cx="788" cy="625"/>
          </a:xfrm>
        </p:grpSpPr>
        <p:pic>
          <p:nvPicPr>
            <p:cNvPr id="55800" name="Picture 657" descr="access_point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801" name="Picture 658" descr="antenna_radiation_styliz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5315" name="Freeform 659"/>
          <p:cNvSpPr>
            <a:spLocks/>
          </p:cNvSpPr>
          <p:nvPr/>
        </p:nvSpPr>
        <p:spPr bwMode="auto">
          <a:xfrm>
            <a:off x="7015163" y="3530600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16" name="Freeform 660"/>
          <p:cNvSpPr>
            <a:spLocks/>
          </p:cNvSpPr>
          <p:nvPr/>
        </p:nvSpPr>
        <p:spPr bwMode="auto">
          <a:xfrm>
            <a:off x="7011988" y="2005013"/>
            <a:ext cx="1730375" cy="1125537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17" name="Line 661"/>
          <p:cNvSpPr>
            <a:spLocks noChangeShapeType="1"/>
          </p:cNvSpPr>
          <p:nvPr/>
        </p:nvSpPr>
        <p:spPr bwMode="auto">
          <a:xfrm>
            <a:off x="7396163" y="3816350"/>
            <a:ext cx="163512" cy="1206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18" name="Line 662"/>
          <p:cNvSpPr>
            <a:spLocks noChangeShapeType="1"/>
          </p:cNvSpPr>
          <p:nvPr/>
        </p:nvSpPr>
        <p:spPr bwMode="auto">
          <a:xfrm>
            <a:off x="7493000" y="3736975"/>
            <a:ext cx="279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19" name="Line 663"/>
          <p:cNvSpPr>
            <a:spLocks noChangeShapeType="1"/>
          </p:cNvSpPr>
          <p:nvPr/>
        </p:nvSpPr>
        <p:spPr bwMode="auto">
          <a:xfrm flipV="1">
            <a:off x="7729538" y="3822700"/>
            <a:ext cx="134937" cy="1047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0" name="Line 664"/>
          <p:cNvSpPr>
            <a:spLocks noChangeShapeType="1"/>
          </p:cNvSpPr>
          <p:nvPr/>
        </p:nvSpPr>
        <p:spPr bwMode="auto">
          <a:xfrm>
            <a:off x="6723063" y="2590800"/>
            <a:ext cx="509587" cy="3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1" name="Line 665"/>
          <p:cNvSpPr>
            <a:spLocks noChangeShapeType="1"/>
          </p:cNvSpPr>
          <p:nvPr/>
        </p:nvSpPr>
        <p:spPr bwMode="auto">
          <a:xfrm>
            <a:off x="7358063" y="4700588"/>
            <a:ext cx="390525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2" name="Line 666"/>
          <p:cNvSpPr>
            <a:spLocks noChangeShapeType="1"/>
          </p:cNvSpPr>
          <p:nvPr/>
        </p:nvSpPr>
        <p:spPr bwMode="auto">
          <a:xfrm flipV="1">
            <a:off x="6737350" y="4687888"/>
            <a:ext cx="322263" cy="1984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3" name="Line 667"/>
          <p:cNvSpPr>
            <a:spLocks noChangeShapeType="1"/>
          </p:cNvSpPr>
          <p:nvPr/>
        </p:nvSpPr>
        <p:spPr bwMode="auto">
          <a:xfrm flipV="1">
            <a:off x="6780213" y="4979988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4" name="Line 668"/>
          <p:cNvSpPr>
            <a:spLocks noChangeShapeType="1"/>
          </p:cNvSpPr>
          <p:nvPr/>
        </p:nvSpPr>
        <p:spPr bwMode="auto">
          <a:xfrm flipV="1">
            <a:off x="7577138" y="2495550"/>
            <a:ext cx="123825" cy="873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5" name="Line 669"/>
          <p:cNvSpPr>
            <a:spLocks noChangeShapeType="1"/>
          </p:cNvSpPr>
          <p:nvPr/>
        </p:nvSpPr>
        <p:spPr bwMode="auto">
          <a:xfrm>
            <a:off x="7405688" y="2668588"/>
            <a:ext cx="0" cy="825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6" name="Line 670"/>
          <p:cNvSpPr>
            <a:spLocks noChangeShapeType="1"/>
          </p:cNvSpPr>
          <p:nvPr/>
        </p:nvSpPr>
        <p:spPr bwMode="auto">
          <a:xfrm flipV="1">
            <a:off x="7580313" y="2562225"/>
            <a:ext cx="263525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7" name="Line 671"/>
          <p:cNvSpPr>
            <a:spLocks noChangeShapeType="1"/>
          </p:cNvSpPr>
          <p:nvPr/>
        </p:nvSpPr>
        <p:spPr bwMode="auto">
          <a:xfrm>
            <a:off x="7942263" y="2563813"/>
            <a:ext cx="0" cy="196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8" name="Line 672"/>
          <p:cNvSpPr>
            <a:spLocks noChangeShapeType="1"/>
          </p:cNvSpPr>
          <p:nvPr/>
        </p:nvSpPr>
        <p:spPr bwMode="auto">
          <a:xfrm>
            <a:off x="7596188" y="2870200"/>
            <a:ext cx="18891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29" name="Line 673"/>
          <p:cNvSpPr>
            <a:spLocks noChangeShapeType="1"/>
          </p:cNvSpPr>
          <p:nvPr/>
        </p:nvSpPr>
        <p:spPr bwMode="auto">
          <a:xfrm>
            <a:off x="8150225" y="2860675"/>
            <a:ext cx="177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30" name="Line 674"/>
          <p:cNvSpPr>
            <a:spLocks noChangeShapeType="1"/>
          </p:cNvSpPr>
          <p:nvPr/>
        </p:nvSpPr>
        <p:spPr bwMode="auto">
          <a:xfrm flipH="1">
            <a:off x="7299325" y="2936875"/>
            <a:ext cx="98425" cy="704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31" name="Line 675"/>
          <p:cNvSpPr>
            <a:spLocks noChangeShapeType="1"/>
          </p:cNvSpPr>
          <p:nvPr/>
        </p:nvSpPr>
        <p:spPr bwMode="auto">
          <a:xfrm flipH="1">
            <a:off x="7888288" y="2936875"/>
            <a:ext cx="111125" cy="7270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32" name="Line 676"/>
          <p:cNvSpPr>
            <a:spLocks noChangeShapeType="1"/>
          </p:cNvSpPr>
          <p:nvPr/>
        </p:nvSpPr>
        <p:spPr bwMode="auto">
          <a:xfrm flipV="1">
            <a:off x="7272338" y="4078288"/>
            <a:ext cx="227012" cy="4365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sp>
        <p:nvSpPr>
          <p:cNvPr id="55333" name="Line 677"/>
          <p:cNvSpPr>
            <a:spLocks noChangeShapeType="1"/>
          </p:cNvSpPr>
          <p:nvPr/>
        </p:nvSpPr>
        <p:spPr bwMode="auto">
          <a:xfrm>
            <a:off x="8345488" y="2859088"/>
            <a:ext cx="177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55334" name="Group 678"/>
          <p:cNvGrpSpPr>
            <a:grpSpLocks/>
          </p:cNvGrpSpPr>
          <p:nvPr/>
        </p:nvGrpSpPr>
        <p:grpSpPr bwMode="auto">
          <a:xfrm>
            <a:off x="6053138" y="1846263"/>
            <a:ext cx="468312" cy="620712"/>
            <a:chOff x="1653" y="3023"/>
            <a:chExt cx="622" cy="911"/>
          </a:xfrm>
        </p:grpSpPr>
        <p:sp>
          <p:nvSpPr>
            <p:cNvPr id="55783" name="Line 270"/>
            <p:cNvSpPr>
              <a:spLocks noChangeShapeType="1"/>
            </p:cNvSpPr>
            <p:nvPr/>
          </p:nvSpPr>
          <p:spPr bwMode="auto">
            <a:xfrm flipH="1">
              <a:off x="1766" y="3287"/>
              <a:ext cx="188" cy="586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84" name="Line 271"/>
            <p:cNvSpPr>
              <a:spLocks noChangeShapeType="1"/>
            </p:cNvSpPr>
            <p:nvPr/>
          </p:nvSpPr>
          <p:spPr bwMode="auto">
            <a:xfrm>
              <a:off x="1954" y="3287"/>
              <a:ext cx="188" cy="583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85" name="Line 272"/>
            <p:cNvSpPr>
              <a:spLocks noChangeShapeType="1"/>
            </p:cNvSpPr>
            <p:nvPr/>
          </p:nvSpPr>
          <p:spPr bwMode="auto">
            <a:xfrm>
              <a:off x="1766" y="3870"/>
              <a:ext cx="188" cy="6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86" name="Line 273"/>
            <p:cNvSpPr>
              <a:spLocks noChangeShapeType="1"/>
            </p:cNvSpPr>
            <p:nvPr/>
          </p:nvSpPr>
          <p:spPr bwMode="auto">
            <a:xfrm flipH="1">
              <a:off x="1954" y="3870"/>
              <a:ext cx="188" cy="6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87" name="Line 274"/>
            <p:cNvSpPr>
              <a:spLocks noChangeShapeType="1"/>
            </p:cNvSpPr>
            <p:nvPr/>
          </p:nvSpPr>
          <p:spPr bwMode="auto">
            <a:xfrm>
              <a:off x="1954" y="3300"/>
              <a:ext cx="0" cy="63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88" name="Line 275"/>
            <p:cNvSpPr>
              <a:spLocks noChangeShapeType="1"/>
            </p:cNvSpPr>
            <p:nvPr/>
          </p:nvSpPr>
          <p:spPr bwMode="auto">
            <a:xfrm flipV="1">
              <a:off x="1766" y="3810"/>
              <a:ext cx="188" cy="63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89" name="Line 276"/>
            <p:cNvSpPr>
              <a:spLocks noChangeShapeType="1"/>
            </p:cNvSpPr>
            <p:nvPr/>
          </p:nvSpPr>
          <p:spPr bwMode="auto">
            <a:xfrm flipH="1" flipV="1">
              <a:off x="1954" y="3810"/>
              <a:ext cx="188" cy="6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90" name="Line 277"/>
            <p:cNvSpPr>
              <a:spLocks noChangeShapeType="1"/>
            </p:cNvSpPr>
            <p:nvPr/>
          </p:nvSpPr>
          <p:spPr bwMode="auto">
            <a:xfrm>
              <a:off x="1846" y="3618"/>
              <a:ext cx="108" cy="4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91" name="Line 278"/>
            <p:cNvSpPr>
              <a:spLocks noChangeShapeType="1"/>
            </p:cNvSpPr>
            <p:nvPr/>
          </p:nvSpPr>
          <p:spPr bwMode="auto">
            <a:xfrm flipV="1">
              <a:off x="1954" y="3618"/>
              <a:ext cx="114" cy="4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92" name="Line 279"/>
            <p:cNvSpPr>
              <a:spLocks noChangeShapeType="1"/>
            </p:cNvSpPr>
            <p:nvPr/>
          </p:nvSpPr>
          <p:spPr bwMode="auto">
            <a:xfrm>
              <a:off x="1810" y="3704"/>
              <a:ext cx="139" cy="65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93" name="Line 280"/>
            <p:cNvSpPr>
              <a:spLocks noChangeShapeType="1"/>
            </p:cNvSpPr>
            <p:nvPr/>
          </p:nvSpPr>
          <p:spPr bwMode="auto">
            <a:xfrm flipV="1">
              <a:off x="1954" y="3717"/>
              <a:ext cx="140" cy="57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94" name="Line 281"/>
            <p:cNvSpPr>
              <a:spLocks noChangeShapeType="1"/>
            </p:cNvSpPr>
            <p:nvPr/>
          </p:nvSpPr>
          <p:spPr bwMode="auto">
            <a:xfrm flipV="1">
              <a:off x="1954" y="3530"/>
              <a:ext cx="72" cy="2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95" name="Line 282"/>
            <p:cNvSpPr>
              <a:spLocks noChangeShapeType="1"/>
            </p:cNvSpPr>
            <p:nvPr/>
          </p:nvSpPr>
          <p:spPr bwMode="auto">
            <a:xfrm flipV="1">
              <a:off x="1954" y="3409"/>
              <a:ext cx="45" cy="1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96" name="Line 283"/>
            <p:cNvSpPr>
              <a:spLocks noChangeShapeType="1"/>
            </p:cNvSpPr>
            <p:nvPr/>
          </p:nvSpPr>
          <p:spPr bwMode="auto">
            <a:xfrm>
              <a:off x="1873" y="3522"/>
              <a:ext cx="87" cy="32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97" name="Line 284"/>
            <p:cNvSpPr>
              <a:spLocks noChangeShapeType="1"/>
            </p:cNvSpPr>
            <p:nvPr/>
          </p:nvSpPr>
          <p:spPr bwMode="auto">
            <a:xfrm>
              <a:off x="1912" y="3404"/>
              <a:ext cx="50" cy="31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98" name="Oval 694"/>
            <p:cNvSpPr>
              <a:spLocks noChangeArrowheads="1"/>
            </p:cNvSpPr>
            <p:nvPr/>
          </p:nvSpPr>
          <p:spPr bwMode="auto">
            <a:xfrm>
              <a:off x="1921" y="3233"/>
              <a:ext cx="63" cy="68"/>
            </a:xfrm>
            <a:prstGeom prst="ellipse">
              <a:avLst/>
            </a:prstGeom>
            <a:solidFill>
              <a:srgbClr val="808080"/>
            </a:soli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pic>
          <p:nvPicPr>
            <p:cNvPr id="55799" name="Picture 695" descr="cell_tower_radiation_gra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3" y="3023"/>
              <a:ext cx="622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5335" name="Group 696"/>
          <p:cNvGrpSpPr>
            <a:grpSpLocks/>
          </p:cNvGrpSpPr>
          <p:nvPr/>
        </p:nvGrpSpPr>
        <p:grpSpPr bwMode="auto">
          <a:xfrm>
            <a:off x="6289675" y="2406650"/>
            <a:ext cx="454025" cy="254000"/>
            <a:chOff x="3843" y="1516"/>
            <a:chExt cx="286" cy="160"/>
          </a:xfrm>
        </p:grpSpPr>
        <p:sp>
          <p:nvSpPr>
            <p:cNvPr id="55774" name="Line 697"/>
            <p:cNvSpPr>
              <a:spLocks noChangeShapeType="1"/>
            </p:cNvSpPr>
            <p:nvPr/>
          </p:nvSpPr>
          <p:spPr bwMode="auto">
            <a:xfrm>
              <a:off x="3843" y="1516"/>
              <a:ext cx="96" cy="6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75" name="Oval 407"/>
            <p:cNvSpPr>
              <a:spLocks noChangeArrowheads="1"/>
            </p:cNvSpPr>
            <p:nvPr/>
          </p:nvSpPr>
          <p:spPr bwMode="auto">
            <a:xfrm>
              <a:off x="3884" y="1616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76" name="Rectangle 410"/>
            <p:cNvSpPr>
              <a:spLocks noChangeArrowheads="1"/>
            </p:cNvSpPr>
            <p:nvPr/>
          </p:nvSpPr>
          <p:spPr bwMode="auto">
            <a:xfrm>
              <a:off x="3884" y="1610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77" name="Oval 411"/>
            <p:cNvSpPr>
              <a:spLocks noChangeArrowheads="1"/>
            </p:cNvSpPr>
            <p:nvPr/>
          </p:nvSpPr>
          <p:spPr bwMode="auto">
            <a:xfrm>
              <a:off x="3883" y="1569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78" name="Group 701"/>
            <p:cNvGrpSpPr>
              <a:grpSpLocks/>
            </p:cNvGrpSpPr>
            <p:nvPr/>
          </p:nvGrpSpPr>
          <p:grpSpPr bwMode="auto">
            <a:xfrm>
              <a:off x="3932" y="1587"/>
              <a:ext cx="138" cy="33"/>
              <a:chOff x="2468" y="1332"/>
              <a:chExt cx="310" cy="60"/>
            </a:xfrm>
          </p:grpSpPr>
          <p:sp>
            <p:nvSpPr>
              <p:cNvPr id="55781" name="Freeform 70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82" name="Freeform 70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79" name="Line 704"/>
            <p:cNvSpPr>
              <a:spLocks noChangeShapeType="1"/>
            </p:cNvSpPr>
            <p:nvPr/>
          </p:nvSpPr>
          <p:spPr bwMode="auto">
            <a:xfrm>
              <a:off x="3884" y="1602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80" name="Line 705"/>
            <p:cNvSpPr>
              <a:spLocks noChangeShapeType="1"/>
            </p:cNvSpPr>
            <p:nvPr/>
          </p:nvSpPr>
          <p:spPr bwMode="auto">
            <a:xfrm>
              <a:off x="4127" y="1604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36" name="Group 706"/>
          <p:cNvGrpSpPr>
            <a:grpSpLocks/>
          </p:cNvGrpSpPr>
          <p:nvPr/>
        </p:nvGrpSpPr>
        <p:grpSpPr bwMode="auto">
          <a:xfrm>
            <a:off x="7202488" y="2493963"/>
            <a:ext cx="390525" cy="174625"/>
            <a:chOff x="4334" y="1470"/>
            <a:chExt cx="246" cy="107"/>
          </a:xfrm>
        </p:grpSpPr>
        <p:sp>
          <p:nvSpPr>
            <p:cNvPr id="5576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6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6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69" name="Group 710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72" name="Freeform 71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73" name="Freeform 71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70" name="Line 713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71" name="Line 714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37" name="Group 715"/>
          <p:cNvGrpSpPr>
            <a:grpSpLocks/>
          </p:cNvGrpSpPr>
          <p:nvPr/>
        </p:nvGrpSpPr>
        <p:grpSpPr bwMode="auto">
          <a:xfrm>
            <a:off x="7213600" y="2757488"/>
            <a:ext cx="390525" cy="174625"/>
            <a:chOff x="4334" y="1470"/>
            <a:chExt cx="246" cy="107"/>
          </a:xfrm>
        </p:grpSpPr>
        <p:sp>
          <p:nvSpPr>
            <p:cNvPr id="5575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5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6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61" name="Group 719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64" name="Freeform 72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65" name="Freeform 72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62" name="Line 722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63" name="Line 723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38" name="Group 724"/>
          <p:cNvGrpSpPr>
            <a:grpSpLocks/>
          </p:cNvGrpSpPr>
          <p:nvPr/>
        </p:nvGrpSpPr>
        <p:grpSpPr bwMode="auto">
          <a:xfrm>
            <a:off x="7762875" y="2759075"/>
            <a:ext cx="390525" cy="174625"/>
            <a:chOff x="4334" y="1470"/>
            <a:chExt cx="246" cy="107"/>
          </a:xfrm>
        </p:grpSpPr>
        <p:sp>
          <p:nvSpPr>
            <p:cNvPr id="5575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5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5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53" name="Group 728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56" name="Freeform 72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57" name="Freeform 73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54" name="Line 731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55" name="Line 732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39" name="Group 733"/>
          <p:cNvGrpSpPr>
            <a:grpSpLocks/>
          </p:cNvGrpSpPr>
          <p:nvPr/>
        </p:nvGrpSpPr>
        <p:grpSpPr bwMode="auto">
          <a:xfrm>
            <a:off x="7689850" y="2393950"/>
            <a:ext cx="390525" cy="174625"/>
            <a:chOff x="4334" y="1470"/>
            <a:chExt cx="246" cy="107"/>
          </a:xfrm>
        </p:grpSpPr>
        <p:sp>
          <p:nvSpPr>
            <p:cNvPr id="5574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4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4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45" name="Group 737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48" name="Freeform 7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49" name="Freeform 7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46" name="Line 740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47" name="Line 741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40" name="Group 742"/>
          <p:cNvGrpSpPr>
            <a:grpSpLocks/>
          </p:cNvGrpSpPr>
          <p:nvPr/>
        </p:nvGrpSpPr>
        <p:grpSpPr bwMode="auto">
          <a:xfrm>
            <a:off x="7737475" y="3644900"/>
            <a:ext cx="492125" cy="206375"/>
            <a:chOff x="4334" y="1470"/>
            <a:chExt cx="246" cy="107"/>
          </a:xfrm>
        </p:grpSpPr>
        <p:sp>
          <p:nvSpPr>
            <p:cNvPr id="5573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3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3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37" name="Group 746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40" name="Freeform 74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41" name="Freeform 74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38" name="Line 749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39" name="Line 750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sp>
        <p:nvSpPr>
          <p:cNvPr id="55341" name="Line 751"/>
          <p:cNvSpPr>
            <a:spLocks noChangeShapeType="1"/>
          </p:cNvSpPr>
          <p:nvPr/>
        </p:nvSpPr>
        <p:spPr bwMode="auto">
          <a:xfrm>
            <a:off x="6427788" y="3743325"/>
            <a:ext cx="6794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55342" name="Group 752"/>
          <p:cNvGrpSpPr>
            <a:grpSpLocks/>
          </p:cNvGrpSpPr>
          <p:nvPr/>
        </p:nvGrpSpPr>
        <p:grpSpPr bwMode="auto">
          <a:xfrm>
            <a:off x="7086600" y="3632200"/>
            <a:ext cx="492125" cy="206375"/>
            <a:chOff x="4334" y="1470"/>
            <a:chExt cx="246" cy="107"/>
          </a:xfrm>
        </p:grpSpPr>
        <p:sp>
          <p:nvSpPr>
            <p:cNvPr id="5572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2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2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29" name="Group 756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32" name="Freeform 75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33" name="Freeform 75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30" name="Line 759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31" name="Line 760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43" name="Group 761"/>
          <p:cNvGrpSpPr>
            <a:grpSpLocks/>
          </p:cNvGrpSpPr>
          <p:nvPr/>
        </p:nvGrpSpPr>
        <p:grpSpPr bwMode="auto">
          <a:xfrm>
            <a:off x="7591425" y="4806950"/>
            <a:ext cx="622300" cy="244475"/>
            <a:chOff x="4334" y="1470"/>
            <a:chExt cx="246" cy="107"/>
          </a:xfrm>
        </p:grpSpPr>
        <p:sp>
          <p:nvSpPr>
            <p:cNvPr id="5571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1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2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21" name="Group 765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24" name="Freeform 76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25" name="Freeform 76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22" name="Line 768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23" name="Line 769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44" name="Group 770"/>
          <p:cNvGrpSpPr>
            <a:grpSpLocks/>
          </p:cNvGrpSpPr>
          <p:nvPr/>
        </p:nvGrpSpPr>
        <p:grpSpPr bwMode="auto">
          <a:xfrm>
            <a:off x="6965950" y="4508500"/>
            <a:ext cx="622300" cy="244475"/>
            <a:chOff x="4334" y="1470"/>
            <a:chExt cx="246" cy="107"/>
          </a:xfrm>
        </p:grpSpPr>
        <p:sp>
          <p:nvSpPr>
            <p:cNvPr id="5571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1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1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13" name="Group 774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16" name="Freeform 77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17" name="Freeform 77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14" name="Line 777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15" name="Line 778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45" name="Group 779"/>
          <p:cNvGrpSpPr>
            <a:grpSpLocks/>
          </p:cNvGrpSpPr>
          <p:nvPr/>
        </p:nvGrpSpPr>
        <p:grpSpPr bwMode="auto">
          <a:xfrm>
            <a:off x="6242050" y="4851400"/>
            <a:ext cx="622300" cy="244475"/>
            <a:chOff x="4334" y="1470"/>
            <a:chExt cx="246" cy="107"/>
          </a:xfrm>
        </p:grpSpPr>
        <p:sp>
          <p:nvSpPr>
            <p:cNvPr id="5570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0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70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705" name="Group 783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08" name="Freeform 78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09" name="Freeform 78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706" name="Line 786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707" name="Line 787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46" name="Group 788"/>
          <p:cNvGrpSpPr>
            <a:grpSpLocks/>
          </p:cNvGrpSpPr>
          <p:nvPr/>
        </p:nvGrpSpPr>
        <p:grpSpPr bwMode="auto">
          <a:xfrm>
            <a:off x="6051550" y="3644900"/>
            <a:ext cx="390525" cy="171450"/>
            <a:chOff x="4334" y="1470"/>
            <a:chExt cx="246" cy="107"/>
          </a:xfrm>
        </p:grpSpPr>
        <p:sp>
          <p:nvSpPr>
            <p:cNvPr id="5569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69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69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697" name="Group 792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5700" name="Freeform 79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701" name="Freeform 79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698" name="Line 795"/>
            <p:cNvSpPr>
              <a:spLocks noChangeShapeType="1"/>
            </p:cNvSpPr>
            <p:nvPr/>
          </p:nvSpPr>
          <p:spPr bwMode="auto">
            <a:xfrm>
              <a:off x="4335" y="1503"/>
              <a:ext cx="0" cy="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99" name="Line 796"/>
            <p:cNvSpPr>
              <a:spLocks noChangeShapeType="1"/>
            </p:cNvSpPr>
            <p:nvPr/>
          </p:nvSpPr>
          <p:spPr bwMode="auto">
            <a:xfrm>
              <a:off x="4578" y="1505"/>
              <a:ext cx="0" cy="4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47" name="Group 797"/>
          <p:cNvGrpSpPr>
            <a:grpSpLocks/>
          </p:cNvGrpSpPr>
          <p:nvPr/>
        </p:nvGrpSpPr>
        <p:grpSpPr bwMode="auto">
          <a:xfrm>
            <a:off x="7161213" y="5005388"/>
            <a:ext cx="446087" cy="422275"/>
            <a:chOff x="5072" y="3611"/>
            <a:chExt cx="459" cy="380"/>
          </a:xfrm>
        </p:grpSpPr>
        <p:grpSp>
          <p:nvGrpSpPr>
            <p:cNvPr id="55680" name="Group 798"/>
            <p:cNvGrpSpPr>
              <a:grpSpLocks/>
            </p:cNvGrpSpPr>
            <p:nvPr/>
          </p:nvGrpSpPr>
          <p:grpSpPr bwMode="auto">
            <a:xfrm>
              <a:off x="5144" y="3611"/>
              <a:ext cx="387" cy="99"/>
              <a:chOff x="5030" y="2639"/>
              <a:chExt cx="387" cy="99"/>
            </a:xfrm>
          </p:grpSpPr>
          <p:sp>
            <p:nvSpPr>
              <p:cNvPr id="55682" name="Freeform 799"/>
              <p:cNvSpPr>
                <a:spLocks/>
              </p:cNvSpPr>
              <p:nvPr/>
            </p:nvSpPr>
            <p:spPr bwMode="auto">
              <a:xfrm>
                <a:off x="5134" y="2657"/>
                <a:ext cx="69" cy="55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83" name="Freeform 800"/>
              <p:cNvSpPr>
                <a:spLocks/>
              </p:cNvSpPr>
              <p:nvPr/>
            </p:nvSpPr>
            <p:spPr bwMode="auto">
              <a:xfrm>
                <a:off x="5252" y="2656"/>
                <a:ext cx="47" cy="42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84" name="Freeform 801"/>
              <p:cNvSpPr>
                <a:spLocks/>
              </p:cNvSpPr>
              <p:nvPr/>
            </p:nvSpPr>
            <p:spPr bwMode="auto">
              <a:xfrm>
                <a:off x="5089" y="2646"/>
                <a:ext cx="114" cy="88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85" name="Freeform 802"/>
              <p:cNvSpPr>
                <a:spLocks/>
              </p:cNvSpPr>
              <p:nvPr/>
            </p:nvSpPr>
            <p:spPr bwMode="auto">
              <a:xfrm>
                <a:off x="5250" y="2643"/>
                <a:ext cx="99" cy="59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86" name="Freeform 803"/>
              <p:cNvSpPr>
                <a:spLocks/>
              </p:cNvSpPr>
              <p:nvPr/>
            </p:nvSpPr>
            <p:spPr bwMode="auto">
              <a:xfrm>
                <a:off x="5047" y="2671"/>
                <a:ext cx="40" cy="55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87" name="Freeform 804"/>
              <p:cNvSpPr>
                <a:spLocks/>
              </p:cNvSpPr>
              <p:nvPr/>
            </p:nvSpPr>
            <p:spPr bwMode="auto">
              <a:xfrm>
                <a:off x="5330" y="2639"/>
                <a:ext cx="87" cy="73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88" name="Freeform 805"/>
              <p:cNvSpPr>
                <a:spLocks/>
              </p:cNvSpPr>
              <p:nvPr/>
            </p:nvSpPr>
            <p:spPr bwMode="auto">
              <a:xfrm>
                <a:off x="5115" y="2660"/>
                <a:ext cx="69" cy="55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89" name="Freeform 806"/>
              <p:cNvSpPr>
                <a:spLocks/>
              </p:cNvSpPr>
              <p:nvPr/>
            </p:nvSpPr>
            <p:spPr bwMode="auto">
              <a:xfrm>
                <a:off x="5233" y="2660"/>
                <a:ext cx="47" cy="42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90" name="Freeform 807"/>
              <p:cNvSpPr>
                <a:spLocks/>
              </p:cNvSpPr>
              <p:nvPr/>
            </p:nvSpPr>
            <p:spPr bwMode="auto">
              <a:xfrm>
                <a:off x="5070" y="2650"/>
                <a:ext cx="112" cy="88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91" name="Freeform 808"/>
              <p:cNvSpPr>
                <a:spLocks/>
              </p:cNvSpPr>
              <p:nvPr/>
            </p:nvSpPr>
            <p:spPr bwMode="auto">
              <a:xfrm>
                <a:off x="5229" y="2647"/>
                <a:ext cx="99" cy="59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92" name="Freeform 809"/>
              <p:cNvSpPr>
                <a:spLocks/>
              </p:cNvSpPr>
              <p:nvPr/>
            </p:nvSpPr>
            <p:spPr bwMode="auto">
              <a:xfrm>
                <a:off x="5030" y="2680"/>
                <a:ext cx="40" cy="54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93" name="Freeform 810"/>
              <p:cNvSpPr>
                <a:spLocks/>
              </p:cNvSpPr>
              <p:nvPr/>
            </p:nvSpPr>
            <p:spPr bwMode="auto">
              <a:xfrm>
                <a:off x="5311" y="2643"/>
                <a:ext cx="87" cy="73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pic>
          <p:nvPicPr>
            <p:cNvPr id="55681" name="Picture 811" descr="access_point_stylized_gray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" y="3642"/>
              <a:ext cx="43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5348" name="Group 812"/>
          <p:cNvGrpSpPr>
            <a:grpSpLocks/>
          </p:cNvGrpSpPr>
          <p:nvPr/>
        </p:nvGrpSpPr>
        <p:grpSpPr bwMode="auto">
          <a:xfrm>
            <a:off x="5638800" y="3509963"/>
            <a:ext cx="398463" cy="358775"/>
            <a:chOff x="5072" y="3611"/>
            <a:chExt cx="459" cy="380"/>
          </a:xfrm>
        </p:grpSpPr>
        <p:grpSp>
          <p:nvGrpSpPr>
            <p:cNvPr id="55666" name="Group 813"/>
            <p:cNvGrpSpPr>
              <a:grpSpLocks/>
            </p:cNvGrpSpPr>
            <p:nvPr/>
          </p:nvGrpSpPr>
          <p:grpSpPr bwMode="auto">
            <a:xfrm>
              <a:off x="5144" y="3611"/>
              <a:ext cx="387" cy="99"/>
              <a:chOff x="5030" y="2639"/>
              <a:chExt cx="387" cy="99"/>
            </a:xfrm>
          </p:grpSpPr>
          <p:sp>
            <p:nvSpPr>
              <p:cNvPr id="55668" name="Freeform 814"/>
              <p:cNvSpPr>
                <a:spLocks/>
              </p:cNvSpPr>
              <p:nvPr/>
            </p:nvSpPr>
            <p:spPr bwMode="auto">
              <a:xfrm>
                <a:off x="5134" y="2657"/>
                <a:ext cx="69" cy="55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69" name="Freeform 815"/>
              <p:cNvSpPr>
                <a:spLocks/>
              </p:cNvSpPr>
              <p:nvPr/>
            </p:nvSpPr>
            <p:spPr bwMode="auto">
              <a:xfrm>
                <a:off x="5252" y="2656"/>
                <a:ext cx="47" cy="42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0" name="Freeform 816"/>
              <p:cNvSpPr>
                <a:spLocks/>
              </p:cNvSpPr>
              <p:nvPr/>
            </p:nvSpPr>
            <p:spPr bwMode="auto">
              <a:xfrm>
                <a:off x="5089" y="2646"/>
                <a:ext cx="114" cy="88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1" name="Freeform 817"/>
              <p:cNvSpPr>
                <a:spLocks/>
              </p:cNvSpPr>
              <p:nvPr/>
            </p:nvSpPr>
            <p:spPr bwMode="auto">
              <a:xfrm>
                <a:off x="5250" y="2643"/>
                <a:ext cx="99" cy="59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2" name="Freeform 818"/>
              <p:cNvSpPr>
                <a:spLocks/>
              </p:cNvSpPr>
              <p:nvPr/>
            </p:nvSpPr>
            <p:spPr bwMode="auto">
              <a:xfrm>
                <a:off x="5047" y="2671"/>
                <a:ext cx="40" cy="55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3" name="Freeform 819"/>
              <p:cNvSpPr>
                <a:spLocks/>
              </p:cNvSpPr>
              <p:nvPr/>
            </p:nvSpPr>
            <p:spPr bwMode="auto">
              <a:xfrm>
                <a:off x="5330" y="2639"/>
                <a:ext cx="87" cy="73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4" name="Freeform 820"/>
              <p:cNvSpPr>
                <a:spLocks/>
              </p:cNvSpPr>
              <p:nvPr/>
            </p:nvSpPr>
            <p:spPr bwMode="auto">
              <a:xfrm>
                <a:off x="5115" y="2660"/>
                <a:ext cx="69" cy="55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5" name="Freeform 821"/>
              <p:cNvSpPr>
                <a:spLocks/>
              </p:cNvSpPr>
              <p:nvPr/>
            </p:nvSpPr>
            <p:spPr bwMode="auto">
              <a:xfrm>
                <a:off x="5233" y="2660"/>
                <a:ext cx="47" cy="42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6" name="Freeform 822"/>
              <p:cNvSpPr>
                <a:spLocks/>
              </p:cNvSpPr>
              <p:nvPr/>
            </p:nvSpPr>
            <p:spPr bwMode="auto">
              <a:xfrm>
                <a:off x="5070" y="2650"/>
                <a:ext cx="112" cy="88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7" name="Freeform 823"/>
              <p:cNvSpPr>
                <a:spLocks/>
              </p:cNvSpPr>
              <p:nvPr/>
            </p:nvSpPr>
            <p:spPr bwMode="auto">
              <a:xfrm>
                <a:off x="5229" y="2647"/>
                <a:ext cx="99" cy="59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8" name="Freeform 824"/>
              <p:cNvSpPr>
                <a:spLocks/>
              </p:cNvSpPr>
              <p:nvPr/>
            </p:nvSpPr>
            <p:spPr bwMode="auto">
              <a:xfrm>
                <a:off x="5030" y="2680"/>
                <a:ext cx="40" cy="54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679" name="Freeform 825"/>
              <p:cNvSpPr>
                <a:spLocks/>
              </p:cNvSpPr>
              <p:nvPr/>
            </p:nvSpPr>
            <p:spPr bwMode="auto">
              <a:xfrm>
                <a:off x="5311" y="2643"/>
                <a:ext cx="87" cy="73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pic>
          <p:nvPicPr>
            <p:cNvPr id="55667" name="Picture 826" descr="access_point_stylized_gray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" y="3642"/>
              <a:ext cx="43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5349" name="Line 827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55350" name="Group 828"/>
          <p:cNvGrpSpPr>
            <a:grpSpLocks/>
          </p:cNvGrpSpPr>
          <p:nvPr/>
        </p:nvGrpSpPr>
        <p:grpSpPr bwMode="auto">
          <a:xfrm>
            <a:off x="5254625" y="2038350"/>
            <a:ext cx="504825" cy="401638"/>
            <a:chOff x="2896" y="396"/>
            <a:chExt cx="1848" cy="1887"/>
          </a:xfrm>
        </p:grpSpPr>
        <p:pic>
          <p:nvPicPr>
            <p:cNvPr id="55643" name="Picture 829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644" name="Freeform 830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pic>
          <p:nvPicPr>
            <p:cNvPr id="55645" name="Picture 831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646" name="Freeform 832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47" name="Freeform 833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48" name="Freeform 834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49" name="Freeform 835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0" name="Freeform 836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1" name="Freeform 837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2" name="Freeform 838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3" name="Freeform 839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4" name="Freeform 840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5" name="Freeform 841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6" name="Freeform 842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7" name="Freeform 843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8" name="Freeform 844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59" name="Freeform 845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60" name="Freeform 846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61" name="Freeform 847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62" name="Freeform 848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63" name="Freeform 849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64" name="Freeform 850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pic>
          <p:nvPicPr>
            <p:cNvPr id="55665" name="Picture 851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5351" name="Group 852"/>
          <p:cNvGrpSpPr>
            <a:grpSpLocks/>
          </p:cNvGrpSpPr>
          <p:nvPr/>
        </p:nvGrpSpPr>
        <p:grpSpPr bwMode="auto">
          <a:xfrm>
            <a:off x="5537200" y="3054350"/>
            <a:ext cx="504825" cy="401638"/>
            <a:chOff x="2896" y="396"/>
            <a:chExt cx="1848" cy="1887"/>
          </a:xfrm>
        </p:grpSpPr>
        <p:pic>
          <p:nvPicPr>
            <p:cNvPr id="55620" name="Picture 853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621" name="Freeform 854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pic>
          <p:nvPicPr>
            <p:cNvPr id="55622" name="Picture 855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623" name="Freeform 856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24" name="Freeform 857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25" name="Freeform 858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26" name="Freeform 859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27" name="Freeform 860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28" name="Freeform 861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29" name="Freeform 862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0" name="Freeform 863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1" name="Freeform 864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2" name="Freeform 865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3" name="Freeform 866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4" name="Freeform 867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5" name="Freeform 868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6" name="Freeform 869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7" name="Freeform 870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8" name="Freeform 871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39" name="Freeform 872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40" name="Freeform 873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41" name="Freeform 874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pic>
          <p:nvPicPr>
            <p:cNvPr id="55642" name="Picture 875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5352" name="Group 876"/>
          <p:cNvGrpSpPr>
            <a:grpSpLocks/>
          </p:cNvGrpSpPr>
          <p:nvPr/>
        </p:nvGrpSpPr>
        <p:grpSpPr bwMode="auto">
          <a:xfrm>
            <a:off x="6959600" y="5495925"/>
            <a:ext cx="504825" cy="401638"/>
            <a:chOff x="2896" y="396"/>
            <a:chExt cx="1848" cy="1887"/>
          </a:xfrm>
        </p:grpSpPr>
        <p:pic>
          <p:nvPicPr>
            <p:cNvPr id="55597" name="Picture 877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598" name="Freeform 878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pic>
          <p:nvPicPr>
            <p:cNvPr id="55599" name="Picture 879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600" name="Freeform 880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01" name="Freeform 881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02" name="Freeform 882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03" name="Freeform 883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04" name="Freeform 884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05" name="Freeform 885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06" name="Freeform 886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07" name="Freeform 887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08" name="Freeform 888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09" name="Freeform 889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10" name="Freeform 890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11" name="Freeform 891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12" name="Freeform 892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13" name="Freeform 893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14" name="Freeform 894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15" name="Freeform 895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16" name="Freeform 896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17" name="Freeform 897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618" name="Freeform 898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pic>
          <p:nvPicPr>
            <p:cNvPr id="55619" name="Picture 899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5353" name="Group 900"/>
          <p:cNvGrpSpPr>
            <a:grpSpLocks/>
          </p:cNvGrpSpPr>
          <p:nvPr/>
        </p:nvGrpSpPr>
        <p:grpSpPr bwMode="auto">
          <a:xfrm>
            <a:off x="7378700" y="5524500"/>
            <a:ext cx="504825" cy="401638"/>
            <a:chOff x="2896" y="396"/>
            <a:chExt cx="1848" cy="1887"/>
          </a:xfrm>
        </p:grpSpPr>
        <p:pic>
          <p:nvPicPr>
            <p:cNvPr id="55574" name="Picture 901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575" name="Freeform 902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pic>
          <p:nvPicPr>
            <p:cNvPr id="55576" name="Picture 903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577" name="Freeform 904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78" name="Freeform 905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79" name="Freeform 906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0" name="Freeform 907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1" name="Freeform 908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2" name="Freeform 909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3" name="Freeform 910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4" name="Freeform 911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5" name="Freeform 912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6" name="Freeform 913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7" name="Freeform 914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8" name="Freeform 915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89" name="Freeform 916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90" name="Freeform 917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91" name="Freeform 918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92" name="Freeform 919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93" name="Freeform 920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94" name="Freeform 921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95" name="Freeform 922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pic>
          <p:nvPicPr>
            <p:cNvPr id="55596" name="Picture 923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5354" name="Group 924"/>
          <p:cNvGrpSpPr>
            <a:grpSpLocks/>
          </p:cNvGrpSpPr>
          <p:nvPr/>
        </p:nvGrpSpPr>
        <p:grpSpPr bwMode="auto">
          <a:xfrm>
            <a:off x="5349875" y="1590675"/>
            <a:ext cx="617538" cy="387350"/>
            <a:chOff x="2920" y="972"/>
            <a:chExt cx="389" cy="244"/>
          </a:xfrm>
        </p:grpSpPr>
        <p:grpSp>
          <p:nvGrpSpPr>
            <p:cNvPr id="55562" name="Group 925"/>
            <p:cNvGrpSpPr>
              <a:grpSpLocks/>
            </p:cNvGrpSpPr>
            <p:nvPr/>
          </p:nvGrpSpPr>
          <p:grpSpPr bwMode="auto">
            <a:xfrm>
              <a:off x="3085" y="1027"/>
              <a:ext cx="102" cy="189"/>
              <a:chOff x="3436" y="1504"/>
              <a:chExt cx="393" cy="942"/>
            </a:xfrm>
          </p:grpSpPr>
          <p:pic>
            <p:nvPicPr>
              <p:cNvPr id="55564" name="Picture 926" descr="iphone_stylized_small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6" y="1504"/>
                <a:ext cx="393" cy="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565" name="Freeform 927"/>
              <p:cNvSpPr>
                <a:spLocks/>
              </p:cNvSpPr>
              <p:nvPr/>
            </p:nvSpPr>
            <p:spPr bwMode="auto">
              <a:xfrm>
                <a:off x="3484" y="1523"/>
                <a:ext cx="339" cy="906"/>
              </a:xfrm>
              <a:custGeom>
                <a:avLst/>
                <a:gdLst>
                  <a:gd name="T0" fmla="*/ 6 w 339"/>
                  <a:gd name="T1" fmla="*/ 31 h 906"/>
                  <a:gd name="T2" fmla="*/ 38 w 339"/>
                  <a:gd name="T3" fmla="*/ 0 h 906"/>
                  <a:gd name="T4" fmla="*/ 323 w 339"/>
                  <a:gd name="T5" fmla="*/ 45 h 906"/>
                  <a:gd name="T6" fmla="*/ 338 w 339"/>
                  <a:gd name="T7" fmla="*/ 85 h 906"/>
                  <a:gd name="T8" fmla="*/ 339 w 339"/>
                  <a:gd name="T9" fmla="*/ 813 h 906"/>
                  <a:gd name="T10" fmla="*/ 312 w 339"/>
                  <a:gd name="T11" fmla="*/ 865 h 906"/>
                  <a:gd name="T12" fmla="*/ 29 w 339"/>
                  <a:gd name="T13" fmla="*/ 906 h 906"/>
                  <a:gd name="T14" fmla="*/ 0 w 339"/>
                  <a:gd name="T15" fmla="*/ 876 h 906"/>
                  <a:gd name="T16" fmla="*/ 6 w 339"/>
                  <a:gd name="T17" fmla="*/ 31 h 90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39"/>
                  <a:gd name="T28" fmla="*/ 0 h 906"/>
                  <a:gd name="T29" fmla="*/ 339 w 339"/>
                  <a:gd name="T30" fmla="*/ 906 h 90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39" h="906">
                    <a:moveTo>
                      <a:pt x="6" y="31"/>
                    </a:moveTo>
                    <a:lnTo>
                      <a:pt x="38" y="0"/>
                    </a:lnTo>
                    <a:lnTo>
                      <a:pt x="323" y="45"/>
                    </a:lnTo>
                    <a:lnTo>
                      <a:pt x="338" y="85"/>
                    </a:lnTo>
                    <a:lnTo>
                      <a:pt x="339" y="813"/>
                    </a:lnTo>
                    <a:lnTo>
                      <a:pt x="312" y="865"/>
                    </a:lnTo>
                    <a:lnTo>
                      <a:pt x="29" y="906"/>
                    </a:lnTo>
                    <a:lnTo>
                      <a:pt x="0" y="876"/>
                    </a:lnTo>
                    <a:lnTo>
                      <a:pt x="6" y="3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82001"/>
                    </a:srgbClr>
                  </a:gs>
                  <a:gs pos="100000">
                    <a:srgbClr val="666666">
                      <a:alpha val="82001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grpSp>
            <p:nvGrpSpPr>
              <p:cNvPr id="55566" name="Group 928"/>
              <p:cNvGrpSpPr>
                <a:grpSpLocks/>
              </p:cNvGrpSpPr>
              <p:nvPr/>
            </p:nvGrpSpPr>
            <p:grpSpPr bwMode="auto">
              <a:xfrm>
                <a:off x="3511" y="1689"/>
                <a:ext cx="289" cy="576"/>
                <a:chOff x="3511" y="1689"/>
                <a:chExt cx="289" cy="576"/>
              </a:xfrm>
            </p:grpSpPr>
            <p:sp>
              <p:nvSpPr>
                <p:cNvPr id="55567" name="Freeform 929"/>
                <p:cNvSpPr>
                  <a:spLocks/>
                </p:cNvSpPr>
                <p:nvPr/>
              </p:nvSpPr>
              <p:spPr bwMode="auto">
                <a:xfrm>
                  <a:off x="3519" y="2175"/>
                  <a:ext cx="66" cy="90"/>
                </a:xfrm>
                <a:custGeom>
                  <a:avLst/>
                  <a:gdLst>
                    <a:gd name="T0" fmla="*/ 0 w 66"/>
                    <a:gd name="T1" fmla="*/ 5 h 90"/>
                    <a:gd name="T2" fmla="*/ 66 w 66"/>
                    <a:gd name="T3" fmla="*/ 0 h 90"/>
                    <a:gd name="T4" fmla="*/ 65 w 66"/>
                    <a:gd name="T5" fmla="*/ 80 h 90"/>
                    <a:gd name="T6" fmla="*/ 2 w 66"/>
                    <a:gd name="T7" fmla="*/ 90 h 90"/>
                    <a:gd name="T8" fmla="*/ 0 w 66"/>
                    <a:gd name="T9" fmla="*/ 5 h 9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90"/>
                    <a:gd name="T17" fmla="*/ 66 w 66"/>
                    <a:gd name="T18" fmla="*/ 90 h 9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90">
                      <a:moveTo>
                        <a:pt x="0" y="5"/>
                      </a:moveTo>
                      <a:lnTo>
                        <a:pt x="66" y="0"/>
                      </a:lnTo>
                      <a:lnTo>
                        <a:pt x="65" y="80"/>
                      </a:lnTo>
                      <a:lnTo>
                        <a:pt x="2" y="9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568" name="Freeform 930"/>
                <p:cNvSpPr>
                  <a:spLocks/>
                </p:cNvSpPr>
                <p:nvPr/>
              </p:nvSpPr>
              <p:spPr bwMode="auto">
                <a:xfrm>
                  <a:off x="3593" y="2166"/>
                  <a:ext cx="69" cy="89"/>
                </a:xfrm>
                <a:custGeom>
                  <a:avLst/>
                  <a:gdLst>
                    <a:gd name="T0" fmla="*/ 3 w 69"/>
                    <a:gd name="T1" fmla="*/ 8 h 89"/>
                    <a:gd name="T2" fmla="*/ 66 w 69"/>
                    <a:gd name="T3" fmla="*/ 0 h 89"/>
                    <a:gd name="T4" fmla="*/ 69 w 69"/>
                    <a:gd name="T5" fmla="*/ 80 h 89"/>
                    <a:gd name="T6" fmla="*/ 0 w 69"/>
                    <a:gd name="T7" fmla="*/ 89 h 89"/>
                    <a:gd name="T8" fmla="*/ 3 w 69"/>
                    <a:gd name="T9" fmla="*/ 8 h 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89"/>
                    <a:gd name="T17" fmla="*/ 69 w 69"/>
                    <a:gd name="T18" fmla="*/ 89 h 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89">
                      <a:moveTo>
                        <a:pt x="3" y="8"/>
                      </a:moveTo>
                      <a:lnTo>
                        <a:pt x="66" y="0"/>
                      </a:lnTo>
                      <a:lnTo>
                        <a:pt x="69" y="80"/>
                      </a:lnTo>
                      <a:lnTo>
                        <a:pt x="0" y="89"/>
                      </a:lnTo>
                      <a:lnTo>
                        <a:pt x="3" y="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569" name="Freeform 931"/>
                <p:cNvSpPr>
                  <a:spLocks/>
                </p:cNvSpPr>
                <p:nvPr/>
              </p:nvSpPr>
              <p:spPr bwMode="auto">
                <a:xfrm>
                  <a:off x="3665" y="2162"/>
                  <a:ext cx="62" cy="82"/>
                </a:xfrm>
                <a:custGeom>
                  <a:avLst/>
                  <a:gdLst>
                    <a:gd name="T0" fmla="*/ 0 w 62"/>
                    <a:gd name="T1" fmla="*/ 6 h 82"/>
                    <a:gd name="T2" fmla="*/ 61 w 62"/>
                    <a:gd name="T3" fmla="*/ 0 h 82"/>
                    <a:gd name="T4" fmla="*/ 62 w 62"/>
                    <a:gd name="T5" fmla="*/ 75 h 82"/>
                    <a:gd name="T6" fmla="*/ 3 w 62"/>
                    <a:gd name="T7" fmla="*/ 82 h 82"/>
                    <a:gd name="T8" fmla="*/ 0 w 62"/>
                    <a:gd name="T9" fmla="*/ 6 h 8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"/>
                    <a:gd name="T16" fmla="*/ 0 h 82"/>
                    <a:gd name="T17" fmla="*/ 62 w 62"/>
                    <a:gd name="T18" fmla="*/ 82 h 8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" h="82">
                      <a:moveTo>
                        <a:pt x="0" y="6"/>
                      </a:moveTo>
                      <a:lnTo>
                        <a:pt x="61" y="0"/>
                      </a:lnTo>
                      <a:lnTo>
                        <a:pt x="62" y="75"/>
                      </a:lnTo>
                      <a:lnTo>
                        <a:pt x="3" y="82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570" name="Freeform 932"/>
                <p:cNvSpPr>
                  <a:spLocks/>
                </p:cNvSpPr>
                <p:nvPr/>
              </p:nvSpPr>
              <p:spPr bwMode="auto">
                <a:xfrm>
                  <a:off x="3734" y="2154"/>
                  <a:ext cx="66" cy="84"/>
                </a:xfrm>
                <a:custGeom>
                  <a:avLst/>
                  <a:gdLst>
                    <a:gd name="T0" fmla="*/ 1 w 66"/>
                    <a:gd name="T1" fmla="*/ 6 h 84"/>
                    <a:gd name="T2" fmla="*/ 66 w 66"/>
                    <a:gd name="T3" fmla="*/ 0 h 84"/>
                    <a:gd name="T4" fmla="*/ 63 w 66"/>
                    <a:gd name="T5" fmla="*/ 77 h 84"/>
                    <a:gd name="T6" fmla="*/ 0 w 66"/>
                    <a:gd name="T7" fmla="*/ 84 h 84"/>
                    <a:gd name="T8" fmla="*/ 1 w 66"/>
                    <a:gd name="T9" fmla="*/ 6 h 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84"/>
                    <a:gd name="T17" fmla="*/ 66 w 66"/>
                    <a:gd name="T18" fmla="*/ 84 h 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84">
                      <a:moveTo>
                        <a:pt x="1" y="6"/>
                      </a:moveTo>
                      <a:lnTo>
                        <a:pt x="66" y="0"/>
                      </a:lnTo>
                      <a:lnTo>
                        <a:pt x="63" y="77"/>
                      </a:lnTo>
                      <a:lnTo>
                        <a:pt x="0" y="84"/>
                      </a:ln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571" name="Rectangle 933"/>
                <p:cNvSpPr>
                  <a:spLocks noChangeArrowheads="1"/>
                </p:cNvSpPr>
                <p:nvPr/>
              </p:nvSpPr>
              <p:spPr bwMode="auto">
                <a:xfrm>
                  <a:off x="3513" y="1688"/>
                  <a:ext cx="54" cy="4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572" name="Rectangle 934"/>
                <p:cNvSpPr>
                  <a:spLocks noChangeArrowheads="1"/>
                </p:cNvSpPr>
                <p:nvPr/>
              </p:nvSpPr>
              <p:spPr bwMode="auto">
                <a:xfrm>
                  <a:off x="3501" y="1738"/>
                  <a:ext cx="92" cy="5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573" name="Freeform 935"/>
                <p:cNvSpPr>
                  <a:spLocks/>
                </p:cNvSpPr>
                <p:nvPr/>
              </p:nvSpPr>
              <p:spPr bwMode="auto">
                <a:xfrm>
                  <a:off x="3515" y="1794"/>
                  <a:ext cx="261" cy="204"/>
                </a:xfrm>
                <a:custGeom>
                  <a:avLst/>
                  <a:gdLst>
                    <a:gd name="T0" fmla="*/ 0 w 261"/>
                    <a:gd name="T1" fmla="*/ 0 h 204"/>
                    <a:gd name="T2" fmla="*/ 0 w 261"/>
                    <a:gd name="T3" fmla="*/ 204 h 204"/>
                    <a:gd name="T4" fmla="*/ 259 w 261"/>
                    <a:gd name="T5" fmla="*/ 201 h 204"/>
                    <a:gd name="T6" fmla="*/ 261 w 261"/>
                    <a:gd name="T7" fmla="*/ 12 h 204"/>
                    <a:gd name="T8" fmla="*/ 0 w 261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1"/>
                    <a:gd name="T16" fmla="*/ 0 h 204"/>
                    <a:gd name="T17" fmla="*/ 261 w 261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1" h="204">
                      <a:moveTo>
                        <a:pt x="0" y="0"/>
                      </a:moveTo>
                      <a:lnTo>
                        <a:pt x="0" y="204"/>
                      </a:lnTo>
                      <a:lnTo>
                        <a:pt x="259" y="201"/>
                      </a:lnTo>
                      <a:lnTo>
                        <a:pt x="261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</p:grpSp>
        <p:pic>
          <p:nvPicPr>
            <p:cNvPr id="55563" name="Picture 936" descr="grayed_radiation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" y="972"/>
              <a:ext cx="389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5355" name="Picture 937" descr="car_grayed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838" y="1670050"/>
            <a:ext cx="7540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5356" name="Group 938"/>
          <p:cNvGrpSpPr>
            <a:grpSpLocks/>
          </p:cNvGrpSpPr>
          <p:nvPr/>
        </p:nvGrpSpPr>
        <p:grpSpPr bwMode="auto">
          <a:xfrm>
            <a:off x="5662613" y="4538663"/>
            <a:ext cx="463550" cy="398462"/>
            <a:chOff x="3987" y="-51"/>
            <a:chExt cx="1252" cy="983"/>
          </a:xfrm>
        </p:grpSpPr>
        <p:pic>
          <p:nvPicPr>
            <p:cNvPr id="55560" name="Picture 939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561" name="Freeform 940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1 w 714"/>
                <a:gd name="T1" fmla="*/ 1 h 714"/>
                <a:gd name="T2" fmla="*/ 172 w 714"/>
                <a:gd name="T3" fmla="*/ 0 h 714"/>
                <a:gd name="T4" fmla="*/ 136 w 714"/>
                <a:gd name="T5" fmla="*/ 3 h 714"/>
                <a:gd name="T6" fmla="*/ 0 w 714"/>
                <a:gd name="T7" fmla="*/ 2 h 714"/>
                <a:gd name="T8" fmla="*/ 31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57" name="Group 941"/>
          <p:cNvGrpSpPr>
            <a:grpSpLocks/>
          </p:cNvGrpSpPr>
          <p:nvPr/>
        </p:nvGrpSpPr>
        <p:grpSpPr bwMode="auto">
          <a:xfrm>
            <a:off x="5500688" y="4938713"/>
            <a:ext cx="463550" cy="398462"/>
            <a:chOff x="3987" y="-51"/>
            <a:chExt cx="1252" cy="983"/>
          </a:xfrm>
        </p:grpSpPr>
        <p:pic>
          <p:nvPicPr>
            <p:cNvPr id="55558" name="Picture 942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559" name="Freeform 943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1 w 714"/>
                <a:gd name="T1" fmla="*/ 1 h 714"/>
                <a:gd name="T2" fmla="*/ 172 w 714"/>
                <a:gd name="T3" fmla="*/ 0 h 714"/>
                <a:gd name="T4" fmla="*/ 136 w 714"/>
                <a:gd name="T5" fmla="*/ 3 h 714"/>
                <a:gd name="T6" fmla="*/ 0 w 714"/>
                <a:gd name="T7" fmla="*/ 2 h 714"/>
                <a:gd name="T8" fmla="*/ 31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58" name="Group 944"/>
          <p:cNvGrpSpPr>
            <a:grpSpLocks/>
          </p:cNvGrpSpPr>
          <p:nvPr/>
        </p:nvGrpSpPr>
        <p:grpSpPr bwMode="auto">
          <a:xfrm>
            <a:off x="5957888" y="5186363"/>
            <a:ext cx="463550" cy="398462"/>
            <a:chOff x="3987" y="-51"/>
            <a:chExt cx="1252" cy="983"/>
          </a:xfrm>
        </p:grpSpPr>
        <p:pic>
          <p:nvPicPr>
            <p:cNvPr id="55556" name="Picture 945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557" name="Freeform 946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1 w 714"/>
                <a:gd name="T1" fmla="*/ 1 h 714"/>
                <a:gd name="T2" fmla="*/ 172 w 714"/>
                <a:gd name="T3" fmla="*/ 0 h 714"/>
                <a:gd name="T4" fmla="*/ 136 w 714"/>
                <a:gd name="T5" fmla="*/ 3 h 714"/>
                <a:gd name="T6" fmla="*/ 0 w 714"/>
                <a:gd name="T7" fmla="*/ 2 h 714"/>
                <a:gd name="T8" fmla="*/ 31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59" name="Group 947"/>
          <p:cNvGrpSpPr>
            <a:grpSpLocks/>
          </p:cNvGrpSpPr>
          <p:nvPr/>
        </p:nvGrpSpPr>
        <p:grpSpPr bwMode="auto">
          <a:xfrm>
            <a:off x="6396038" y="5224463"/>
            <a:ext cx="463550" cy="398462"/>
            <a:chOff x="3987" y="-51"/>
            <a:chExt cx="1252" cy="983"/>
          </a:xfrm>
        </p:grpSpPr>
        <p:pic>
          <p:nvPicPr>
            <p:cNvPr id="55554" name="Picture 948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555" name="Freeform 949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1 w 714"/>
                <a:gd name="T1" fmla="*/ 1 h 714"/>
                <a:gd name="T2" fmla="*/ 172 w 714"/>
                <a:gd name="T3" fmla="*/ 0 h 714"/>
                <a:gd name="T4" fmla="*/ 136 w 714"/>
                <a:gd name="T5" fmla="*/ 3 h 714"/>
                <a:gd name="T6" fmla="*/ 0 w 714"/>
                <a:gd name="T7" fmla="*/ 2 h 714"/>
                <a:gd name="T8" fmla="*/ 31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60" name="Group 950"/>
          <p:cNvGrpSpPr>
            <a:grpSpLocks/>
          </p:cNvGrpSpPr>
          <p:nvPr/>
        </p:nvGrpSpPr>
        <p:grpSpPr bwMode="auto">
          <a:xfrm>
            <a:off x="8186738" y="5014913"/>
            <a:ext cx="249237" cy="555625"/>
            <a:chOff x="1115" y="2770"/>
            <a:chExt cx="589" cy="1034"/>
          </a:xfrm>
        </p:grpSpPr>
        <p:sp>
          <p:nvSpPr>
            <p:cNvPr id="55522" name="Freeform 951"/>
            <p:cNvSpPr>
              <a:spLocks/>
            </p:cNvSpPr>
            <p:nvPr/>
          </p:nvSpPr>
          <p:spPr bwMode="auto">
            <a:xfrm>
              <a:off x="1581" y="2772"/>
              <a:ext cx="117" cy="986"/>
            </a:xfrm>
            <a:custGeom>
              <a:avLst/>
              <a:gdLst>
                <a:gd name="T0" fmla="*/ 0 w 354"/>
                <a:gd name="T1" fmla="*/ 0 h 2742"/>
                <a:gd name="T2" fmla="*/ 0 w 354"/>
                <a:gd name="T3" fmla="*/ 0 h 2742"/>
                <a:gd name="T4" fmla="*/ 0 w 354"/>
                <a:gd name="T5" fmla="*/ 0 h 2742"/>
                <a:gd name="T6" fmla="*/ 0 w 354"/>
                <a:gd name="T7" fmla="*/ 0 h 2742"/>
                <a:gd name="T8" fmla="*/ 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23" name="Rectangle 952"/>
            <p:cNvSpPr>
              <a:spLocks noChangeArrowheads="1"/>
            </p:cNvSpPr>
            <p:nvPr/>
          </p:nvSpPr>
          <p:spPr bwMode="auto">
            <a:xfrm>
              <a:off x="1141" y="2770"/>
              <a:ext cx="435" cy="98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C0C0C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24" name="Freeform 953"/>
            <p:cNvSpPr>
              <a:spLocks/>
            </p:cNvSpPr>
            <p:nvPr/>
          </p:nvSpPr>
          <p:spPr bwMode="auto">
            <a:xfrm>
              <a:off x="1603" y="2831"/>
              <a:ext cx="70" cy="913"/>
            </a:xfrm>
            <a:custGeom>
              <a:avLst/>
              <a:gdLst>
                <a:gd name="T0" fmla="*/ 0 w 211"/>
                <a:gd name="T1" fmla="*/ 0 h 2537"/>
                <a:gd name="T2" fmla="*/ 0 w 211"/>
                <a:gd name="T3" fmla="*/ 0 h 2537"/>
                <a:gd name="T4" fmla="*/ 0 w 211"/>
                <a:gd name="T5" fmla="*/ 0 h 2537"/>
                <a:gd name="T6" fmla="*/ 0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25" name="Freeform 954"/>
            <p:cNvSpPr>
              <a:spLocks/>
            </p:cNvSpPr>
            <p:nvPr/>
          </p:nvSpPr>
          <p:spPr bwMode="auto">
            <a:xfrm>
              <a:off x="1588" y="3293"/>
              <a:ext cx="109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26" name="Rectangle 955"/>
            <p:cNvSpPr>
              <a:spLocks noChangeArrowheads="1"/>
            </p:cNvSpPr>
            <p:nvPr/>
          </p:nvSpPr>
          <p:spPr bwMode="auto">
            <a:xfrm>
              <a:off x="1145" y="2885"/>
              <a:ext cx="248" cy="1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55527" name="Group 956"/>
            <p:cNvGrpSpPr>
              <a:grpSpLocks/>
            </p:cNvGrpSpPr>
            <p:nvPr/>
          </p:nvGrpSpPr>
          <p:grpSpPr bwMode="auto">
            <a:xfrm>
              <a:off x="1367" y="2873"/>
              <a:ext cx="240" cy="63"/>
              <a:chOff x="614" y="2568"/>
              <a:chExt cx="725" cy="139"/>
            </a:xfrm>
          </p:grpSpPr>
          <p:sp>
            <p:nvSpPr>
              <p:cNvPr id="55552" name="AutoShape 957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553" name="AutoShape 958"/>
              <p:cNvSpPr>
                <a:spLocks noChangeArrowheads="1"/>
              </p:cNvSpPr>
              <p:nvPr/>
            </p:nvSpPr>
            <p:spPr bwMode="auto">
              <a:xfrm>
                <a:off x="623" y="2582"/>
                <a:ext cx="691" cy="10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528" name="Rectangle 959"/>
            <p:cNvSpPr>
              <a:spLocks noChangeArrowheads="1"/>
            </p:cNvSpPr>
            <p:nvPr/>
          </p:nvSpPr>
          <p:spPr bwMode="auto">
            <a:xfrm>
              <a:off x="1149" y="3024"/>
              <a:ext cx="248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55529" name="Group 960"/>
            <p:cNvGrpSpPr>
              <a:grpSpLocks/>
            </p:cNvGrpSpPr>
            <p:nvPr/>
          </p:nvGrpSpPr>
          <p:grpSpPr bwMode="auto">
            <a:xfrm>
              <a:off x="1366" y="3014"/>
              <a:ext cx="240" cy="58"/>
              <a:chOff x="614" y="2568"/>
              <a:chExt cx="725" cy="139"/>
            </a:xfrm>
          </p:grpSpPr>
          <p:sp>
            <p:nvSpPr>
              <p:cNvPr id="55550" name="AutoShape 961"/>
              <p:cNvSpPr>
                <a:spLocks noChangeArrowheads="1"/>
              </p:cNvSpPr>
              <p:nvPr/>
            </p:nvSpPr>
            <p:spPr bwMode="auto">
              <a:xfrm>
                <a:off x="615" y="2571"/>
                <a:ext cx="725" cy="13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551" name="AutoShape 962"/>
              <p:cNvSpPr>
                <a:spLocks noChangeArrowheads="1"/>
              </p:cNvSpPr>
              <p:nvPr/>
            </p:nvSpPr>
            <p:spPr bwMode="auto">
              <a:xfrm>
                <a:off x="626" y="2585"/>
                <a:ext cx="691" cy="10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530" name="Rectangle 963"/>
            <p:cNvSpPr>
              <a:spLocks noChangeArrowheads="1"/>
            </p:cNvSpPr>
            <p:nvPr/>
          </p:nvSpPr>
          <p:spPr bwMode="auto">
            <a:xfrm>
              <a:off x="1149" y="3172"/>
              <a:ext cx="244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31" name="Rectangle 964"/>
            <p:cNvSpPr>
              <a:spLocks noChangeArrowheads="1"/>
            </p:cNvSpPr>
            <p:nvPr/>
          </p:nvSpPr>
          <p:spPr bwMode="auto">
            <a:xfrm>
              <a:off x="1153" y="3299"/>
              <a:ext cx="244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55532" name="Group 965"/>
            <p:cNvGrpSpPr>
              <a:grpSpLocks/>
            </p:cNvGrpSpPr>
            <p:nvPr/>
          </p:nvGrpSpPr>
          <p:grpSpPr bwMode="auto">
            <a:xfrm>
              <a:off x="1361" y="3287"/>
              <a:ext cx="240" cy="65"/>
              <a:chOff x="614" y="2568"/>
              <a:chExt cx="725" cy="139"/>
            </a:xfrm>
          </p:grpSpPr>
          <p:sp>
            <p:nvSpPr>
              <p:cNvPr id="55548" name="AutoShape 966"/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549" name="AutoShape 967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1" cy="10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533" name="Freeform 968"/>
            <p:cNvSpPr>
              <a:spLocks/>
            </p:cNvSpPr>
            <p:nvPr/>
          </p:nvSpPr>
          <p:spPr bwMode="auto">
            <a:xfrm>
              <a:off x="1590" y="3169"/>
              <a:ext cx="108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55534" name="Group 969"/>
            <p:cNvGrpSpPr>
              <a:grpSpLocks/>
            </p:cNvGrpSpPr>
            <p:nvPr/>
          </p:nvGrpSpPr>
          <p:grpSpPr bwMode="auto">
            <a:xfrm>
              <a:off x="1363" y="3158"/>
              <a:ext cx="240" cy="60"/>
              <a:chOff x="614" y="2568"/>
              <a:chExt cx="725" cy="139"/>
            </a:xfrm>
          </p:grpSpPr>
          <p:sp>
            <p:nvSpPr>
              <p:cNvPr id="55546" name="AutoShape 970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5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547" name="AutoShape 971"/>
              <p:cNvSpPr>
                <a:spLocks noChangeArrowheads="1"/>
              </p:cNvSpPr>
              <p:nvPr/>
            </p:nvSpPr>
            <p:spPr bwMode="auto">
              <a:xfrm>
                <a:off x="624" y="2579"/>
                <a:ext cx="691" cy="11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535" name="Rectangle 972"/>
            <p:cNvSpPr>
              <a:spLocks noChangeArrowheads="1"/>
            </p:cNvSpPr>
            <p:nvPr/>
          </p:nvSpPr>
          <p:spPr bwMode="auto">
            <a:xfrm>
              <a:off x="1573" y="2770"/>
              <a:ext cx="30" cy="9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36" name="Freeform 973"/>
            <p:cNvSpPr>
              <a:spLocks/>
            </p:cNvSpPr>
            <p:nvPr/>
          </p:nvSpPr>
          <p:spPr bwMode="auto">
            <a:xfrm>
              <a:off x="1599" y="3019"/>
              <a:ext cx="98" cy="92"/>
            </a:xfrm>
            <a:custGeom>
              <a:avLst/>
              <a:gdLst>
                <a:gd name="T0" fmla="*/ 0 w 296"/>
                <a:gd name="T1" fmla="*/ 0 h 256"/>
                <a:gd name="T2" fmla="*/ 0 w 296"/>
                <a:gd name="T3" fmla="*/ 0 h 256"/>
                <a:gd name="T4" fmla="*/ 0 w 296"/>
                <a:gd name="T5" fmla="*/ 0 h 256"/>
                <a:gd name="T6" fmla="*/ 0 w 296"/>
                <a:gd name="T7" fmla="*/ 0 h 256"/>
                <a:gd name="T8" fmla="*/ 0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37" name="Freeform 974"/>
            <p:cNvSpPr>
              <a:spLocks/>
            </p:cNvSpPr>
            <p:nvPr/>
          </p:nvSpPr>
          <p:spPr bwMode="auto">
            <a:xfrm>
              <a:off x="1601" y="2878"/>
              <a:ext cx="101" cy="104"/>
            </a:xfrm>
            <a:custGeom>
              <a:avLst/>
              <a:gdLst>
                <a:gd name="T0" fmla="*/ 0 w 304"/>
                <a:gd name="T1" fmla="*/ 0 h 288"/>
                <a:gd name="T2" fmla="*/ 0 w 304"/>
                <a:gd name="T3" fmla="*/ 0 h 288"/>
                <a:gd name="T4" fmla="*/ 0 w 304"/>
                <a:gd name="T5" fmla="*/ 0 h 288"/>
                <a:gd name="T6" fmla="*/ 0 w 304"/>
                <a:gd name="T7" fmla="*/ 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38" name="Oval 975"/>
            <p:cNvSpPr>
              <a:spLocks noChangeArrowheads="1"/>
            </p:cNvSpPr>
            <p:nvPr/>
          </p:nvSpPr>
          <p:spPr bwMode="auto">
            <a:xfrm>
              <a:off x="1685" y="3712"/>
              <a:ext cx="19" cy="4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39" name="Freeform 976"/>
            <p:cNvSpPr>
              <a:spLocks/>
            </p:cNvSpPr>
            <p:nvPr/>
          </p:nvSpPr>
          <p:spPr bwMode="auto">
            <a:xfrm>
              <a:off x="1595" y="3713"/>
              <a:ext cx="102" cy="86"/>
            </a:xfrm>
            <a:custGeom>
              <a:avLst/>
              <a:gdLst>
                <a:gd name="T0" fmla="*/ 0 w 306"/>
                <a:gd name="T1" fmla="*/ 0 h 240"/>
                <a:gd name="T2" fmla="*/ 0 w 306"/>
                <a:gd name="T3" fmla="*/ 0 h 240"/>
                <a:gd name="T4" fmla="*/ 0 w 306"/>
                <a:gd name="T5" fmla="*/ 0 h 240"/>
                <a:gd name="T6" fmla="*/ 0 w 306"/>
                <a:gd name="T7" fmla="*/ 0 h 240"/>
                <a:gd name="T8" fmla="*/ 0 w 30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40" name="AutoShape 977"/>
            <p:cNvSpPr>
              <a:spLocks noChangeArrowheads="1"/>
            </p:cNvSpPr>
            <p:nvPr/>
          </p:nvSpPr>
          <p:spPr bwMode="auto">
            <a:xfrm>
              <a:off x="1115" y="3742"/>
              <a:ext cx="495" cy="6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41" name="AutoShape 978"/>
            <p:cNvSpPr>
              <a:spLocks noChangeArrowheads="1"/>
            </p:cNvSpPr>
            <p:nvPr/>
          </p:nvSpPr>
          <p:spPr bwMode="auto">
            <a:xfrm>
              <a:off x="1141" y="3754"/>
              <a:ext cx="443" cy="3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42" name="Oval 979"/>
            <p:cNvSpPr>
              <a:spLocks noChangeArrowheads="1"/>
            </p:cNvSpPr>
            <p:nvPr/>
          </p:nvSpPr>
          <p:spPr bwMode="auto">
            <a:xfrm>
              <a:off x="1183" y="3612"/>
              <a:ext cx="68" cy="6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43" name="Oval 980"/>
            <p:cNvSpPr>
              <a:spLocks noChangeArrowheads="1"/>
            </p:cNvSpPr>
            <p:nvPr/>
          </p:nvSpPr>
          <p:spPr bwMode="auto">
            <a:xfrm>
              <a:off x="1258" y="3615"/>
              <a:ext cx="68" cy="59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44" name="Oval 981"/>
            <p:cNvSpPr>
              <a:spLocks noChangeArrowheads="1"/>
            </p:cNvSpPr>
            <p:nvPr/>
          </p:nvSpPr>
          <p:spPr bwMode="auto">
            <a:xfrm>
              <a:off x="1333" y="3612"/>
              <a:ext cx="64" cy="6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45" name="Rectangle 982"/>
            <p:cNvSpPr>
              <a:spLocks noChangeArrowheads="1"/>
            </p:cNvSpPr>
            <p:nvPr/>
          </p:nvSpPr>
          <p:spPr bwMode="auto">
            <a:xfrm>
              <a:off x="1498" y="3376"/>
              <a:ext cx="34" cy="32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61" name="Group 983"/>
          <p:cNvGrpSpPr>
            <a:grpSpLocks/>
          </p:cNvGrpSpPr>
          <p:nvPr/>
        </p:nvGrpSpPr>
        <p:grpSpPr bwMode="auto">
          <a:xfrm>
            <a:off x="7900988" y="5224463"/>
            <a:ext cx="230187" cy="498475"/>
            <a:chOff x="1115" y="2770"/>
            <a:chExt cx="589" cy="1034"/>
          </a:xfrm>
        </p:grpSpPr>
        <p:sp>
          <p:nvSpPr>
            <p:cNvPr id="55490" name="Freeform 984"/>
            <p:cNvSpPr>
              <a:spLocks/>
            </p:cNvSpPr>
            <p:nvPr/>
          </p:nvSpPr>
          <p:spPr bwMode="auto">
            <a:xfrm>
              <a:off x="1581" y="2772"/>
              <a:ext cx="117" cy="986"/>
            </a:xfrm>
            <a:custGeom>
              <a:avLst/>
              <a:gdLst>
                <a:gd name="T0" fmla="*/ 0 w 354"/>
                <a:gd name="T1" fmla="*/ 0 h 2742"/>
                <a:gd name="T2" fmla="*/ 0 w 354"/>
                <a:gd name="T3" fmla="*/ 0 h 2742"/>
                <a:gd name="T4" fmla="*/ 0 w 354"/>
                <a:gd name="T5" fmla="*/ 0 h 2742"/>
                <a:gd name="T6" fmla="*/ 0 w 354"/>
                <a:gd name="T7" fmla="*/ 0 h 2742"/>
                <a:gd name="T8" fmla="*/ 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91" name="Rectangle 985"/>
            <p:cNvSpPr>
              <a:spLocks noChangeArrowheads="1"/>
            </p:cNvSpPr>
            <p:nvPr/>
          </p:nvSpPr>
          <p:spPr bwMode="auto">
            <a:xfrm>
              <a:off x="1143" y="2770"/>
              <a:ext cx="431" cy="985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C0C0C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92" name="Freeform 986"/>
            <p:cNvSpPr>
              <a:spLocks/>
            </p:cNvSpPr>
            <p:nvPr/>
          </p:nvSpPr>
          <p:spPr bwMode="auto">
            <a:xfrm>
              <a:off x="1603" y="2831"/>
              <a:ext cx="70" cy="913"/>
            </a:xfrm>
            <a:custGeom>
              <a:avLst/>
              <a:gdLst>
                <a:gd name="T0" fmla="*/ 0 w 211"/>
                <a:gd name="T1" fmla="*/ 0 h 2537"/>
                <a:gd name="T2" fmla="*/ 0 w 211"/>
                <a:gd name="T3" fmla="*/ 0 h 2537"/>
                <a:gd name="T4" fmla="*/ 0 w 211"/>
                <a:gd name="T5" fmla="*/ 0 h 2537"/>
                <a:gd name="T6" fmla="*/ 0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93" name="Freeform 987"/>
            <p:cNvSpPr>
              <a:spLocks/>
            </p:cNvSpPr>
            <p:nvPr/>
          </p:nvSpPr>
          <p:spPr bwMode="auto">
            <a:xfrm>
              <a:off x="1588" y="3293"/>
              <a:ext cx="109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94" name="Rectangle 988"/>
            <p:cNvSpPr>
              <a:spLocks noChangeArrowheads="1"/>
            </p:cNvSpPr>
            <p:nvPr/>
          </p:nvSpPr>
          <p:spPr bwMode="auto">
            <a:xfrm>
              <a:off x="1143" y="2885"/>
              <a:ext cx="248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55495" name="Group 989"/>
            <p:cNvGrpSpPr>
              <a:grpSpLocks/>
            </p:cNvGrpSpPr>
            <p:nvPr/>
          </p:nvGrpSpPr>
          <p:grpSpPr bwMode="auto">
            <a:xfrm>
              <a:off x="1367" y="2873"/>
              <a:ext cx="240" cy="63"/>
              <a:chOff x="614" y="2568"/>
              <a:chExt cx="725" cy="139"/>
            </a:xfrm>
          </p:grpSpPr>
          <p:sp>
            <p:nvSpPr>
              <p:cNvPr id="55520" name="AutoShape 990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4" cy="13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521" name="AutoShape 991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699" cy="10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96" name="Rectangle 992"/>
            <p:cNvSpPr>
              <a:spLocks noChangeArrowheads="1"/>
            </p:cNvSpPr>
            <p:nvPr/>
          </p:nvSpPr>
          <p:spPr bwMode="auto">
            <a:xfrm>
              <a:off x="1152" y="3024"/>
              <a:ext cx="244" cy="23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55497" name="Group 993"/>
            <p:cNvGrpSpPr>
              <a:grpSpLocks/>
            </p:cNvGrpSpPr>
            <p:nvPr/>
          </p:nvGrpSpPr>
          <p:grpSpPr bwMode="auto">
            <a:xfrm>
              <a:off x="1366" y="3014"/>
              <a:ext cx="240" cy="58"/>
              <a:chOff x="614" y="2568"/>
              <a:chExt cx="725" cy="139"/>
            </a:xfrm>
          </p:grpSpPr>
          <p:sp>
            <p:nvSpPr>
              <p:cNvPr id="55518" name="AutoShape 99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519" name="AutoShape 995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9" cy="11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98" name="Rectangle 996"/>
            <p:cNvSpPr>
              <a:spLocks noChangeArrowheads="1"/>
            </p:cNvSpPr>
            <p:nvPr/>
          </p:nvSpPr>
          <p:spPr bwMode="auto">
            <a:xfrm>
              <a:off x="1147" y="3172"/>
              <a:ext cx="244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99" name="Rectangle 997"/>
            <p:cNvSpPr>
              <a:spLocks noChangeArrowheads="1"/>
            </p:cNvSpPr>
            <p:nvPr/>
          </p:nvSpPr>
          <p:spPr bwMode="auto">
            <a:xfrm>
              <a:off x="1152" y="3300"/>
              <a:ext cx="248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55500" name="Group 998"/>
            <p:cNvGrpSpPr>
              <a:grpSpLocks/>
            </p:cNvGrpSpPr>
            <p:nvPr/>
          </p:nvGrpSpPr>
          <p:grpSpPr bwMode="auto">
            <a:xfrm>
              <a:off x="1361" y="3287"/>
              <a:ext cx="240" cy="65"/>
              <a:chOff x="614" y="2568"/>
              <a:chExt cx="725" cy="139"/>
            </a:xfrm>
          </p:grpSpPr>
          <p:sp>
            <p:nvSpPr>
              <p:cNvPr id="55516" name="AutoShape 999"/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517" name="AutoShape 1000"/>
              <p:cNvSpPr>
                <a:spLocks noChangeArrowheads="1"/>
              </p:cNvSpPr>
              <p:nvPr/>
            </p:nvSpPr>
            <p:spPr bwMode="auto">
              <a:xfrm>
                <a:off x="632" y="2582"/>
                <a:ext cx="699" cy="11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501" name="Freeform 1001"/>
            <p:cNvSpPr>
              <a:spLocks/>
            </p:cNvSpPr>
            <p:nvPr/>
          </p:nvSpPr>
          <p:spPr bwMode="auto">
            <a:xfrm>
              <a:off x="1590" y="3169"/>
              <a:ext cx="108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grpSp>
          <p:nvGrpSpPr>
            <p:cNvPr id="55502" name="Group 1002"/>
            <p:cNvGrpSpPr>
              <a:grpSpLocks/>
            </p:cNvGrpSpPr>
            <p:nvPr/>
          </p:nvGrpSpPr>
          <p:grpSpPr bwMode="auto">
            <a:xfrm>
              <a:off x="1363" y="3158"/>
              <a:ext cx="240" cy="60"/>
              <a:chOff x="614" y="2568"/>
              <a:chExt cx="725" cy="139"/>
            </a:xfrm>
          </p:grpSpPr>
          <p:sp>
            <p:nvSpPr>
              <p:cNvPr id="55514" name="AutoShape 1003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515" name="AutoShape 1004"/>
              <p:cNvSpPr>
                <a:spLocks noChangeArrowheads="1"/>
              </p:cNvSpPr>
              <p:nvPr/>
            </p:nvSpPr>
            <p:spPr bwMode="auto">
              <a:xfrm>
                <a:off x="626" y="2585"/>
                <a:ext cx="699" cy="10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503" name="Rectangle 1005"/>
            <p:cNvSpPr>
              <a:spLocks noChangeArrowheads="1"/>
            </p:cNvSpPr>
            <p:nvPr/>
          </p:nvSpPr>
          <p:spPr bwMode="auto">
            <a:xfrm>
              <a:off x="1574" y="2770"/>
              <a:ext cx="28" cy="9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04" name="Freeform 1006"/>
            <p:cNvSpPr>
              <a:spLocks/>
            </p:cNvSpPr>
            <p:nvPr/>
          </p:nvSpPr>
          <p:spPr bwMode="auto">
            <a:xfrm>
              <a:off x="1599" y="3019"/>
              <a:ext cx="98" cy="92"/>
            </a:xfrm>
            <a:custGeom>
              <a:avLst/>
              <a:gdLst>
                <a:gd name="T0" fmla="*/ 0 w 296"/>
                <a:gd name="T1" fmla="*/ 0 h 256"/>
                <a:gd name="T2" fmla="*/ 0 w 296"/>
                <a:gd name="T3" fmla="*/ 0 h 256"/>
                <a:gd name="T4" fmla="*/ 0 w 296"/>
                <a:gd name="T5" fmla="*/ 0 h 256"/>
                <a:gd name="T6" fmla="*/ 0 w 296"/>
                <a:gd name="T7" fmla="*/ 0 h 256"/>
                <a:gd name="T8" fmla="*/ 0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05" name="Freeform 1007"/>
            <p:cNvSpPr>
              <a:spLocks/>
            </p:cNvSpPr>
            <p:nvPr/>
          </p:nvSpPr>
          <p:spPr bwMode="auto">
            <a:xfrm>
              <a:off x="1601" y="2878"/>
              <a:ext cx="101" cy="104"/>
            </a:xfrm>
            <a:custGeom>
              <a:avLst/>
              <a:gdLst>
                <a:gd name="T0" fmla="*/ 0 w 304"/>
                <a:gd name="T1" fmla="*/ 0 h 288"/>
                <a:gd name="T2" fmla="*/ 0 w 304"/>
                <a:gd name="T3" fmla="*/ 0 h 288"/>
                <a:gd name="T4" fmla="*/ 0 w 304"/>
                <a:gd name="T5" fmla="*/ 0 h 288"/>
                <a:gd name="T6" fmla="*/ 0 w 304"/>
                <a:gd name="T7" fmla="*/ 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06" name="Oval 1008"/>
            <p:cNvSpPr>
              <a:spLocks noChangeArrowheads="1"/>
            </p:cNvSpPr>
            <p:nvPr/>
          </p:nvSpPr>
          <p:spPr bwMode="auto">
            <a:xfrm>
              <a:off x="1684" y="3712"/>
              <a:ext cx="20" cy="4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07" name="Freeform 1009"/>
            <p:cNvSpPr>
              <a:spLocks/>
            </p:cNvSpPr>
            <p:nvPr/>
          </p:nvSpPr>
          <p:spPr bwMode="auto">
            <a:xfrm>
              <a:off x="1595" y="3713"/>
              <a:ext cx="102" cy="86"/>
            </a:xfrm>
            <a:custGeom>
              <a:avLst/>
              <a:gdLst>
                <a:gd name="T0" fmla="*/ 0 w 306"/>
                <a:gd name="T1" fmla="*/ 0 h 240"/>
                <a:gd name="T2" fmla="*/ 0 w 306"/>
                <a:gd name="T3" fmla="*/ 0 h 240"/>
                <a:gd name="T4" fmla="*/ 0 w 306"/>
                <a:gd name="T5" fmla="*/ 0 h 240"/>
                <a:gd name="T6" fmla="*/ 0 w 306"/>
                <a:gd name="T7" fmla="*/ 0 h 240"/>
                <a:gd name="T8" fmla="*/ 0 w 30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08" name="AutoShape 1010"/>
            <p:cNvSpPr>
              <a:spLocks noChangeArrowheads="1"/>
            </p:cNvSpPr>
            <p:nvPr/>
          </p:nvSpPr>
          <p:spPr bwMode="auto">
            <a:xfrm>
              <a:off x="1115" y="3741"/>
              <a:ext cx="496" cy="6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09" name="AutoShape 1011"/>
            <p:cNvSpPr>
              <a:spLocks noChangeArrowheads="1"/>
            </p:cNvSpPr>
            <p:nvPr/>
          </p:nvSpPr>
          <p:spPr bwMode="auto">
            <a:xfrm>
              <a:off x="1143" y="3755"/>
              <a:ext cx="443" cy="3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10" name="Oval 1012"/>
            <p:cNvSpPr>
              <a:spLocks noChangeArrowheads="1"/>
            </p:cNvSpPr>
            <p:nvPr/>
          </p:nvSpPr>
          <p:spPr bwMode="auto">
            <a:xfrm>
              <a:off x="1184" y="3613"/>
              <a:ext cx="65" cy="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11" name="Oval 1013"/>
            <p:cNvSpPr>
              <a:spLocks noChangeArrowheads="1"/>
            </p:cNvSpPr>
            <p:nvPr/>
          </p:nvSpPr>
          <p:spPr bwMode="auto">
            <a:xfrm>
              <a:off x="1257" y="3613"/>
              <a:ext cx="65" cy="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12" name="Oval 1014"/>
            <p:cNvSpPr>
              <a:spLocks noChangeArrowheads="1"/>
            </p:cNvSpPr>
            <p:nvPr/>
          </p:nvSpPr>
          <p:spPr bwMode="auto">
            <a:xfrm>
              <a:off x="1330" y="3613"/>
              <a:ext cx="65" cy="59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513" name="Rectangle 1015"/>
            <p:cNvSpPr>
              <a:spLocks noChangeArrowheads="1"/>
            </p:cNvSpPr>
            <p:nvPr/>
          </p:nvSpPr>
          <p:spPr bwMode="auto">
            <a:xfrm>
              <a:off x="1497" y="3376"/>
              <a:ext cx="32" cy="3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62" name="Group 1016"/>
          <p:cNvGrpSpPr>
            <a:grpSpLocks/>
          </p:cNvGrpSpPr>
          <p:nvPr/>
        </p:nvGrpSpPr>
        <p:grpSpPr bwMode="auto">
          <a:xfrm>
            <a:off x="7389813" y="3911600"/>
            <a:ext cx="506412" cy="209550"/>
            <a:chOff x="4655" y="2464"/>
            <a:chExt cx="319" cy="132"/>
          </a:xfrm>
        </p:grpSpPr>
        <p:grpSp>
          <p:nvGrpSpPr>
            <p:cNvPr id="55473" name="Group 1017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548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8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8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grpSp>
            <p:nvGrpSpPr>
              <p:cNvPr id="55485" name="Group 102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5488" name="Freeform 102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489" name="Freeform 102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5486" name="Line 102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87" name="Line 102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74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75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76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477" name="Group 1029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5480" name="Freeform 103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81" name="Freeform 103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78" name="Line 1032"/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79" name="Line 1033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63" name="Group 1034"/>
          <p:cNvGrpSpPr>
            <a:grpSpLocks/>
          </p:cNvGrpSpPr>
          <p:nvPr/>
        </p:nvGrpSpPr>
        <p:grpSpPr bwMode="auto">
          <a:xfrm>
            <a:off x="7081838" y="3629025"/>
            <a:ext cx="506412" cy="209550"/>
            <a:chOff x="4655" y="2464"/>
            <a:chExt cx="319" cy="132"/>
          </a:xfrm>
        </p:grpSpPr>
        <p:grpSp>
          <p:nvGrpSpPr>
            <p:cNvPr id="55456" name="Group 1035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546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6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6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grpSp>
            <p:nvGrpSpPr>
              <p:cNvPr id="55468" name="Group 103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5471" name="Freeform 104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472" name="Freeform 104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5469" name="Line 104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70" name="Line 104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57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58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59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460" name="Group 1047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5463" name="Freeform 104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64" name="Freeform 104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61" name="Line 1050"/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62" name="Line 1051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64" name="Group 1052"/>
          <p:cNvGrpSpPr>
            <a:grpSpLocks/>
          </p:cNvGrpSpPr>
          <p:nvPr/>
        </p:nvGrpSpPr>
        <p:grpSpPr bwMode="auto">
          <a:xfrm>
            <a:off x="7732713" y="3641725"/>
            <a:ext cx="506412" cy="209550"/>
            <a:chOff x="4655" y="2464"/>
            <a:chExt cx="319" cy="132"/>
          </a:xfrm>
        </p:grpSpPr>
        <p:grpSp>
          <p:nvGrpSpPr>
            <p:cNvPr id="55439" name="Group 1053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544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4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5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grpSp>
            <p:nvGrpSpPr>
              <p:cNvPr id="55451" name="Group 105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5454" name="Freeform 105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455" name="Freeform 105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5452" name="Line 106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53" name="Line 106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40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41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42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443" name="Group 1065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5446" name="Freeform 106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47" name="Freeform 106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44" name="Line 1068"/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45" name="Line 1069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65" name="Group 1070"/>
          <p:cNvGrpSpPr>
            <a:grpSpLocks/>
          </p:cNvGrpSpPr>
          <p:nvPr/>
        </p:nvGrpSpPr>
        <p:grpSpPr bwMode="auto">
          <a:xfrm>
            <a:off x="7202488" y="2486025"/>
            <a:ext cx="392112" cy="180975"/>
            <a:chOff x="4655" y="2464"/>
            <a:chExt cx="319" cy="132"/>
          </a:xfrm>
        </p:grpSpPr>
        <p:grpSp>
          <p:nvGrpSpPr>
            <p:cNvPr id="55422" name="Group 1071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543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3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3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grpSp>
            <p:nvGrpSpPr>
              <p:cNvPr id="55434" name="Group 107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5437" name="Freeform 107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438" name="Freeform 107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5435" name="Line 107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36" name="Line 107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23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24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25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426" name="Group 1083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5429" name="Freeform 108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30" name="Freeform 108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27" name="Line 1086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28" name="Line 1087"/>
            <p:cNvSpPr>
              <a:spLocks noChangeShapeType="1"/>
            </p:cNvSpPr>
            <p:nvPr/>
          </p:nvSpPr>
          <p:spPr bwMode="auto">
            <a:xfrm>
              <a:off x="4971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66" name="Group 1088"/>
          <p:cNvGrpSpPr>
            <a:grpSpLocks/>
          </p:cNvGrpSpPr>
          <p:nvPr/>
        </p:nvGrpSpPr>
        <p:grpSpPr bwMode="auto">
          <a:xfrm>
            <a:off x="7205663" y="2752725"/>
            <a:ext cx="407987" cy="180975"/>
            <a:chOff x="4655" y="2464"/>
            <a:chExt cx="319" cy="132"/>
          </a:xfrm>
        </p:grpSpPr>
        <p:grpSp>
          <p:nvGrpSpPr>
            <p:cNvPr id="55405" name="Group 1089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541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1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41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grpSp>
            <p:nvGrpSpPr>
              <p:cNvPr id="55417" name="Group 109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5420" name="Freeform 109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421" name="Freeform 109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5418" name="Line 109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19" name="Line 109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06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07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408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409" name="Group 1101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5412" name="Freeform 110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13" name="Freeform 110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410" name="Line 1104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411" name="Line 1105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67" name="Group 1106"/>
          <p:cNvGrpSpPr>
            <a:grpSpLocks/>
          </p:cNvGrpSpPr>
          <p:nvPr/>
        </p:nvGrpSpPr>
        <p:grpSpPr bwMode="auto">
          <a:xfrm>
            <a:off x="7758113" y="2749550"/>
            <a:ext cx="407987" cy="180975"/>
            <a:chOff x="4655" y="2464"/>
            <a:chExt cx="319" cy="132"/>
          </a:xfrm>
        </p:grpSpPr>
        <p:grpSp>
          <p:nvGrpSpPr>
            <p:cNvPr id="55388" name="Group 1107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539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39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39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grpSp>
            <p:nvGrpSpPr>
              <p:cNvPr id="55400" name="Group 111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5403" name="Freeform 111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404" name="Freeform 111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5401" name="Line 111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402" name="Line 111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389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390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391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392" name="Group 1119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5395" name="Freeform 112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396" name="Freeform 112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393" name="Line 1122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394" name="Line 1123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55368" name="Group 1124"/>
          <p:cNvGrpSpPr>
            <a:grpSpLocks/>
          </p:cNvGrpSpPr>
          <p:nvPr/>
        </p:nvGrpSpPr>
        <p:grpSpPr bwMode="auto">
          <a:xfrm>
            <a:off x="7688263" y="2390775"/>
            <a:ext cx="392112" cy="180975"/>
            <a:chOff x="4655" y="2464"/>
            <a:chExt cx="319" cy="132"/>
          </a:xfrm>
        </p:grpSpPr>
        <p:grpSp>
          <p:nvGrpSpPr>
            <p:cNvPr id="55371" name="Group 1125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538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38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sp>
            <p:nvSpPr>
              <p:cNvPr id="5538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  <p:grpSp>
            <p:nvGrpSpPr>
              <p:cNvPr id="55383" name="Group 112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5386" name="Freeform 113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5387" name="Freeform 113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5384" name="Line 113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385" name="Line 113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372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373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55374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55375" name="Group 1137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55378" name="Freeform 1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5379" name="Freeform 1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5376" name="Line 1140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55377" name="Line 1141"/>
            <p:cNvSpPr>
              <a:spLocks noChangeShapeType="1"/>
            </p:cNvSpPr>
            <p:nvPr/>
          </p:nvSpPr>
          <p:spPr bwMode="auto">
            <a:xfrm>
              <a:off x="4971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pic>
        <p:nvPicPr>
          <p:cNvPr id="55369" name="Picture 1142" descr="underline_base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0398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pitchFamily="34" charset="0"/>
              </a:rPr>
              <a:t>1-</a:t>
            </a:r>
            <a:fld id="{072CD66F-D87D-4E94-9EB6-7F49AFD66A3C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1</a:t>
            </a:fld>
            <a:endParaRPr lang="en-US" sz="1200">
              <a:solidFill>
                <a:srgbClr val="00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196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pic>
        <p:nvPicPr>
          <p:cNvPr id="56323" name="Picture 4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9128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1300" y="280988"/>
            <a:ext cx="8193088" cy="833437"/>
          </a:xfrm>
        </p:spPr>
        <p:txBody>
          <a:bodyPr/>
          <a:lstStyle/>
          <a:p>
            <a:pPr eaLnBrk="1" hangingPunct="1"/>
            <a:r>
              <a:rPr lang="en-US" sz="4000">
                <a:ea typeface="ＭＳ Ｐゴシック" pitchFamily="34" charset="-128"/>
              </a:rPr>
              <a:t>Packet-switching: store-and-forward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438" y="3486150"/>
            <a:ext cx="4143375" cy="3262313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dirty="0">
                <a:ea typeface="ＭＳ Ｐゴシック" pitchFamily="34" charset="-128"/>
              </a:rPr>
              <a:t>takes </a:t>
            </a:r>
            <a:r>
              <a:rPr lang="en-US" sz="2400" i="1" dirty="0">
                <a:ea typeface="ＭＳ Ｐゴシック" pitchFamily="34" charset="-128"/>
              </a:rPr>
              <a:t>L</a:t>
            </a:r>
            <a:r>
              <a:rPr lang="en-US" sz="2400" dirty="0">
                <a:ea typeface="ＭＳ Ｐゴシック" pitchFamily="34" charset="-128"/>
              </a:rPr>
              <a:t>/</a:t>
            </a:r>
            <a:r>
              <a:rPr lang="en-US" sz="2400" i="1" dirty="0">
                <a:ea typeface="ＭＳ Ｐゴシック" pitchFamily="34" charset="-128"/>
              </a:rPr>
              <a:t>R</a:t>
            </a:r>
            <a:r>
              <a:rPr lang="en-US" sz="2400" dirty="0">
                <a:ea typeface="ＭＳ Ｐゴシック" pitchFamily="34" charset="-128"/>
              </a:rPr>
              <a:t> seconds to transmit (push out) </a:t>
            </a:r>
            <a:r>
              <a:rPr lang="en-US" sz="2400" i="1" dirty="0">
                <a:ea typeface="ＭＳ Ｐゴシック" pitchFamily="34" charset="-128"/>
              </a:rPr>
              <a:t>L</a:t>
            </a:r>
            <a:r>
              <a:rPr lang="en-US" sz="2400" dirty="0">
                <a:ea typeface="ＭＳ Ｐゴシック" pitchFamily="34" charset="-128"/>
              </a:rPr>
              <a:t>-bit packet into link at </a:t>
            </a:r>
            <a:r>
              <a:rPr lang="en-US" sz="2400" i="1" dirty="0">
                <a:ea typeface="ＭＳ Ｐゴシック" pitchFamily="34" charset="-128"/>
              </a:rPr>
              <a:t>R</a:t>
            </a:r>
            <a:r>
              <a:rPr lang="en-US" sz="2400" dirty="0">
                <a:ea typeface="ＭＳ Ｐゴシック" pitchFamily="34" charset="-128"/>
              </a:rPr>
              <a:t> bps</a:t>
            </a:r>
          </a:p>
          <a:p>
            <a:pPr eaLnBrk="1" hangingPunct="1">
              <a:buSzPct val="75000"/>
            </a:pPr>
            <a:r>
              <a:rPr lang="en-US" sz="2400" i="1" dirty="0">
                <a:solidFill>
                  <a:srgbClr val="CC0000"/>
                </a:solidFill>
                <a:ea typeface="ＭＳ Ｐゴシック" pitchFamily="34" charset="-128"/>
              </a:rPr>
              <a:t>store and forward:</a:t>
            </a:r>
            <a:r>
              <a:rPr lang="en-US" sz="2400" i="1" dirty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z="2400" dirty="0">
                <a:ea typeface="ＭＳ Ｐゴシック" pitchFamily="34" charset="-128"/>
              </a:rPr>
              <a:t>entire packet must  arrive at router before it can be transmitted on next link</a:t>
            </a:r>
          </a:p>
        </p:txBody>
      </p:sp>
      <p:sp>
        <p:nvSpPr>
          <p:cNvPr id="5632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56238" y="3602038"/>
            <a:ext cx="3514725" cy="2232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>
                <a:solidFill>
                  <a:srgbClr val="000099"/>
                </a:solidFill>
                <a:ea typeface="ＭＳ Ｐゴシック" pitchFamily="34" charset="-128"/>
              </a:rPr>
              <a:t>one-hop numerical example:</a:t>
            </a:r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§"/>
            </a:pPr>
            <a:r>
              <a:rPr lang="en-US" sz="2400" i="1">
                <a:ea typeface="ＭＳ Ｐゴシック" pitchFamily="34" charset="-128"/>
              </a:rPr>
              <a:t>L</a:t>
            </a:r>
            <a:r>
              <a:rPr lang="en-US" sz="2400">
                <a:ea typeface="ＭＳ Ｐゴシック" pitchFamily="34" charset="-128"/>
              </a:rPr>
              <a:t> = 7.5 Mbits</a:t>
            </a:r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§"/>
            </a:pPr>
            <a:r>
              <a:rPr lang="en-US" sz="2400" i="1">
                <a:ea typeface="ＭＳ Ｐゴシック" pitchFamily="34" charset="-128"/>
              </a:rPr>
              <a:t>R</a:t>
            </a:r>
            <a:r>
              <a:rPr lang="en-US" sz="2400">
                <a:ea typeface="ＭＳ Ｐゴシック" pitchFamily="34" charset="-128"/>
              </a:rPr>
              <a:t> = 1.5 Mbps</a:t>
            </a:r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§"/>
            </a:pPr>
            <a:r>
              <a:rPr lang="en-US" sz="2400">
                <a:ea typeface="ＭＳ Ｐゴシック" pitchFamily="34" charset="-128"/>
              </a:rPr>
              <a:t>one-hop transmission delay = 5 sec</a:t>
            </a:r>
          </a:p>
        </p:txBody>
      </p:sp>
      <p:sp>
        <p:nvSpPr>
          <p:cNvPr id="56327" name="AutoShape 42"/>
          <p:cNvSpPr>
            <a:spLocks/>
          </p:cNvSpPr>
          <p:nvPr/>
        </p:nvSpPr>
        <p:spPr bwMode="auto">
          <a:xfrm>
            <a:off x="4975225" y="5695950"/>
            <a:ext cx="152400" cy="728663"/>
          </a:xfrm>
          <a:prstGeom prst="rightBrace">
            <a:avLst>
              <a:gd name="adj1" fmla="val 5011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56328" name="Text Box 43"/>
          <p:cNvSpPr txBox="1">
            <a:spLocks noChangeArrowheads="1"/>
          </p:cNvSpPr>
          <p:nvPr/>
        </p:nvSpPr>
        <p:spPr bwMode="auto">
          <a:xfrm>
            <a:off x="5121275" y="5999163"/>
            <a:ext cx="2797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more on delay shortly …</a:t>
            </a:r>
          </a:p>
        </p:txBody>
      </p:sp>
      <p:sp>
        <p:nvSpPr>
          <p:cNvPr id="5632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Tahoma" pitchFamily="34" charset="0"/>
              </a:rPr>
              <a:t>1-</a:t>
            </a:r>
            <a:fld id="{E6B4FB06-7205-4CA2-8F7C-CD4F4F63A7AB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2</a:t>
            </a:fld>
            <a:endParaRPr lang="en-US" sz="12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2650" y="2679700"/>
            <a:ext cx="658813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prstClr val="black"/>
                </a:solidFill>
                <a:latin typeface="Calibri"/>
                <a:ea typeface="ＭＳ Ｐゴシック" pitchFamily="34" charset="-128"/>
              </a:rPr>
              <a:t>source</a:t>
            </a:r>
          </a:p>
        </p:txBody>
      </p:sp>
      <p:grpSp>
        <p:nvGrpSpPr>
          <p:cNvPr id="56331" name="Group 41"/>
          <p:cNvGrpSpPr>
            <a:grpSpLocks/>
          </p:cNvGrpSpPr>
          <p:nvPr/>
        </p:nvGrpSpPr>
        <p:grpSpPr bwMode="auto">
          <a:xfrm>
            <a:off x="1630363" y="2768600"/>
            <a:ext cx="1057275" cy="420688"/>
            <a:chOff x="1816230" y="6118900"/>
            <a:chExt cx="1843339" cy="739100"/>
          </a:xfrm>
        </p:grpSpPr>
        <p:pic>
          <p:nvPicPr>
            <p:cNvPr id="56392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" name="Rectangle 100"/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cxnSp>
        <p:nvCxnSpPr>
          <p:cNvPr id="56332" name="Straight Connector 42"/>
          <p:cNvCxnSpPr>
            <a:cxnSpLocks noChangeShapeType="1"/>
          </p:cNvCxnSpPr>
          <p:nvPr/>
        </p:nvCxnSpPr>
        <p:spPr bwMode="auto">
          <a:xfrm flipV="1">
            <a:off x="2576513" y="2874963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56333" name="Group 43"/>
          <p:cNvGrpSpPr>
            <a:grpSpLocks/>
          </p:cNvGrpSpPr>
          <p:nvPr/>
        </p:nvGrpSpPr>
        <p:grpSpPr bwMode="auto">
          <a:xfrm>
            <a:off x="3922713" y="2687638"/>
            <a:ext cx="1058862" cy="384175"/>
            <a:chOff x="5142253" y="5649029"/>
            <a:chExt cx="1304545" cy="695633"/>
          </a:xfrm>
        </p:grpSpPr>
        <p:grpSp>
          <p:nvGrpSpPr>
            <p:cNvPr id="56385" name="Group 92"/>
            <p:cNvGrpSpPr>
              <a:grpSpLocks/>
            </p:cNvGrpSpPr>
            <p:nvPr/>
          </p:nvGrpSpPr>
          <p:grpSpPr bwMode="auto"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56388" name="Picture 95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389" name="Rectangle 96"/>
              <p:cNvSpPr>
                <a:spLocks noChangeArrowheads="1"/>
              </p:cNvSpPr>
              <p:nvPr/>
            </p:nvSpPr>
            <p:spPr bwMode="auto"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Calibri" pitchFamily="34" charset="0"/>
                  <a:ea typeface="ＭＳ Ｐゴシック" pitchFamily="34" charset="-128"/>
                </a:endParaRPr>
              </a:p>
            </p:txBody>
          </p:sp>
          <p:sp>
            <p:nvSpPr>
              <p:cNvPr id="56390" name="Rectangle 97"/>
              <p:cNvSpPr>
                <a:spLocks noChangeArrowheads="1"/>
              </p:cNvSpPr>
              <p:nvPr/>
            </p:nvSpPr>
            <p:spPr bwMode="auto"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Calibri" pitchFamily="34" charset="0"/>
                  <a:ea typeface="ＭＳ Ｐゴシック" pitchFamily="34" charset="-128"/>
                </a:endParaRPr>
              </a:p>
            </p:txBody>
          </p:sp>
          <p:sp>
            <p:nvSpPr>
              <p:cNvPr id="56391" name="Oval 98"/>
              <p:cNvSpPr>
                <a:spLocks noChangeArrowheads="1"/>
              </p:cNvSpPr>
              <p:nvPr/>
            </p:nvSpPr>
            <p:spPr bwMode="auto"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Calibri" pitchFamily="34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6386" name="Rectangle 93"/>
            <p:cNvSpPr>
              <a:spLocks noChangeArrowheads="1"/>
            </p:cNvSpPr>
            <p:nvPr/>
          </p:nvSpPr>
          <p:spPr bwMode="auto"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Calibri" pitchFamily="34" charset="0"/>
                <a:ea typeface="ＭＳ Ｐゴシック" pitchFamily="34" charset="-128"/>
              </a:endParaRPr>
            </a:p>
          </p:txBody>
        </p:sp>
        <p:sp>
          <p:nvSpPr>
            <p:cNvPr id="56387" name="Rectangle 94"/>
            <p:cNvSpPr>
              <a:spLocks noChangeArrowheads="1"/>
            </p:cNvSpPr>
            <p:nvPr/>
          </p:nvSpPr>
          <p:spPr bwMode="auto"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Calibri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56334" name="Group 44"/>
          <p:cNvGrpSpPr>
            <a:grpSpLocks/>
          </p:cNvGrpSpPr>
          <p:nvPr/>
        </p:nvGrpSpPr>
        <p:grpSpPr bwMode="auto">
          <a:xfrm>
            <a:off x="3876675" y="1608138"/>
            <a:ext cx="1092200" cy="303212"/>
            <a:chOff x="5128542" y="4838701"/>
            <a:chExt cx="1300833" cy="530211"/>
          </a:xfrm>
        </p:grpSpPr>
        <p:pic>
          <p:nvPicPr>
            <p:cNvPr id="56382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83" name="Rectangle 90"/>
            <p:cNvSpPr>
              <a:spLocks noChangeArrowheads="1"/>
            </p:cNvSpPr>
            <p:nvPr/>
          </p:nvSpPr>
          <p:spPr bwMode="auto"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Calibri" pitchFamily="34" charset="0"/>
                <a:ea typeface="ＭＳ Ｐゴシック" pitchFamily="34" charset="-128"/>
              </a:endParaRPr>
            </a:p>
          </p:txBody>
        </p:sp>
        <p:sp>
          <p:nvSpPr>
            <p:cNvPr id="56384" name="Rectangle 91"/>
            <p:cNvSpPr>
              <a:spLocks noChangeArrowheads="1"/>
            </p:cNvSpPr>
            <p:nvPr/>
          </p:nvSpPr>
          <p:spPr bwMode="auto"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Calibri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56335" name="Group 45"/>
          <p:cNvGrpSpPr>
            <a:grpSpLocks/>
          </p:cNvGrpSpPr>
          <p:nvPr/>
        </p:nvGrpSpPr>
        <p:grpSpPr bwMode="auto">
          <a:xfrm>
            <a:off x="1735138" y="1196975"/>
            <a:ext cx="1150937" cy="730250"/>
            <a:chOff x="2387973" y="4309243"/>
            <a:chExt cx="1771787" cy="1282262"/>
          </a:xfrm>
        </p:grpSpPr>
        <p:pic>
          <p:nvPicPr>
            <p:cNvPr id="56378" name="Picture 9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Rectangle 88"/>
            <p:cNvSpPr/>
            <p:nvPr/>
          </p:nvSpPr>
          <p:spPr>
            <a:xfrm rot="11601822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935288" y="2908300"/>
            <a:ext cx="566737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1" kern="0" dirty="0">
                <a:solidFill>
                  <a:prstClr val="black"/>
                </a:solidFill>
                <a:latin typeface="Calibri"/>
                <a:ea typeface="ＭＳ Ｐゴシック" pitchFamily="34" charset="-128"/>
              </a:rPr>
              <a:t>R</a:t>
            </a:r>
            <a:r>
              <a:rPr lang="en-US" kern="0" dirty="0">
                <a:solidFill>
                  <a:prstClr val="black"/>
                </a:solidFill>
                <a:latin typeface="Calibri"/>
                <a:ea typeface="ＭＳ Ｐゴシック" pitchFamily="34" charset="-128"/>
              </a:rPr>
              <a:t> bps</a:t>
            </a:r>
          </a:p>
        </p:txBody>
      </p:sp>
      <p:cxnSp>
        <p:nvCxnSpPr>
          <p:cNvPr id="56337" name="Straight Connector 47"/>
          <p:cNvCxnSpPr>
            <a:cxnSpLocks noChangeShapeType="1"/>
          </p:cNvCxnSpPr>
          <p:nvPr/>
        </p:nvCxnSpPr>
        <p:spPr bwMode="auto">
          <a:xfrm flipV="1">
            <a:off x="4967288" y="2879725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56338" name="Group 100"/>
          <p:cNvGrpSpPr>
            <a:grpSpLocks/>
          </p:cNvGrpSpPr>
          <p:nvPr/>
        </p:nvGrpSpPr>
        <p:grpSpPr bwMode="auto">
          <a:xfrm>
            <a:off x="5945188" y="2071688"/>
            <a:ext cx="1477962" cy="1284287"/>
            <a:chOff x="-44" y="1473"/>
            <a:chExt cx="981" cy="1105"/>
          </a:xfrm>
        </p:grpSpPr>
        <p:pic>
          <p:nvPicPr>
            <p:cNvPr id="56376" name="Picture 101" descr="desktop_computer_stylized_medium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Freeform 102"/>
            <p:cNvSpPr>
              <a:spLocks/>
            </p:cNvSpPr>
            <p:nvPr/>
          </p:nvSpPr>
          <p:spPr bwMode="auto">
            <a:xfrm flipH="1">
              <a:off x="374" y="1580"/>
              <a:ext cx="474" cy="505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en-US" kern="0">
                <a:solidFill>
                  <a:prstClr val="black"/>
                </a:solidFill>
                <a:latin typeface="Calibri"/>
                <a:ea typeface="ＭＳ Ｐゴシック" pitchFamily="34" charset="-128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7427913" y="2778125"/>
            <a:ext cx="1012825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prstClr val="black"/>
                </a:solidFill>
                <a:latin typeface="Calibri"/>
                <a:ea typeface="ＭＳ Ｐゴシック" pitchFamily="34" charset="-128"/>
              </a:rPr>
              <a:t>destination</a:t>
            </a:r>
          </a:p>
        </p:txBody>
      </p:sp>
      <p:sp>
        <p:nvSpPr>
          <p:cNvPr id="56340" name="TextBox 52"/>
          <p:cNvSpPr txBox="1">
            <a:spLocks noChangeArrowheads="1"/>
          </p:cNvSpPr>
          <p:nvPr/>
        </p:nvSpPr>
        <p:spPr bwMode="auto">
          <a:xfrm>
            <a:off x="2395538" y="2574925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6341" name="TextBox 53"/>
          <p:cNvSpPr txBox="1">
            <a:spLocks noChangeArrowheads="1"/>
          </p:cNvSpPr>
          <p:nvPr/>
        </p:nvSpPr>
        <p:spPr bwMode="auto">
          <a:xfrm>
            <a:off x="2198688" y="2581275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6342" name="TextBox 54"/>
          <p:cNvSpPr txBox="1">
            <a:spLocks noChangeArrowheads="1"/>
          </p:cNvSpPr>
          <p:nvPr/>
        </p:nvSpPr>
        <p:spPr bwMode="auto">
          <a:xfrm>
            <a:off x="2011363" y="2578100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Calibri" pitchFamily="34" charset="0"/>
              </a:rPr>
              <a:t>3</a:t>
            </a:r>
          </a:p>
        </p:txBody>
      </p:sp>
      <p:grpSp>
        <p:nvGrpSpPr>
          <p:cNvPr id="56343" name="Group 55"/>
          <p:cNvGrpSpPr>
            <a:grpSpLocks/>
          </p:cNvGrpSpPr>
          <p:nvPr/>
        </p:nvGrpSpPr>
        <p:grpSpPr bwMode="auto">
          <a:xfrm>
            <a:off x="1744663" y="1873250"/>
            <a:ext cx="2935287" cy="841375"/>
            <a:chOff x="593766" y="5264055"/>
            <a:chExt cx="3597129" cy="1011695"/>
          </a:xfrm>
        </p:grpSpPr>
        <p:grpSp>
          <p:nvGrpSpPr>
            <p:cNvPr id="56347" name="Group 56"/>
            <p:cNvGrpSpPr>
              <a:grpSpLocks/>
            </p:cNvGrpSpPr>
            <p:nvPr/>
          </p:nvGrpSpPr>
          <p:grpSpPr bwMode="auto">
            <a:xfrm>
              <a:off x="3527077" y="5264055"/>
              <a:ext cx="617671" cy="927313"/>
              <a:chOff x="2105936" y="5387204"/>
              <a:chExt cx="617671" cy="927313"/>
            </a:xfrm>
          </p:grpSpPr>
          <p:sp>
            <p:nvSpPr>
              <p:cNvPr id="56368" name="Rectangle 77"/>
              <p:cNvSpPr>
                <a:spLocks noChangeArrowheads="1"/>
              </p:cNvSpPr>
              <p:nvPr/>
            </p:nvSpPr>
            <p:spPr bwMode="auto"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Calibri" pitchFamily="34" charset="0"/>
                  <a:ea typeface="ＭＳ Ｐゴシック" pitchFamily="34" charset="-128"/>
                </a:endParaRPr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cxnSp>
            <p:nvCxnSpPr>
              <p:cNvPr id="56372" name="Straight Connector 81"/>
              <p:cNvCxnSpPr>
                <a:cxnSpLocks noChangeShapeType="1"/>
                <a:stCxn id="81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56373" name="Straight Connector 82"/>
              <p:cNvCxnSpPr>
                <a:cxnSpLocks noChangeShapeType="1"/>
                <a:endCxn id="81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56374" name="Straight Connector 83"/>
              <p:cNvCxnSpPr>
                <a:cxnSpLocks noChangeShapeType="1"/>
                <a:endCxn id="81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56375" name="Straight Connector 84"/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  <p:grpSp>
          <p:nvGrpSpPr>
            <p:cNvPr id="56348" name="Group 57"/>
            <p:cNvGrpSpPr>
              <a:grpSpLocks/>
            </p:cNvGrpSpPr>
            <p:nvPr/>
          </p:nvGrpSpPr>
          <p:grpSpPr bwMode="auto">
            <a:xfrm>
              <a:off x="1326802" y="5273580"/>
              <a:ext cx="617671" cy="927313"/>
              <a:chOff x="2105936" y="5387204"/>
              <a:chExt cx="617671" cy="927313"/>
            </a:xfrm>
          </p:grpSpPr>
          <p:sp>
            <p:nvSpPr>
              <p:cNvPr id="70" name="Freeform 69"/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sp>
            <p:nvSpPr>
              <p:cNvPr id="71" name="Freeform 70"/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sp>
            <p:nvSpPr>
              <p:cNvPr id="56362" name="Rectangle 71"/>
              <p:cNvSpPr>
                <a:spLocks noChangeArrowheads="1"/>
              </p:cNvSpPr>
              <p:nvPr/>
            </p:nvSpPr>
            <p:spPr bwMode="auto"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Calibri" pitchFamily="34" charset="0"/>
                  <a:ea typeface="ＭＳ Ｐゴシック" pitchFamily="34" charset="-128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cxnSp>
            <p:nvCxnSpPr>
              <p:cNvPr id="56364" name="Straight Connector 73"/>
              <p:cNvCxnSpPr>
                <a:cxnSpLocks noChangeShapeType="1"/>
                <a:stCxn id="73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56365" name="Straight Connector 74"/>
              <p:cNvCxnSpPr>
                <a:cxnSpLocks noChangeShapeType="1"/>
                <a:endCxn id="73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56366" name="Straight Connector 75"/>
              <p:cNvCxnSpPr>
                <a:cxnSpLocks noChangeShapeType="1"/>
                <a:endCxn id="73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56367" name="Straight Connector 76"/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  <p:grpSp>
          <p:nvGrpSpPr>
            <p:cNvPr id="56349" name="Group 58"/>
            <p:cNvGrpSpPr>
              <a:grpSpLocks/>
            </p:cNvGrpSpPr>
            <p:nvPr/>
          </p:nvGrpSpPr>
          <p:grpSpPr bwMode="auto">
            <a:xfrm>
              <a:off x="971797" y="5294415"/>
              <a:ext cx="605641" cy="915203"/>
              <a:chOff x="335231" y="4405745"/>
              <a:chExt cx="1252537" cy="2138362"/>
            </a:xfrm>
          </p:grpSpPr>
          <p:sp>
            <p:nvSpPr>
              <p:cNvPr id="67" name="Freeform 66"/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sp>
            <p:nvSpPr>
              <p:cNvPr id="56359" name="Rectangle 68"/>
              <p:cNvSpPr>
                <a:spLocks noChangeArrowheads="1"/>
              </p:cNvSpPr>
              <p:nvPr/>
            </p:nvSpPr>
            <p:spPr bwMode="auto"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Calibri" pitchFamily="34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6350" name="Rectangle 59"/>
            <p:cNvSpPr>
              <a:spLocks noChangeArrowheads="1"/>
            </p:cNvSpPr>
            <p:nvPr/>
          </p:nvSpPr>
          <p:spPr bwMode="auto"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Calibri" pitchFamily="34" charset="0"/>
                <a:ea typeface="ＭＳ Ｐゴシック" pitchFamily="34" charset="-128"/>
              </a:endParaRPr>
            </a:p>
          </p:txBody>
        </p:sp>
        <p:sp>
          <p:nvSpPr>
            <p:cNvPr id="56351" name="Right Arrow 60"/>
            <p:cNvSpPr>
              <a:spLocks noChangeArrowheads="1"/>
            </p:cNvSpPr>
            <p:nvPr/>
          </p:nvSpPr>
          <p:spPr bwMode="auto">
            <a:xfrm>
              <a:off x="2556720" y="6056232"/>
              <a:ext cx="266527" cy="219518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Calibri" pitchFamily="34" charset="0"/>
                <a:ea typeface="ＭＳ Ｐゴシック" pitchFamily="34" charset="-128"/>
              </a:endParaRPr>
            </a:p>
          </p:txBody>
        </p:sp>
        <p:grpSp>
          <p:nvGrpSpPr>
            <p:cNvPr id="56352" name="Group 61"/>
            <p:cNvGrpSpPr>
              <a:grpSpLocks/>
            </p:cNvGrpSpPr>
            <p:nvPr/>
          </p:nvGrpSpPr>
          <p:grpSpPr bwMode="auto">
            <a:xfrm>
              <a:off x="593766" y="5284519"/>
              <a:ext cx="605641" cy="915203"/>
              <a:chOff x="335231" y="4405745"/>
              <a:chExt cx="1252537" cy="2138362"/>
            </a:xfrm>
          </p:grpSpPr>
          <p:sp>
            <p:nvSpPr>
              <p:cNvPr id="64" name="Freeform 63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kern="0">
                  <a:solidFill>
                    <a:sysClr val="window" lastClr="FFFFFF"/>
                  </a:solidFill>
                  <a:latin typeface="Calibri"/>
                  <a:ea typeface="ＭＳ Ｐゴシック" pitchFamily="34" charset="-128"/>
                </a:endParaRPr>
              </a:p>
            </p:txBody>
          </p:sp>
          <p:sp>
            <p:nvSpPr>
              <p:cNvPr id="56356" name="Rectangle 65"/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Calibri" pitchFamily="34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56353" name="Right Arrow 62"/>
            <p:cNvSpPr>
              <a:spLocks noChangeArrowheads="1"/>
            </p:cNvSpPr>
            <p:nvPr/>
          </p:nvSpPr>
          <p:spPr bwMode="auto">
            <a:xfrm rot="-5245926">
              <a:off x="3947358" y="5684800"/>
              <a:ext cx="267240" cy="219835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Calibri" pitchFamily="34" charset="0"/>
                <a:ea typeface="ＭＳ Ｐゴシック" pitchFamily="34" charset="-128"/>
              </a:endParaRP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541338" y="1903413"/>
            <a:ext cx="11811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1700"/>
              </a:lnSpc>
              <a:defRPr/>
            </a:pPr>
            <a:r>
              <a:rPr lang="en-US" i="1" kern="0" dirty="0">
                <a:solidFill>
                  <a:prstClr val="black"/>
                </a:solidFill>
                <a:latin typeface="Calibri"/>
                <a:ea typeface="ＭＳ Ｐゴシック" pitchFamily="34" charset="-128"/>
              </a:rPr>
              <a:t>L</a:t>
            </a:r>
            <a:r>
              <a:rPr lang="en-US" kern="0" dirty="0">
                <a:solidFill>
                  <a:prstClr val="black"/>
                </a:solidFill>
                <a:latin typeface="Calibri"/>
                <a:ea typeface="ＭＳ Ｐゴシック" pitchFamily="34" charset="-128"/>
              </a:rPr>
              <a:t> bits</a:t>
            </a:r>
          </a:p>
          <a:p>
            <a:pPr>
              <a:lnSpc>
                <a:spcPts val="1700"/>
              </a:lnSpc>
              <a:defRPr/>
            </a:pPr>
            <a:r>
              <a:rPr lang="en-US" kern="0" dirty="0">
                <a:solidFill>
                  <a:prstClr val="black"/>
                </a:solidFill>
                <a:latin typeface="Calibri"/>
                <a:ea typeface="ＭＳ Ｐゴシック" pitchFamily="34" charset="-128"/>
              </a:rPr>
              <a:t>per packet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34000" y="2898775"/>
            <a:ext cx="566738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1" kern="0" dirty="0">
                <a:solidFill>
                  <a:prstClr val="black"/>
                </a:solidFill>
                <a:latin typeface="Calibri"/>
                <a:ea typeface="ＭＳ Ｐゴシック" pitchFamily="34" charset="-128"/>
              </a:rPr>
              <a:t>R</a:t>
            </a:r>
            <a:r>
              <a:rPr lang="en-US" kern="0" dirty="0">
                <a:solidFill>
                  <a:prstClr val="black"/>
                </a:solidFill>
                <a:latin typeface="Calibri"/>
                <a:ea typeface="ＭＳ Ｐゴシック" pitchFamily="34" charset="-128"/>
              </a:rPr>
              <a:t> bps</a:t>
            </a:r>
          </a:p>
        </p:txBody>
      </p:sp>
      <p:sp>
        <p:nvSpPr>
          <p:cNvPr id="56346" name="Rectangle 3"/>
          <p:cNvSpPr txBox="1">
            <a:spLocks noChangeArrowheads="1"/>
          </p:cNvSpPr>
          <p:nvPr/>
        </p:nvSpPr>
        <p:spPr bwMode="auto">
          <a:xfrm>
            <a:off x="582613" y="5711825"/>
            <a:ext cx="460216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end-end delay = 2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L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/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R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(assuming zero propagation delay)</a:t>
            </a:r>
          </a:p>
        </p:txBody>
      </p:sp>
    </p:spTree>
    <p:extLst>
      <p:ext uri="{BB962C8B-B14F-4D97-AF65-F5344CB8AC3E}">
        <p14:creationId xmlns:p14="http://schemas.microsoft.com/office/powerpoint/2010/main" val="2646371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a) At time t</a:t>
            </a:r>
            <a:r>
              <a:rPr lang="en-US" baseline="-25000" dirty="0"/>
              <a:t>0</a:t>
            </a:r>
            <a:r>
              <a:rPr lang="en-US" dirty="0"/>
              <a:t> the sending host begins to transmit. At time </a:t>
            </a:r>
            <a:r>
              <a:rPr lang="en-US" i="1" dirty="0"/>
              <a:t>t</a:t>
            </a:r>
            <a:r>
              <a:rPr lang="en-US" i="1" baseline="-25000" dirty="0"/>
              <a:t>1 </a:t>
            </a:r>
            <a:r>
              <a:rPr lang="en-US" i="1" dirty="0"/>
              <a:t>= L/R</a:t>
            </a:r>
            <a:r>
              <a:rPr lang="en-US" i="1" baseline="-25000" dirty="0"/>
              <a:t>1</a:t>
            </a:r>
            <a:r>
              <a:rPr lang="en-US" dirty="0"/>
              <a:t>, the sending host completes transmission and the entire packet is received at the router (no propagation delay). Because the router has the entire packet at time </a:t>
            </a:r>
            <a:r>
              <a:rPr lang="en-US" i="1" dirty="0"/>
              <a:t>t</a:t>
            </a:r>
            <a:r>
              <a:rPr lang="en-US" i="1" baseline="-25000" dirty="0"/>
              <a:t>1</a:t>
            </a:r>
            <a:r>
              <a:rPr lang="en-US" dirty="0"/>
              <a:t>, it can begin to transmit the packet to the receiving host at time </a:t>
            </a:r>
            <a:r>
              <a:rPr lang="en-US" i="1" dirty="0"/>
              <a:t>t</a:t>
            </a:r>
            <a:r>
              <a:rPr lang="en-US" i="1" baseline="-25000" dirty="0"/>
              <a:t>1</a:t>
            </a:r>
            <a:r>
              <a:rPr lang="en-US" dirty="0"/>
              <a:t>. At time </a:t>
            </a:r>
            <a:r>
              <a:rPr lang="en-US" i="1" dirty="0"/>
              <a:t>t</a:t>
            </a:r>
            <a:r>
              <a:rPr lang="en-US" i="1" baseline="-25000" dirty="0"/>
              <a:t>2</a:t>
            </a:r>
            <a:r>
              <a:rPr lang="en-US" i="1" dirty="0"/>
              <a:t> = t</a:t>
            </a:r>
            <a:r>
              <a:rPr lang="en-US" i="1" baseline="-25000" dirty="0"/>
              <a:t>1</a:t>
            </a:r>
            <a:r>
              <a:rPr lang="en-US" i="1" dirty="0"/>
              <a:t> + L/R</a:t>
            </a:r>
            <a:r>
              <a:rPr lang="en-US" i="1" baseline="-25000" dirty="0"/>
              <a:t>2</a:t>
            </a:r>
            <a:r>
              <a:rPr lang="en-US" dirty="0"/>
              <a:t>, the router completes transmission and the entire packet is received at the receiving host (again, no propagation delay). Thus, the end-to-end delay is </a:t>
            </a:r>
            <a:r>
              <a:rPr lang="en-US" i="1" dirty="0"/>
              <a:t>L/R</a:t>
            </a:r>
            <a:r>
              <a:rPr lang="en-US" i="1" baseline="-25000" dirty="0"/>
              <a:t>1</a:t>
            </a:r>
            <a:r>
              <a:rPr lang="en-US" i="1" dirty="0"/>
              <a:t> + L/R</a:t>
            </a:r>
            <a:r>
              <a:rPr lang="en-US" i="1" baseline="-25000" dirty="0"/>
              <a:t>2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335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b)Case of 2 links: When the first node sends the P-</a:t>
            </a:r>
            <a:r>
              <a:rPr lang="en-US" dirty="0" err="1"/>
              <a:t>th</a:t>
            </a:r>
            <a:r>
              <a:rPr lang="en-US" dirty="0"/>
              <a:t> packet to the second node, thereby incurring a net delay of PL/R, the second node sends the </a:t>
            </a:r>
            <a:br>
              <a:rPr lang="en-US" dirty="0"/>
            </a:br>
            <a:r>
              <a:rPr lang="en-US" dirty="0"/>
              <a:t>(P-1)-</a:t>
            </a:r>
            <a:r>
              <a:rPr lang="en-US" dirty="0" err="1"/>
              <a:t>th</a:t>
            </a:r>
            <a:r>
              <a:rPr lang="en-US" dirty="0"/>
              <a:t> packet to the third node. Hence an additional delay of L/R would be incurred for sending the P-</a:t>
            </a:r>
            <a:r>
              <a:rPr lang="en-US" dirty="0" err="1"/>
              <a:t>th</a:t>
            </a:r>
            <a:r>
              <a:rPr lang="en-US" dirty="0"/>
              <a:t> packet from the second node to the third node. Thus, the net delay would be (P+1)L/R.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5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sp>
        <p:nvSpPr>
          <p:cNvPr id="59395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465138" y="274638"/>
            <a:ext cx="7772400" cy="719137"/>
          </a:xfrm>
        </p:spPr>
        <p:txBody>
          <a:bodyPr/>
          <a:lstStyle/>
          <a:p>
            <a:pPr eaLnBrk="1" hangingPunct="1"/>
            <a:r>
              <a:rPr lang="en-US" altLang="en-US" sz="4000">
                <a:ea typeface="ＭＳ Ｐゴシック" pitchFamily="34" charset="-128"/>
              </a:rPr>
              <a:t>Alternative core: circuit switching</a:t>
            </a:r>
            <a:endParaRPr lang="en-US" altLang="en-US">
              <a:ea typeface="ＭＳ Ｐゴシック" pitchFamily="34" charset="-128"/>
            </a:endParaRPr>
          </a:p>
        </p:txBody>
      </p:sp>
      <p:sp>
        <p:nvSpPr>
          <p:cNvPr id="59396" name="Rectangle 102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5925" y="1236663"/>
            <a:ext cx="4465638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>
                <a:solidFill>
                  <a:srgbClr val="CC0000"/>
                </a:solidFill>
                <a:ea typeface="ＭＳ Ｐゴシック" pitchFamily="34" charset="-128"/>
              </a:rPr>
              <a:t>end-end resources allocated to, reserved for </a:t>
            </a:r>
            <a:r>
              <a:rPr lang="ja-JP" altLang="en-US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>
                <a:solidFill>
                  <a:srgbClr val="CC0000"/>
                </a:solidFill>
                <a:ea typeface="ＭＳ Ｐゴシック" pitchFamily="34" charset="-128"/>
              </a:rPr>
              <a:t>call</a:t>
            </a:r>
            <a:r>
              <a:rPr lang="ja-JP" altLang="en-US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r>
              <a:rPr lang="en-US" altLang="ja-JP">
                <a:solidFill>
                  <a:srgbClr val="CC0000"/>
                </a:solidFill>
                <a:ea typeface="ＭＳ Ｐゴシック" pitchFamily="34" charset="-128"/>
              </a:rPr>
              <a:t> between source &amp; dest:</a:t>
            </a:r>
          </a:p>
          <a:p>
            <a:pPr eaLnBrk="1" hangingPunct="1">
              <a:buSzPct val="75000"/>
            </a:pPr>
            <a:r>
              <a:rPr lang="en-US" altLang="en-US" sz="2400">
                <a:ea typeface="ＭＳ Ｐゴシック" pitchFamily="34" charset="-128"/>
              </a:rPr>
              <a:t>In diagram, each link has four circuits. </a:t>
            </a:r>
          </a:p>
          <a:p>
            <a:pPr lvl="1" eaLnBrk="1" hangingPunct="1">
              <a:buSzPct val="75000"/>
            </a:pPr>
            <a:r>
              <a:rPr lang="en-US" altLang="en-US">
                <a:ea typeface="ＭＳ Ｐゴシック" pitchFamily="34" charset="-128"/>
              </a:rPr>
              <a:t>call gets 2</a:t>
            </a:r>
            <a:r>
              <a:rPr lang="en-US" altLang="en-US" baseline="30000">
                <a:ea typeface="ＭＳ Ｐゴシック" pitchFamily="34" charset="-128"/>
              </a:rPr>
              <a:t>nd</a:t>
            </a:r>
            <a:r>
              <a:rPr lang="en-US" altLang="en-US">
                <a:ea typeface="ＭＳ Ｐゴシック" pitchFamily="34" charset="-128"/>
              </a:rPr>
              <a:t> circuit in top link and 1</a:t>
            </a:r>
            <a:r>
              <a:rPr lang="en-US" altLang="en-US" baseline="30000">
                <a:ea typeface="ＭＳ Ｐゴシック" pitchFamily="34" charset="-128"/>
              </a:rPr>
              <a:t>st</a:t>
            </a:r>
            <a:r>
              <a:rPr lang="en-US" altLang="en-US">
                <a:ea typeface="ＭＳ Ｐゴシック" pitchFamily="34" charset="-128"/>
              </a:rPr>
              <a:t> circuit in right link.</a:t>
            </a:r>
          </a:p>
          <a:p>
            <a:pPr eaLnBrk="1" hangingPunct="1">
              <a:buSzPct val="75000"/>
            </a:pPr>
            <a:r>
              <a:rPr lang="en-US" altLang="en-US" sz="2400">
                <a:ea typeface="ＭＳ Ｐゴシック" pitchFamily="34" charset="-128"/>
              </a:rPr>
              <a:t>dedicated resources: no sharing</a:t>
            </a:r>
          </a:p>
          <a:p>
            <a:pPr lvl="1" eaLnBrk="1" hangingPunct="1">
              <a:buSzPct val="75000"/>
            </a:pPr>
            <a:r>
              <a:rPr lang="en-US" altLang="en-US"/>
              <a:t>circuit-like (guaranteed) performance</a:t>
            </a:r>
          </a:p>
          <a:p>
            <a:pPr eaLnBrk="1" hangingPunct="1">
              <a:buSzPct val="75000"/>
            </a:pPr>
            <a:r>
              <a:rPr lang="en-US" altLang="en-US" sz="2400">
                <a:ea typeface="ＭＳ Ｐゴシック" pitchFamily="34" charset="-128"/>
              </a:rPr>
              <a:t>circuit segment idle if not used by call </a:t>
            </a:r>
            <a:r>
              <a:rPr lang="en-US" altLang="en-US" sz="2400" i="1">
                <a:solidFill>
                  <a:srgbClr val="000099"/>
                </a:solidFill>
                <a:ea typeface="ＭＳ Ｐゴシック" pitchFamily="34" charset="-128"/>
              </a:rPr>
              <a:t>(no sharing)</a:t>
            </a:r>
          </a:p>
          <a:p>
            <a:pPr eaLnBrk="1" hangingPunct="1"/>
            <a:r>
              <a:rPr lang="en-US" altLang="en-US" sz="2400">
                <a:ea typeface="ＭＳ Ｐゴシック" pitchFamily="34" charset="-128"/>
              </a:rPr>
              <a:t>Commonly used in traditional telephone networks</a:t>
            </a:r>
          </a:p>
        </p:txBody>
      </p:sp>
      <p:pic>
        <p:nvPicPr>
          <p:cNvPr id="59397" name="Picture 69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85248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t>1-</a:t>
            </a:r>
            <a:fld id="{D248E328-1C0E-4B30-8E7B-EC28C89A5DFB}" type="slidenum">
              <a:rPr lang="en-US" alt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5</a:t>
            </a:fld>
            <a:endParaRPr lang="en-US" altLang="en-US" sz="1200">
              <a:solidFill>
                <a:srgbClr val="000000"/>
              </a:solidFill>
              <a:latin typeface="Tahoma" pitchFamily="34" charset="0"/>
            </a:endParaRPr>
          </a:p>
        </p:txBody>
      </p:sp>
      <p:grpSp>
        <p:nvGrpSpPr>
          <p:cNvPr id="59399" name="Group 360"/>
          <p:cNvGrpSpPr>
            <a:grpSpLocks/>
          </p:cNvGrpSpPr>
          <p:nvPr/>
        </p:nvGrpSpPr>
        <p:grpSpPr bwMode="auto">
          <a:xfrm>
            <a:off x="4749800" y="1371600"/>
            <a:ext cx="4394200" cy="3735388"/>
            <a:chOff x="1524000" y="1295400"/>
            <a:chExt cx="5715000" cy="5108575"/>
          </a:xfrm>
        </p:grpSpPr>
        <p:grpSp>
          <p:nvGrpSpPr>
            <p:cNvPr id="59400" name="Group 100"/>
            <p:cNvGrpSpPr>
              <a:grpSpLocks/>
            </p:cNvGrpSpPr>
            <p:nvPr/>
          </p:nvGrpSpPr>
          <p:grpSpPr bwMode="auto">
            <a:xfrm>
              <a:off x="1524000" y="1295400"/>
              <a:ext cx="820738" cy="688975"/>
              <a:chOff x="-44" y="1473"/>
              <a:chExt cx="981" cy="1105"/>
            </a:xfrm>
          </p:grpSpPr>
          <p:pic>
            <p:nvPicPr>
              <p:cNvPr id="59478" name="Picture 10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479" name="Freeform 10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326 w 356"/>
                  <a:gd name="T3" fmla="*/ 131 h 368"/>
                  <a:gd name="T4" fmla="*/ 2759 w 356"/>
                  <a:gd name="T5" fmla="*/ 2727 h 368"/>
                  <a:gd name="T6" fmla="*/ 608 w 356"/>
                  <a:gd name="T7" fmla="*/ 342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59401" name="Group 142"/>
            <p:cNvGrpSpPr>
              <a:grpSpLocks/>
            </p:cNvGrpSpPr>
            <p:nvPr/>
          </p:nvGrpSpPr>
          <p:grpSpPr bwMode="auto">
            <a:xfrm>
              <a:off x="2514600" y="2438400"/>
              <a:ext cx="990600" cy="533400"/>
              <a:chOff x="2356" y="1300"/>
              <a:chExt cx="555" cy="194"/>
            </a:xfrm>
          </p:grpSpPr>
          <p:sp>
            <p:nvSpPr>
              <p:cNvPr id="5947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947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947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59473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9476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9477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9474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9475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59402" name="Group 100"/>
            <p:cNvGrpSpPr>
              <a:grpSpLocks/>
            </p:cNvGrpSpPr>
            <p:nvPr/>
          </p:nvGrpSpPr>
          <p:grpSpPr bwMode="auto">
            <a:xfrm>
              <a:off x="6400800" y="5715000"/>
              <a:ext cx="820738" cy="688975"/>
              <a:chOff x="-44" y="1473"/>
              <a:chExt cx="981" cy="1105"/>
            </a:xfrm>
          </p:grpSpPr>
          <p:pic>
            <p:nvPicPr>
              <p:cNvPr id="59468" name="Picture 10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469" name="Freeform 10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326 w 356"/>
                  <a:gd name="T3" fmla="*/ 131 h 368"/>
                  <a:gd name="T4" fmla="*/ 2759 w 356"/>
                  <a:gd name="T5" fmla="*/ 2727 h 368"/>
                  <a:gd name="T6" fmla="*/ 608 w 356"/>
                  <a:gd name="T7" fmla="*/ 342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365" name="Rectangle 364"/>
            <p:cNvSpPr/>
            <p:nvPr/>
          </p:nvSpPr>
          <p:spPr>
            <a:xfrm>
              <a:off x="3506081" y="2591541"/>
              <a:ext cx="1750838" cy="759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66" name="Rectangle 365"/>
            <p:cNvSpPr/>
            <p:nvPr/>
          </p:nvSpPr>
          <p:spPr>
            <a:xfrm>
              <a:off x="3506081" y="2667529"/>
              <a:ext cx="1750838" cy="7598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67" name="Rectangle 366"/>
            <p:cNvSpPr/>
            <p:nvPr/>
          </p:nvSpPr>
          <p:spPr>
            <a:xfrm>
              <a:off x="3506081" y="2743518"/>
              <a:ext cx="1750838" cy="759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3506081" y="2819505"/>
              <a:ext cx="1750838" cy="759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grpSp>
          <p:nvGrpSpPr>
            <p:cNvPr id="59407" name="Group 142"/>
            <p:cNvGrpSpPr>
              <a:grpSpLocks/>
            </p:cNvGrpSpPr>
            <p:nvPr/>
          </p:nvGrpSpPr>
          <p:grpSpPr bwMode="auto">
            <a:xfrm>
              <a:off x="5257800" y="2438400"/>
              <a:ext cx="990600" cy="533400"/>
              <a:chOff x="2356" y="1300"/>
              <a:chExt cx="555" cy="194"/>
            </a:xfrm>
          </p:grpSpPr>
          <p:sp>
            <p:nvSpPr>
              <p:cNvPr id="5946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946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946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59463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9466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9467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9464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9465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59408" name="Group 142"/>
            <p:cNvGrpSpPr>
              <a:grpSpLocks/>
            </p:cNvGrpSpPr>
            <p:nvPr/>
          </p:nvGrpSpPr>
          <p:grpSpPr bwMode="auto">
            <a:xfrm>
              <a:off x="2590800" y="4724400"/>
              <a:ext cx="990600" cy="533400"/>
              <a:chOff x="2356" y="1300"/>
              <a:chExt cx="555" cy="194"/>
            </a:xfrm>
          </p:grpSpPr>
          <p:sp>
            <p:nvSpPr>
              <p:cNvPr id="5945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945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945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59455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9458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9459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9456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9457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59409" name="Group 142"/>
            <p:cNvGrpSpPr>
              <a:grpSpLocks/>
            </p:cNvGrpSpPr>
            <p:nvPr/>
          </p:nvGrpSpPr>
          <p:grpSpPr bwMode="auto">
            <a:xfrm>
              <a:off x="5334000" y="4724400"/>
              <a:ext cx="990600" cy="533400"/>
              <a:chOff x="2356" y="1300"/>
              <a:chExt cx="555" cy="194"/>
            </a:xfrm>
          </p:grpSpPr>
          <p:sp>
            <p:nvSpPr>
              <p:cNvPr id="5944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944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944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59447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9450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59451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  <p:sp>
            <p:nvSpPr>
              <p:cNvPr id="59448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59449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grpSp>
          <p:nvGrpSpPr>
            <p:cNvPr id="59410" name="Group 75"/>
            <p:cNvGrpSpPr>
              <a:grpSpLocks/>
            </p:cNvGrpSpPr>
            <p:nvPr/>
          </p:nvGrpSpPr>
          <p:grpSpPr bwMode="auto">
            <a:xfrm rot="5400000">
              <a:off x="2171700" y="3695700"/>
              <a:ext cx="1752600" cy="304800"/>
              <a:chOff x="4876800" y="1143000"/>
              <a:chExt cx="1752600" cy="304800"/>
            </a:xfrm>
          </p:grpSpPr>
          <p:sp>
            <p:nvSpPr>
              <p:cNvPr id="402" name="Rectangle 401"/>
              <p:cNvSpPr/>
              <p:nvPr/>
            </p:nvSpPr>
            <p:spPr>
              <a:xfrm>
                <a:off x="4874310" y="1159406"/>
                <a:ext cx="1752069" cy="763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3" name="Rectangle 402"/>
              <p:cNvSpPr/>
              <p:nvPr/>
            </p:nvSpPr>
            <p:spPr>
              <a:xfrm>
                <a:off x="4874310" y="1235798"/>
                <a:ext cx="1752069" cy="7639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4" name="Rectangle 403"/>
              <p:cNvSpPr/>
              <p:nvPr/>
            </p:nvSpPr>
            <p:spPr>
              <a:xfrm>
                <a:off x="4874310" y="1312191"/>
                <a:ext cx="1752069" cy="763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5" name="Rectangle 404"/>
              <p:cNvSpPr/>
              <p:nvPr/>
            </p:nvSpPr>
            <p:spPr>
              <a:xfrm>
                <a:off x="4874310" y="1388584"/>
                <a:ext cx="1752069" cy="7639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</p:grpSp>
        <p:grpSp>
          <p:nvGrpSpPr>
            <p:cNvPr id="59411" name="Group 80"/>
            <p:cNvGrpSpPr>
              <a:grpSpLocks/>
            </p:cNvGrpSpPr>
            <p:nvPr/>
          </p:nvGrpSpPr>
          <p:grpSpPr bwMode="auto">
            <a:xfrm>
              <a:off x="3581400" y="4876800"/>
              <a:ext cx="1752600" cy="304800"/>
              <a:chOff x="4876800" y="1143000"/>
              <a:chExt cx="1752600" cy="304800"/>
            </a:xfrm>
          </p:grpSpPr>
          <p:sp>
            <p:nvSpPr>
              <p:cNvPr id="398" name="Rectangle 397"/>
              <p:cNvSpPr/>
              <p:nvPr/>
            </p:nvSpPr>
            <p:spPr>
              <a:xfrm>
                <a:off x="4875809" y="1143899"/>
                <a:ext cx="1752903" cy="759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399" name="Rectangle 398"/>
              <p:cNvSpPr/>
              <p:nvPr/>
            </p:nvSpPr>
            <p:spPr>
              <a:xfrm>
                <a:off x="4875809" y="1219887"/>
                <a:ext cx="1752903" cy="75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0" name="Rectangle 399"/>
              <p:cNvSpPr/>
              <p:nvPr/>
            </p:nvSpPr>
            <p:spPr>
              <a:xfrm>
                <a:off x="4875809" y="1295875"/>
                <a:ext cx="1752903" cy="759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  <p:sp>
            <p:nvSpPr>
              <p:cNvPr id="401" name="Rectangle 400"/>
              <p:cNvSpPr/>
              <p:nvPr/>
            </p:nvSpPr>
            <p:spPr>
              <a:xfrm>
                <a:off x="4875809" y="1371863"/>
                <a:ext cx="1752903" cy="75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FFFFFF"/>
                  </a:solidFill>
                  <a:ea typeface="ＭＳ Ｐゴシック" pitchFamily="34" charset="-128"/>
                </a:endParaRPr>
              </a:p>
            </p:txBody>
          </p:sp>
        </p:grpSp>
        <p:sp>
          <p:nvSpPr>
            <p:cNvPr id="374" name="Rectangle 373"/>
            <p:cNvSpPr/>
            <p:nvPr/>
          </p:nvSpPr>
          <p:spPr>
            <a:xfrm rot="5400000">
              <a:off x="5030222" y="3809320"/>
              <a:ext cx="1752070" cy="763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5" name="Rectangle 374"/>
            <p:cNvSpPr/>
            <p:nvPr/>
          </p:nvSpPr>
          <p:spPr>
            <a:xfrm rot="5400000">
              <a:off x="4953830" y="3809320"/>
              <a:ext cx="1752070" cy="763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6" name="Rectangle 375"/>
            <p:cNvSpPr/>
            <p:nvPr/>
          </p:nvSpPr>
          <p:spPr>
            <a:xfrm rot="5400000">
              <a:off x="4877436" y="3809320"/>
              <a:ext cx="1752070" cy="763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7" name="Rectangle 376"/>
            <p:cNvSpPr/>
            <p:nvPr/>
          </p:nvSpPr>
          <p:spPr>
            <a:xfrm rot="5400000">
              <a:off x="4801044" y="3809320"/>
              <a:ext cx="1752070" cy="7639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8" name="Rectangle 377"/>
            <p:cNvSpPr/>
            <p:nvPr/>
          </p:nvSpPr>
          <p:spPr>
            <a:xfrm rot="3198033">
              <a:off x="2060570" y="2095244"/>
              <a:ext cx="894489" cy="7639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79" name="Rectangle 378"/>
            <p:cNvSpPr/>
            <p:nvPr/>
          </p:nvSpPr>
          <p:spPr>
            <a:xfrm rot="3198033">
              <a:off x="6023752" y="5524481"/>
              <a:ext cx="892319" cy="7639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cxnSp>
          <p:nvCxnSpPr>
            <p:cNvPr id="380" name="Straight Connector 379"/>
            <p:cNvCxnSpPr>
              <a:endCxn id="59472" idx="0"/>
            </p:cNvCxnSpPr>
            <p:nvPr/>
          </p:nvCxnSpPr>
          <p:spPr>
            <a:xfrm rot="16200000" flipH="1">
              <a:off x="2607857" y="2038817"/>
              <a:ext cx="762052" cy="350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/>
          </p:nvCxnSpPr>
          <p:spPr>
            <a:xfrm rot="5400000">
              <a:off x="3124704" y="1905295"/>
              <a:ext cx="607905" cy="4562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/>
          </p:nvCxnSpPr>
          <p:spPr>
            <a:xfrm>
              <a:off x="1905964" y="2667529"/>
              <a:ext cx="6090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>
              <a:endCxn id="59456" idx="0"/>
            </p:cNvCxnSpPr>
            <p:nvPr/>
          </p:nvCxnSpPr>
          <p:spPr>
            <a:xfrm>
              <a:off x="1905964" y="4877698"/>
              <a:ext cx="687534" cy="151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>
              <a:endCxn id="59454" idx="1"/>
            </p:cNvCxnSpPr>
            <p:nvPr/>
          </p:nvCxnSpPr>
          <p:spPr>
            <a:xfrm>
              <a:off x="2133078" y="4343610"/>
              <a:ext cx="600818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/>
            <p:cNvCxnSpPr>
              <a:endCxn id="59452" idx="3"/>
            </p:cNvCxnSpPr>
            <p:nvPr/>
          </p:nvCxnSpPr>
          <p:spPr>
            <a:xfrm flipV="1">
              <a:off x="2056684" y="5214218"/>
              <a:ext cx="679276" cy="4255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/>
            <p:cNvCxnSpPr/>
            <p:nvPr/>
          </p:nvCxnSpPr>
          <p:spPr>
            <a:xfrm rot="5400000" flipH="1" flipV="1">
              <a:off x="2476548" y="5525311"/>
              <a:ext cx="686064" cy="150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/>
            <p:cNvCxnSpPr/>
            <p:nvPr/>
          </p:nvCxnSpPr>
          <p:spPr>
            <a:xfrm rot="10800000">
              <a:off x="6324353" y="5029674"/>
              <a:ext cx="9146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/>
            <p:cNvCxnSpPr>
              <a:endCxn id="59444" idx="4"/>
            </p:cNvCxnSpPr>
            <p:nvPr/>
          </p:nvCxnSpPr>
          <p:spPr>
            <a:xfrm rot="16200000" flipV="1">
              <a:off x="5541749" y="5542658"/>
              <a:ext cx="762052" cy="1920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/>
            <p:cNvCxnSpPr/>
            <p:nvPr/>
          </p:nvCxnSpPr>
          <p:spPr>
            <a:xfrm rot="5400000" flipH="1" flipV="1">
              <a:off x="5219459" y="5524278"/>
              <a:ext cx="686064" cy="152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/>
            <p:cNvCxnSpPr/>
            <p:nvPr/>
          </p:nvCxnSpPr>
          <p:spPr>
            <a:xfrm rot="16200000" flipH="1">
              <a:off x="5351799" y="2038817"/>
              <a:ext cx="762052" cy="35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429" name="Group 100"/>
            <p:cNvGrpSpPr>
              <a:grpSpLocks/>
            </p:cNvGrpSpPr>
            <p:nvPr/>
          </p:nvGrpSpPr>
          <p:grpSpPr bwMode="auto">
            <a:xfrm>
              <a:off x="5715000" y="1295400"/>
              <a:ext cx="820738" cy="688975"/>
              <a:chOff x="-44" y="1473"/>
              <a:chExt cx="981" cy="1105"/>
            </a:xfrm>
          </p:grpSpPr>
          <p:pic>
            <p:nvPicPr>
              <p:cNvPr id="59434" name="Picture 10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435" name="Freeform 10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326 w 356"/>
                  <a:gd name="T3" fmla="*/ 131 h 368"/>
                  <a:gd name="T4" fmla="*/ 2759 w 356"/>
                  <a:gd name="T5" fmla="*/ 2727 h 368"/>
                  <a:gd name="T6" fmla="*/ 608 w 356"/>
                  <a:gd name="T7" fmla="*/ 342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</p:grpSp>
        <p:cxnSp>
          <p:nvCxnSpPr>
            <p:cNvPr id="392" name="Straight Connector 391"/>
            <p:cNvCxnSpPr/>
            <p:nvPr/>
          </p:nvCxnSpPr>
          <p:spPr>
            <a:xfrm rot="5400000">
              <a:off x="5944210" y="1828073"/>
              <a:ext cx="683893" cy="5347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ectangle 392"/>
            <p:cNvSpPr/>
            <p:nvPr/>
          </p:nvSpPr>
          <p:spPr>
            <a:xfrm rot="1015003">
              <a:off x="2715314" y="2550290"/>
              <a:ext cx="782508" cy="8033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94" name="Rectangle 393"/>
            <p:cNvSpPr/>
            <p:nvPr/>
          </p:nvSpPr>
          <p:spPr>
            <a:xfrm rot="2465437" flipV="1">
              <a:off x="5595525" y="4955857"/>
              <a:ext cx="679276" cy="7815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  <p:sp>
          <p:nvSpPr>
            <p:cNvPr id="395" name="Rectangle 394"/>
            <p:cNvSpPr/>
            <p:nvPr/>
          </p:nvSpPr>
          <p:spPr>
            <a:xfrm rot="2177866" flipV="1">
              <a:off x="5238338" y="2804308"/>
              <a:ext cx="497584" cy="955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FFFFFF"/>
                </a:solidFill>
                <a:ea typeface="ＭＳ Ｐゴシック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6055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US" dirty="0"/>
              <a:t>a) Between the switch in the upper left and the switch in the upper right we can have 4 connections. Similarly we can have four connections between each of the 3 other pairs of adjacent switches. Thus, this network can support up to 16 connections. </a:t>
            </a:r>
            <a:endParaRPr lang="en-US" b="1" dirty="0"/>
          </a:p>
          <a:p>
            <a:endParaRPr lang="en-US" dirty="0"/>
          </a:p>
          <a:p>
            <a:pPr lvl="0"/>
            <a:r>
              <a:rPr lang="en-US" dirty="0"/>
              <a:t>b) We can </a:t>
            </a:r>
            <a:r>
              <a:rPr lang="en-US" i="1" dirty="0"/>
              <a:t>4</a:t>
            </a:r>
            <a:r>
              <a:rPr lang="en-US" dirty="0"/>
              <a:t> connections passing through the switch in the upper-right-hand corner and another </a:t>
            </a:r>
            <a:r>
              <a:rPr lang="en-US" i="1" dirty="0"/>
              <a:t>4</a:t>
            </a:r>
            <a:r>
              <a:rPr lang="en-US" dirty="0"/>
              <a:t> connections passing through the switch in the lower-left-hand corner, giving a total of </a:t>
            </a:r>
            <a:r>
              <a:rPr lang="en-US" i="1" dirty="0"/>
              <a:t>8</a:t>
            </a:r>
            <a:r>
              <a:rPr lang="en-US" dirty="0"/>
              <a:t> connections. 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87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C) Yes. For the connections between A and C, we route two connections through B and two connections through D. For the connections between B and D, we route two connections through A and two connections through C. In this manner, there are at most 4 connections passing through any link. 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467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pic>
        <p:nvPicPr>
          <p:cNvPr id="60419" name="Picture 10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76041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4638" y="71438"/>
            <a:ext cx="8462962" cy="947737"/>
          </a:xfrm>
        </p:spPr>
        <p:txBody>
          <a:bodyPr/>
          <a:lstStyle/>
          <a:p>
            <a:pPr eaLnBrk="1" hangingPunct="1"/>
            <a:r>
              <a:rPr lang="en-US" altLang="en-US" sz="4000">
                <a:ea typeface="ＭＳ Ｐゴシック" pitchFamily="34" charset="-128"/>
              </a:rPr>
              <a:t>Circuit switching: FDM </a:t>
            </a:r>
            <a:r>
              <a:rPr lang="en-US" altLang="en-US" sz="3600">
                <a:ea typeface="ＭＳ Ｐゴシック" pitchFamily="34" charset="-128"/>
              </a:rPr>
              <a:t>versus</a:t>
            </a:r>
            <a:r>
              <a:rPr lang="en-US" altLang="en-US" sz="4000">
                <a:ea typeface="ＭＳ Ｐゴシック" pitchFamily="34" charset="-128"/>
              </a:rPr>
              <a:t> TDM</a:t>
            </a:r>
            <a:endParaRPr lang="fr-FR" altLang="en-US" sz="4000">
              <a:ea typeface="ＭＳ Ｐゴシック" pitchFamily="34" charset="-128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3700" y="1585913"/>
            <a:ext cx="7239000" cy="2438400"/>
            <a:chOff x="288" y="1007"/>
            <a:chExt cx="4560" cy="1536"/>
          </a:xfrm>
        </p:grpSpPr>
        <p:sp>
          <p:nvSpPr>
            <p:cNvPr id="60516" name="Text Box 4"/>
            <p:cNvSpPr txBox="1">
              <a:spLocks noChangeArrowheads="1"/>
            </p:cNvSpPr>
            <p:nvPr/>
          </p:nvSpPr>
          <p:spPr bwMode="auto">
            <a:xfrm>
              <a:off x="288" y="1007"/>
              <a:ext cx="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FDM</a:t>
              </a:r>
              <a:endParaRPr lang="fr-FR" altLang="en-US">
                <a:solidFill>
                  <a:srgbClr val="000000"/>
                </a:solidFill>
              </a:endParaRPr>
            </a:p>
          </p:txBody>
        </p:sp>
        <p:grpSp>
          <p:nvGrpSpPr>
            <p:cNvPr id="60517" name="Group 5"/>
            <p:cNvGrpSpPr>
              <a:grpSpLocks/>
            </p:cNvGrpSpPr>
            <p:nvPr/>
          </p:nvGrpSpPr>
          <p:grpSpPr bwMode="auto">
            <a:xfrm>
              <a:off x="720" y="1392"/>
              <a:ext cx="4128" cy="1151"/>
              <a:chOff x="720" y="1392"/>
              <a:chExt cx="4128" cy="1151"/>
            </a:xfrm>
          </p:grpSpPr>
          <p:sp>
            <p:nvSpPr>
              <p:cNvPr id="60518" name="Line 6"/>
              <p:cNvSpPr>
                <a:spLocks noChangeShapeType="1"/>
              </p:cNvSpPr>
              <p:nvPr/>
            </p:nvSpPr>
            <p:spPr bwMode="auto">
              <a:xfrm flipV="1">
                <a:off x="1728" y="1392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60519" name="Text Box 7"/>
              <p:cNvSpPr txBox="1">
                <a:spLocks noChangeArrowheads="1"/>
              </p:cNvSpPr>
              <p:nvPr/>
            </p:nvSpPr>
            <p:spPr bwMode="auto">
              <a:xfrm>
                <a:off x="720" y="1680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>
                    <a:solidFill>
                      <a:srgbClr val="000000"/>
                    </a:solidFill>
                  </a:rPr>
                  <a:t>frequency</a:t>
                </a:r>
                <a:endParaRPr lang="fr-FR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60520" name="Line 8"/>
              <p:cNvSpPr>
                <a:spLocks noChangeShapeType="1"/>
              </p:cNvSpPr>
              <p:nvPr/>
            </p:nvSpPr>
            <p:spPr bwMode="auto">
              <a:xfrm>
                <a:off x="1728" y="2208"/>
                <a:ext cx="3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charset="0"/>
                  <a:ea typeface="ＭＳ Ｐゴシック" pitchFamily="34" charset="-128"/>
                </a:endParaRPr>
              </a:p>
            </p:txBody>
          </p:sp>
          <p:sp>
            <p:nvSpPr>
              <p:cNvPr id="60521" name="Text Box 9"/>
              <p:cNvSpPr txBox="1">
                <a:spLocks noChangeArrowheads="1"/>
              </p:cNvSpPr>
              <p:nvPr/>
            </p:nvSpPr>
            <p:spPr bwMode="auto">
              <a:xfrm>
                <a:off x="3048" y="2255"/>
                <a:ext cx="4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>
                    <a:solidFill>
                      <a:srgbClr val="000000"/>
                    </a:solidFill>
                  </a:rPr>
                  <a:t>time</a:t>
                </a:r>
                <a:endParaRPr lang="fr-FR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60522" name="Rectangle 10"/>
              <p:cNvSpPr>
                <a:spLocks noChangeArrowheads="1"/>
              </p:cNvSpPr>
              <p:nvPr/>
            </p:nvSpPr>
            <p:spPr bwMode="auto">
              <a:xfrm>
                <a:off x="1776" y="1584"/>
                <a:ext cx="2880" cy="5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55307" name="Rectangle 11"/>
          <p:cNvSpPr>
            <a:spLocks noChangeArrowheads="1"/>
          </p:cNvSpPr>
          <p:nvPr/>
        </p:nvSpPr>
        <p:spPr bwMode="auto">
          <a:xfrm>
            <a:off x="2743200" y="2514600"/>
            <a:ext cx="4572000" cy="2286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2743200" y="2743200"/>
            <a:ext cx="4572000" cy="2286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2743200" y="2971800"/>
            <a:ext cx="4572000" cy="228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5310" name="Rectangle 14"/>
          <p:cNvSpPr>
            <a:spLocks noChangeArrowheads="1"/>
          </p:cNvSpPr>
          <p:nvPr/>
        </p:nvSpPr>
        <p:spPr bwMode="auto">
          <a:xfrm>
            <a:off x="2743200" y="3200400"/>
            <a:ext cx="4572000" cy="22860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81000" y="3748088"/>
            <a:ext cx="7239000" cy="2516187"/>
            <a:chOff x="288" y="2543"/>
            <a:chExt cx="4560" cy="1585"/>
          </a:xfrm>
        </p:grpSpPr>
        <p:sp>
          <p:nvSpPr>
            <p:cNvPr id="60510" name="Text Box 16"/>
            <p:cNvSpPr txBox="1">
              <a:spLocks noChangeArrowheads="1"/>
            </p:cNvSpPr>
            <p:nvPr/>
          </p:nvSpPr>
          <p:spPr bwMode="auto">
            <a:xfrm>
              <a:off x="288" y="2543"/>
              <a:ext cx="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TDM</a:t>
              </a:r>
              <a:endParaRPr lang="fr-FR" altLang="en-US">
                <a:solidFill>
                  <a:srgbClr val="000000"/>
                </a:solidFill>
              </a:endParaRPr>
            </a:p>
          </p:txBody>
        </p:sp>
        <p:sp>
          <p:nvSpPr>
            <p:cNvPr id="60511" name="Line 17"/>
            <p:cNvSpPr>
              <a:spLocks noChangeShapeType="1"/>
            </p:cNvSpPr>
            <p:nvPr/>
          </p:nvSpPr>
          <p:spPr bwMode="auto">
            <a:xfrm flipV="1">
              <a:off x="1728" y="2977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512" name="Text Box 18"/>
            <p:cNvSpPr txBox="1">
              <a:spLocks noChangeArrowheads="1"/>
            </p:cNvSpPr>
            <p:nvPr/>
          </p:nvSpPr>
          <p:spPr bwMode="auto">
            <a:xfrm>
              <a:off x="720" y="3265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frequency</a:t>
              </a:r>
              <a:endParaRPr lang="fr-FR" altLang="en-US">
                <a:solidFill>
                  <a:srgbClr val="000000"/>
                </a:solidFill>
              </a:endParaRPr>
            </a:p>
          </p:txBody>
        </p:sp>
        <p:sp>
          <p:nvSpPr>
            <p:cNvPr id="60513" name="Line 19"/>
            <p:cNvSpPr>
              <a:spLocks noChangeShapeType="1"/>
            </p:cNvSpPr>
            <p:nvPr/>
          </p:nvSpPr>
          <p:spPr bwMode="auto">
            <a:xfrm>
              <a:off x="1728" y="3793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514" name="Text Box 20"/>
            <p:cNvSpPr txBox="1">
              <a:spLocks noChangeArrowheads="1"/>
            </p:cNvSpPr>
            <p:nvPr/>
          </p:nvSpPr>
          <p:spPr bwMode="auto">
            <a:xfrm>
              <a:off x="3048" y="3840"/>
              <a:ext cx="4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time</a:t>
              </a:r>
              <a:endParaRPr lang="fr-FR" altLang="en-US">
                <a:solidFill>
                  <a:srgbClr val="000000"/>
                </a:solidFill>
              </a:endParaRPr>
            </a:p>
          </p:txBody>
        </p:sp>
        <p:sp>
          <p:nvSpPr>
            <p:cNvPr id="60515" name="Rectangle 21"/>
            <p:cNvSpPr>
              <a:spLocks noChangeArrowheads="1"/>
            </p:cNvSpPr>
            <p:nvPr/>
          </p:nvSpPr>
          <p:spPr bwMode="auto"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743200" y="4740275"/>
            <a:ext cx="3886200" cy="914400"/>
            <a:chOff x="1776" y="3168"/>
            <a:chExt cx="2448" cy="576"/>
          </a:xfrm>
        </p:grpSpPr>
        <p:sp>
          <p:nvSpPr>
            <p:cNvPr id="60505" name="Rectangle 23"/>
            <p:cNvSpPr>
              <a:spLocks noChangeArrowheads="1"/>
            </p:cNvSpPr>
            <p:nvPr/>
          </p:nvSpPr>
          <p:spPr bwMode="auto"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506" name="Rectangle 24"/>
            <p:cNvSpPr>
              <a:spLocks noChangeArrowheads="1"/>
            </p:cNvSpPr>
            <p:nvPr/>
          </p:nvSpPr>
          <p:spPr bwMode="auto"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507" name="Rectangle 25"/>
            <p:cNvSpPr>
              <a:spLocks noChangeArrowheads="1"/>
            </p:cNvSpPr>
            <p:nvPr/>
          </p:nvSpPr>
          <p:spPr bwMode="auto"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508" name="Rectangle 26"/>
            <p:cNvSpPr>
              <a:spLocks noChangeArrowheads="1"/>
            </p:cNvSpPr>
            <p:nvPr/>
          </p:nvSpPr>
          <p:spPr bwMode="auto"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509" name="Rectangle 27"/>
            <p:cNvSpPr>
              <a:spLocks noChangeArrowheads="1"/>
            </p:cNvSpPr>
            <p:nvPr/>
          </p:nvSpPr>
          <p:spPr bwMode="auto"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971800" y="4740275"/>
            <a:ext cx="3886200" cy="914400"/>
            <a:chOff x="1920" y="3168"/>
            <a:chExt cx="2448" cy="576"/>
          </a:xfrm>
        </p:grpSpPr>
        <p:sp>
          <p:nvSpPr>
            <p:cNvPr id="60500" name="Rectangle 29"/>
            <p:cNvSpPr>
              <a:spLocks noChangeArrowheads="1"/>
            </p:cNvSpPr>
            <p:nvPr/>
          </p:nvSpPr>
          <p:spPr bwMode="auto"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501" name="Rectangle 30"/>
            <p:cNvSpPr>
              <a:spLocks noChangeArrowheads="1"/>
            </p:cNvSpPr>
            <p:nvPr/>
          </p:nvSpPr>
          <p:spPr bwMode="auto"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502" name="Rectangle 31"/>
            <p:cNvSpPr>
              <a:spLocks noChangeArrowheads="1"/>
            </p:cNvSpPr>
            <p:nvPr/>
          </p:nvSpPr>
          <p:spPr bwMode="auto"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503" name="Rectangle 32"/>
            <p:cNvSpPr>
              <a:spLocks noChangeArrowheads="1"/>
            </p:cNvSpPr>
            <p:nvPr/>
          </p:nvSpPr>
          <p:spPr bwMode="auto"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504" name="Rectangle 33"/>
            <p:cNvSpPr>
              <a:spLocks noChangeArrowheads="1"/>
            </p:cNvSpPr>
            <p:nvPr/>
          </p:nvSpPr>
          <p:spPr bwMode="auto"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200400" y="4740275"/>
            <a:ext cx="3886200" cy="914400"/>
            <a:chOff x="2064" y="3168"/>
            <a:chExt cx="2448" cy="576"/>
          </a:xfrm>
        </p:grpSpPr>
        <p:sp>
          <p:nvSpPr>
            <p:cNvPr id="60495" name="Rectangle 35"/>
            <p:cNvSpPr>
              <a:spLocks noChangeArrowheads="1"/>
            </p:cNvSpPr>
            <p:nvPr/>
          </p:nvSpPr>
          <p:spPr bwMode="auto"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496" name="Rectangle 36"/>
            <p:cNvSpPr>
              <a:spLocks noChangeArrowheads="1"/>
            </p:cNvSpPr>
            <p:nvPr/>
          </p:nvSpPr>
          <p:spPr bwMode="auto"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497" name="Rectangle 37"/>
            <p:cNvSpPr>
              <a:spLocks noChangeArrowheads="1"/>
            </p:cNvSpPr>
            <p:nvPr/>
          </p:nvSpPr>
          <p:spPr bwMode="auto"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498" name="Rectangle 38"/>
            <p:cNvSpPr>
              <a:spLocks noChangeArrowheads="1"/>
            </p:cNvSpPr>
            <p:nvPr/>
          </p:nvSpPr>
          <p:spPr bwMode="auto"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499" name="Rectangle 39"/>
            <p:cNvSpPr>
              <a:spLocks noChangeArrowheads="1"/>
            </p:cNvSpPr>
            <p:nvPr/>
          </p:nvSpPr>
          <p:spPr bwMode="auto"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3429000" y="4740275"/>
            <a:ext cx="3886200" cy="914400"/>
            <a:chOff x="2208" y="3168"/>
            <a:chExt cx="2448" cy="576"/>
          </a:xfrm>
        </p:grpSpPr>
        <p:sp>
          <p:nvSpPr>
            <p:cNvPr id="60490" name="Rectangle 41"/>
            <p:cNvSpPr>
              <a:spLocks noChangeArrowheads="1"/>
            </p:cNvSpPr>
            <p:nvPr/>
          </p:nvSpPr>
          <p:spPr bwMode="auto"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491" name="Rectangle 42"/>
            <p:cNvSpPr>
              <a:spLocks noChangeArrowheads="1"/>
            </p:cNvSpPr>
            <p:nvPr/>
          </p:nvSpPr>
          <p:spPr bwMode="auto"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492" name="Rectangle 43"/>
            <p:cNvSpPr>
              <a:spLocks noChangeArrowheads="1"/>
            </p:cNvSpPr>
            <p:nvPr/>
          </p:nvSpPr>
          <p:spPr bwMode="auto"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493" name="Rectangle 44"/>
            <p:cNvSpPr>
              <a:spLocks noChangeArrowheads="1"/>
            </p:cNvSpPr>
            <p:nvPr/>
          </p:nvSpPr>
          <p:spPr bwMode="auto"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0494" name="Rectangle 45"/>
            <p:cNvSpPr>
              <a:spLocks noChangeArrowheads="1"/>
            </p:cNvSpPr>
            <p:nvPr/>
          </p:nvSpPr>
          <p:spPr bwMode="auto"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2743200" y="2743200"/>
            <a:ext cx="4572000" cy="457200"/>
            <a:chOff x="1776" y="1728"/>
            <a:chExt cx="2880" cy="288"/>
          </a:xfrm>
        </p:grpSpPr>
        <p:sp>
          <p:nvSpPr>
            <p:cNvPr id="60487" name="Line 47"/>
            <p:cNvSpPr>
              <a:spLocks noChangeShapeType="1"/>
            </p:cNvSpPr>
            <p:nvPr/>
          </p:nvSpPr>
          <p:spPr bwMode="auto">
            <a:xfrm flipV="1">
              <a:off x="1776" y="172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88" name="Line 48"/>
            <p:cNvSpPr>
              <a:spLocks noChangeShapeType="1"/>
            </p:cNvSpPr>
            <p:nvPr/>
          </p:nvSpPr>
          <p:spPr bwMode="auto">
            <a:xfrm flipV="1">
              <a:off x="1776" y="187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89" name="Line 49"/>
            <p:cNvSpPr>
              <a:spLocks noChangeShapeType="1"/>
            </p:cNvSpPr>
            <p:nvPr/>
          </p:nvSpPr>
          <p:spPr bwMode="auto">
            <a:xfrm flipV="1">
              <a:off x="1776" y="201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2971800" y="4740275"/>
            <a:ext cx="4114800" cy="914400"/>
            <a:chOff x="1920" y="3168"/>
            <a:chExt cx="2592" cy="576"/>
          </a:xfrm>
        </p:grpSpPr>
        <p:sp>
          <p:nvSpPr>
            <p:cNvPr id="60468" name="Line 51"/>
            <p:cNvSpPr>
              <a:spLocks noChangeShapeType="1"/>
            </p:cNvSpPr>
            <p:nvPr/>
          </p:nvSpPr>
          <p:spPr bwMode="auto">
            <a:xfrm>
              <a:off x="19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69" name="Line 52"/>
            <p:cNvSpPr>
              <a:spLocks noChangeShapeType="1"/>
            </p:cNvSpPr>
            <p:nvPr/>
          </p:nvSpPr>
          <p:spPr bwMode="auto">
            <a:xfrm>
              <a:off x="20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0" name="Line 53"/>
            <p:cNvSpPr>
              <a:spLocks noChangeShapeType="1"/>
            </p:cNvSpPr>
            <p:nvPr/>
          </p:nvSpPr>
          <p:spPr bwMode="auto">
            <a:xfrm>
              <a:off x="22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1" name="Line 54"/>
            <p:cNvSpPr>
              <a:spLocks noChangeShapeType="1"/>
            </p:cNvSpPr>
            <p:nvPr/>
          </p:nvSpPr>
          <p:spPr bwMode="auto">
            <a:xfrm>
              <a:off x="23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2" name="Line 55"/>
            <p:cNvSpPr>
              <a:spLocks noChangeShapeType="1"/>
            </p:cNvSpPr>
            <p:nvPr/>
          </p:nvSpPr>
          <p:spPr bwMode="auto">
            <a:xfrm>
              <a:off x="24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3" name="Line 56"/>
            <p:cNvSpPr>
              <a:spLocks noChangeShapeType="1"/>
            </p:cNvSpPr>
            <p:nvPr/>
          </p:nvSpPr>
          <p:spPr bwMode="auto">
            <a:xfrm>
              <a:off x="26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4" name="Line 57"/>
            <p:cNvSpPr>
              <a:spLocks noChangeShapeType="1"/>
            </p:cNvSpPr>
            <p:nvPr/>
          </p:nvSpPr>
          <p:spPr bwMode="auto">
            <a:xfrm>
              <a:off x="27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5" name="Line 58"/>
            <p:cNvSpPr>
              <a:spLocks noChangeShapeType="1"/>
            </p:cNvSpPr>
            <p:nvPr/>
          </p:nvSpPr>
          <p:spPr bwMode="auto">
            <a:xfrm>
              <a:off x="292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6" name="Line 59"/>
            <p:cNvSpPr>
              <a:spLocks noChangeShapeType="1"/>
            </p:cNvSpPr>
            <p:nvPr/>
          </p:nvSpPr>
          <p:spPr bwMode="auto">
            <a:xfrm>
              <a:off x="307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7" name="Line 60"/>
            <p:cNvSpPr>
              <a:spLocks noChangeShapeType="1"/>
            </p:cNvSpPr>
            <p:nvPr/>
          </p:nvSpPr>
          <p:spPr bwMode="auto">
            <a:xfrm>
              <a:off x="321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8" name="Line 61"/>
            <p:cNvSpPr>
              <a:spLocks noChangeShapeType="1"/>
            </p:cNvSpPr>
            <p:nvPr/>
          </p:nvSpPr>
          <p:spPr bwMode="auto">
            <a:xfrm>
              <a:off x="336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79" name="Line 62"/>
            <p:cNvSpPr>
              <a:spLocks noChangeShapeType="1"/>
            </p:cNvSpPr>
            <p:nvPr/>
          </p:nvSpPr>
          <p:spPr bwMode="auto">
            <a:xfrm>
              <a:off x="350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80" name="Line 63"/>
            <p:cNvSpPr>
              <a:spLocks noChangeShapeType="1"/>
            </p:cNvSpPr>
            <p:nvPr/>
          </p:nvSpPr>
          <p:spPr bwMode="auto">
            <a:xfrm>
              <a:off x="36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81" name="Line 64"/>
            <p:cNvSpPr>
              <a:spLocks noChangeShapeType="1"/>
            </p:cNvSpPr>
            <p:nvPr/>
          </p:nvSpPr>
          <p:spPr bwMode="auto">
            <a:xfrm>
              <a:off x="37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82" name="Line 65"/>
            <p:cNvSpPr>
              <a:spLocks noChangeShapeType="1"/>
            </p:cNvSpPr>
            <p:nvPr/>
          </p:nvSpPr>
          <p:spPr bwMode="auto">
            <a:xfrm>
              <a:off x="39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83" name="Line 66"/>
            <p:cNvSpPr>
              <a:spLocks noChangeShapeType="1"/>
            </p:cNvSpPr>
            <p:nvPr/>
          </p:nvSpPr>
          <p:spPr bwMode="auto">
            <a:xfrm>
              <a:off x="40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84" name="Line 67"/>
            <p:cNvSpPr>
              <a:spLocks noChangeShapeType="1"/>
            </p:cNvSpPr>
            <p:nvPr/>
          </p:nvSpPr>
          <p:spPr bwMode="auto">
            <a:xfrm>
              <a:off x="42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85" name="Line 68"/>
            <p:cNvSpPr>
              <a:spLocks noChangeShapeType="1"/>
            </p:cNvSpPr>
            <p:nvPr/>
          </p:nvSpPr>
          <p:spPr bwMode="auto">
            <a:xfrm>
              <a:off x="43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86" name="Line 69"/>
            <p:cNvSpPr>
              <a:spLocks noChangeShapeType="1"/>
            </p:cNvSpPr>
            <p:nvPr/>
          </p:nvSpPr>
          <p:spPr bwMode="auto">
            <a:xfrm>
              <a:off x="45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2743200" y="2628900"/>
            <a:ext cx="4572000" cy="685800"/>
            <a:chOff x="1776" y="1656"/>
            <a:chExt cx="2880" cy="432"/>
          </a:xfrm>
        </p:grpSpPr>
        <p:sp>
          <p:nvSpPr>
            <p:cNvPr id="60464" name="Line 71"/>
            <p:cNvSpPr>
              <a:spLocks noChangeShapeType="1"/>
            </p:cNvSpPr>
            <p:nvPr/>
          </p:nvSpPr>
          <p:spPr bwMode="auto">
            <a:xfrm>
              <a:off x="1776" y="165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65" name="Line 72"/>
            <p:cNvSpPr>
              <a:spLocks noChangeShapeType="1"/>
            </p:cNvSpPr>
            <p:nvPr/>
          </p:nvSpPr>
          <p:spPr bwMode="auto">
            <a:xfrm>
              <a:off x="1776" y="1800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66" name="Line 73"/>
            <p:cNvSpPr>
              <a:spLocks noChangeShapeType="1"/>
            </p:cNvSpPr>
            <p:nvPr/>
          </p:nvSpPr>
          <p:spPr bwMode="auto">
            <a:xfrm>
              <a:off x="1776" y="194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67" name="Line 74"/>
            <p:cNvSpPr>
              <a:spLocks noChangeShapeType="1"/>
            </p:cNvSpPr>
            <p:nvPr/>
          </p:nvSpPr>
          <p:spPr bwMode="auto">
            <a:xfrm>
              <a:off x="1776" y="208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12" name="Group 75"/>
          <p:cNvGrpSpPr>
            <a:grpSpLocks/>
          </p:cNvGrpSpPr>
          <p:nvPr/>
        </p:nvGrpSpPr>
        <p:grpSpPr bwMode="auto">
          <a:xfrm>
            <a:off x="2857500" y="4740275"/>
            <a:ext cx="4343400" cy="914400"/>
            <a:chOff x="1848" y="3168"/>
            <a:chExt cx="2736" cy="576"/>
          </a:xfrm>
        </p:grpSpPr>
        <p:sp>
          <p:nvSpPr>
            <p:cNvPr id="60444" name="Line 76"/>
            <p:cNvSpPr>
              <a:spLocks noChangeShapeType="1"/>
            </p:cNvSpPr>
            <p:nvPr/>
          </p:nvSpPr>
          <p:spPr bwMode="auto">
            <a:xfrm>
              <a:off x="18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45" name="Line 77"/>
            <p:cNvSpPr>
              <a:spLocks noChangeShapeType="1"/>
            </p:cNvSpPr>
            <p:nvPr/>
          </p:nvSpPr>
          <p:spPr bwMode="auto">
            <a:xfrm>
              <a:off x="19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46" name="Line 78"/>
            <p:cNvSpPr>
              <a:spLocks noChangeShapeType="1"/>
            </p:cNvSpPr>
            <p:nvPr/>
          </p:nvSpPr>
          <p:spPr bwMode="auto">
            <a:xfrm>
              <a:off x="21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47" name="Line 79"/>
            <p:cNvSpPr>
              <a:spLocks noChangeShapeType="1"/>
            </p:cNvSpPr>
            <p:nvPr/>
          </p:nvSpPr>
          <p:spPr bwMode="auto">
            <a:xfrm>
              <a:off x="22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48" name="Line 80"/>
            <p:cNvSpPr>
              <a:spLocks noChangeShapeType="1"/>
            </p:cNvSpPr>
            <p:nvPr/>
          </p:nvSpPr>
          <p:spPr bwMode="auto">
            <a:xfrm>
              <a:off x="24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49" name="Line 81"/>
            <p:cNvSpPr>
              <a:spLocks noChangeShapeType="1"/>
            </p:cNvSpPr>
            <p:nvPr/>
          </p:nvSpPr>
          <p:spPr bwMode="auto">
            <a:xfrm>
              <a:off x="25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0" name="Line 82"/>
            <p:cNvSpPr>
              <a:spLocks noChangeShapeType="1"/>
            </p:cNvSpPr>
            <p:nvPr/>
          </p:nvSpPr>
          <p:spPr bwMode="auto">
            <a:xfrm>
              <a:off x="27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1" name="Line 83"/>
            <p:cNvSpPr>
              <a:spLocks noChangeShapeType="1"/>
            </p:cNvSpPr>
            <p:nvPr/>
          </p:nvSpPr>
          <p:spPr bwMode="auto">
            <a:xfrm>
              <a:off x="285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2" name="Line 84"/>
            <p:cNvSpPr>
              <a:spLocks noChangeShapeType="1"/>
            </p:cNvSpPr>
            <p:nvPr/>
          </p:nvSpPr>
          <p:spPr bwMode="auto">
            <a:xfrm>
              <a:off x="300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3" name="Line 85"/>
            <p:cNvSpPr>
              <a:spLocks noChangeShapeType="1"/>
            </p:cNvSpPr>
            <p:nvPr/>
          </p:nvSpPr>
          <p:spPr bwMode="auto">
            <a:xfrm>
              <a:off x="314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4" name="Line 86"/>
            <p:cNvSpPr>
              <a:spLocks noChangeShapeType="1"/>
            </p:cNvSpPr>
            <p:nvPr/>
          </p:nvSpPr>
          <p:spPr bwMode="auto">
            <a:xfrm>
              <a:off x="328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5" name="Line 87"/>
            <p:cNvSpPr>
              <a:spLocks noChangeShapeType="1"/>
            </p:cNvSpPr>
            <p:nvPr/>
          </p:nvSpPr>
          <p:spPr bwMode="auto">
            <a:xfrm>
              <a:off x="343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6" name="Line 88"/>
            <p:cNvSpPr>
              <a:spLocks noChangeShapeType="1"/>
            </p:cNvSpPr>
            <p:nvPr/>
          </p:nvSpPr>
          <p:spPr bwMode="auto">
            <a:xfrm>
              <a:off x="357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7" name="Line 89"/>
            <p:cNvSpPr>
              <a:spLocks noChangeShapeType="1"/>
            </p:cNvSpPr>
            <p:nvPr/>
          </p:nvSpPr>
          <p:spPr bwMode="auto">
            <a:xfrm>
              <a:off x="37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8" name="Line 90"/>
            <p:cNvSpPr>
              <a:spLocks noChangeShapeType="1"/>
            </p:cNvSpPr>
            <p:nvPr/>
          </p:nvSpPr>
          <p:spPr bwMode="auto">
            <a:xfrm>
              <a:off x="38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59" name="Line 91"/>
            <p:cNvSpPr>
              <a:spLocks noChangeShapeType="1"/>
            </p:cNvSpPr>
            <p:nvPr/>
          </p:nvSpPr>
          <p:spPr bwMode="auto">
            <a:xfrm>
              <a:off x="40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60" name="Line 92"/>
            <p:cNvSpPr>
              <a:spLocks noChangeShapeType="1"/>
            </p:cNvSpPr>
            <p:nvPr/>
          </p:nvSpPr>
          <p:spPr bwMode="auto">
            <a:xfrm>
              <a:off x="41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61" name="Line 93"/>
            <p:cNvSpPr>
              <a:spLocks noChangeShapeType="1"/>
            </p:cNvSpPr>
            <p:nvPr/>
          </p:nvSpPr>
          <p:spPr bwMode="auto">
            <a:xfrm>
              <a:off x="42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62" name="Line 94"/>
            <p:cNvSpPr>
              <a:spLocks noChangeShapeType="1"/>
            </p:cNvSpPr>
            <p:nvPr/>
          </p:nvSpPr>
          <p:spPr bwMode="auto">
            <a:xfrm>
              <a:off x="44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  <p:sp>
          <p:nvSpPr>
            <p:cNvPr id="60463" name="Line 95"/>
            <p:cNvSpPr>
              <a:spLocks noChangeShapeType="1"/>
            </p:cNvSpPr>
            <p:nvPr/>
          </p:nvSpPr>
          <p:spPr bwMode="auto">
            <a:xfrm>
              <a:off x="45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endParaRPr>
            </a:p>
          </p:txBody>
        </p:sp>
      </p:grpSp>
      <p:grpSp>
        <p:nvGrpSpPr>
          <p:cNvPr id="13" name="Group 99"/>
          <p:cNvGrpSpPr>
            <a:grpSpLocks/>
          </p:cNvGrpSpPr>
          <p:nvPr/>
        </p:nvGrpSpPr>
        <p:grpSpPr bwMode="auto">
          <a:xfrm>
            <a:off x="5368925" y="1257300"/>
            <a:ext cx="2709863" cy="952500"/>
            <a:chOff x="3477" y="216"/>
            <a:chExt cx="1707" cy="600"/>
          </a:xfrm>
        </p:grpSpPr>
        <p:grpSp>
          <p:nvGrpSpPr>
            <p:cNvPr id="60437" name="Group 100"/>
            <p:cNvGrpSpPr>
              <a:grpSpLocks/>
            </p:cNvGrpSpPr>
            <p:nvPr/>
          </p:nvGrpSpPr>
          <p:grpSpPr bwMode="auto">
            <a:xfrm>
              <a:off x="3477" y="528"/>
              <a:ext cx="1707" cy="288"/>
              <a:chOff x="3477" y="288"/>
              <a:chExt cx="1707" cy="288"/>
            </a:xfrm>
          </p:grpSpPr>
          <p:sp>
            <p:nvSpPr>
              <p:cNvPr id="60439" name="Text Box 101"/>
              <p:cNvSpPr txBox="1">
                <a:spLocks noChangeArrowheads="1"/>
              </p:cNvSpPr>
              <p:nvPr/>
            </p:nvSpPr>
            <p:spPr bwMode="auto">
              <a:xfrm>
                <a:off x="3477" y="288"/>
                <a:ext cx="7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>
                    <a:solidFill>
                      <a:srgbClr val="000000"/>
                    </a:solidFill>
                  </a:rPr>
                  <a:t>4 users</a:t>
                </a:r>
                <a:endParaRPr lang="fr-FR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60440" name="Rectangle 102"/>
              <p:cNvSpPr>
                <a:spLocks noChangeArrowheads="1"/>
              </p:cNvSpPr>
              <p:nvPr/>
            </p:nvSpPr>
            <p:spPr bwMode="auto">
              <a:xfrm>
                <a:off x="4464" y="352"/>
                <a:ext cx="144" cy="144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0441" name="Rectangle 103"/>
              <p:cNvSpPr>
                <a:spLocks noChangeArrowheads="1"/>
              </p:cNvSpPr>
              <p:nvPr/>
            </p:nvSpPr>
            <p:spPr bwMode="auto">
              <a:xfrm>
                <a:off x="4656" y="352"/>
                <a:ext cx="144" cy="144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0442" name="Rectangle 104"/>
              <p:cNvSpPr>
                <a:spLocks noChangeArrowheads="1"/>
              </p:cNvSpPr>
              <p:nvPr/>
            </p:nvSpPr>
            <p:spPr bwMode="auto">
              <a:xfrm>
                <a:off x="4848" y="352"/>
                <a:ext cx="144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0443" name="Rectangle 105"/>
              <p:cNvSpPr>
                <a:spLocks noChangeArrowheads="1"/>
              </p:cNvSpPr>
              <p:nvPr/>
            </p:nvSpPr>
            <p:spPr bwMode="auto">
              <a:xfrm>
                <a:off x="5040" y="352"/>
                <a:ext cx="144" cy="144"/>
              </a:xfrm>
              <a:prstGeom prst="rect">
                <a:avLst/>
              </a:prstGeom>
              <a:solidFill>
                <a:srgbClr val="FF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60438" name="Text Box 106"/>
            <p:cNvSpPr txBox="1">
              <a:spLocks noChangeArrowheads="1"/>
            </p:cNvSpPr>
            <p:nvPr/>
          </p:nvSpPr>
          <p:spPr bwMode="auto">
            <a:xfrm>
              <a:off x="3480" y="216"/>
              <a:ext cx="9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</a:rPr>
                <a:t>Example:</a:t>
              </a:r>
              <a:endParaRPr lang="fr-FR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60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Tahoma" pitchFamily="34" charset="0"/>
              </a:rPr>
              <a:t>1-</a:t>
            </a:r>
            <a:fld id="{9DA0E3FD-A77A-4530-AF2D-C53F777C0020}" type="slidenum">
              <a:rPr lang="en-US" alt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8</a:t>
            </a:fld>
            <a:endParaRPr lang="en-US" altLang="en-US" sz="1200">
              <a:solidFill>
                <a:srgbClr val="00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10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7" grpId="0" animBg="1"/>
      <p:bldP spid="55308" grpId="0" animBg="1"/>
      <p:bldP spid="55309" grpId="0" animBg="1"/>
      <p:bldP spid="553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circuit has a transmission rate of (1.536 Mbps)/12 = 128 kbps, so it takes (160,000 bits)/(128 kbps) = 1.25 seconds to transmit the file. To this, we add the circuit establishment time of 0.6 seconds, giving a total of 1.85 seconds to send the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34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a) 3Mbps/150 kbps = 20 users can be supported.</a:t>
            </a:r>
            <a:endParaRPr lang="en-US" b="1" dirty="0"/>
          </a:p>
          <a:p>
            <a:r>
              <a:rPr lang="en-US" dirty="0"/>
              <a:t>b) p = 0.1</a:t>
            </a:r>
          </a:p>
          <a:p>
            <a:endParaRPr lang="en-US" dirty="0"/>
          </a:p>
          <a:p>
            <a:r>
              <a:rPr lang="en-US" dirty="0"/>
              <a:t>c) </a:t>
            </a:r>
          </a:p>
          <a:p>
            <a:endParaRPr lang="en-US" dirty="0"/>
          </a:p>
          <a:p>
            <a:r>
              <a:rPr lang="en-US" dirty="0"/>
              <a:t>Binomial distribution B(</a:t>
            </a:r>
            <a:r>
              <a:rPr lang="en-US" i="1" dirty="0"/>
              <a:t>N, p</a:t>
            </a:r>
            <a:r>
              <a:rPr lang="en-US" dirty="0"/>
              <a:t>): assume the success probability of an independent trial is p, then</a:t>
            </a:r>
            <a:br>
              <a:rPr lang="en-US" dirty="0"/>
            </a:br>
            <a:r>
              <a:rPr lang="en-US" dirty="0"/>
              <a:t>the probability of getting exactly </a:t>
            </a:r>
            <a:r>
              <a:rPr lang="en-US" i="1" dirty="0"/>
              <a:t>n</a:t>
            </a:r>
            <a:r>
              <a:rPr lang="en-US" dirty="0"/>
              <a:t> successes in </a:t>
            </a:r>
            <a:r>
              <a:rPr lang="en-US" i="1" dirty="0"/>
              <a:t>N</a:t>
            </a:r>
            <a:r>
              <a:rPr lang="en-US" dirty="0"/>
              <a:t> trials is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538690"/>
              </p:ext>
            </p:extLst>
          </p:nvPr>
        </p:nvGraphicFramePr>
        <p:xfrm>
          <a:off x="1447800" y="2819400"/>
          <a:ext cx="2781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457200" progId="Equation.3">
                  <p:embed/>
                </p:oleObj>
              </mc:Choice>
              <mc:Fallback>
                <p:oleObj name="Equation" r:id="rId2" imgW="11938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819400"/>
                        <a:ext cx="278130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179489"/>
              </p:ext>
            </p:extLst>
          </p:nvPr>
        </p:nvGraphicFramePr>
        <p:xfrm>
          <a:off x="3359150" y="5486400"/>
          <a:ext cx="2425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457200" progId="Equation.3">
                  <p:embed/>
                </p:oleObj>
              </mc:Choice>
              <mc:Fallback>
                <p:oleObj name="Equation" r:id="rId4" imgW="104112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5486400"/>
                        <a:ext cx="2425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768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3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4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5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727</Words>
  <Application>Microsoft Office PowerPoint</Application>
  <PresentationFormat>如螢幕大小 (4:3)</PresentationFormat>
  <Paragraphs>77</Paragraphs>
  <Slides>10</Slides>
  <Notes>4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5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23" baseType="lpstr">
      <vt:lpstr>Arial</vt:lpstr>
      <vt:lpstr>Calibri</vt:lpstr>
      <vt:lpstr>Comic Sans MS</vt:lpstr>
      <vt:lpstr>Gill Sans MT</vt:lpstr>
      <vt:lpstr>Tahoma</vt:lpstr>
      <vt:lpstr>Times New Roman</vt:lpstr>
      <vt:lpstr>Wingdings</vt:lpstr>
      <vt:lpstr>Office Theme</vt:lpstr>
      <vt:lpstr>12_Default Design</vt:lpstr>
      <vt:lpstr>13_Default Design</vt:lpstr>
      <vt:lpstr>14_Default Design</vt:lpstr>
      <vt:lpstr>15_Default Design</vt:lpstr>
      <vt:lpstr>Equation</vt:lpstr>
      <vt:lpstr>The network core</vt:lpstr>
      <vt:lpstr>Packet-switching: store-and-forward</vt:lpstr>
      <vt:lpstr>Q1</vt:lpstr>
      <vt:lpstr>Q1</vt:lpstr>
      <vt:lpstr>Alternative core: circuit switching</vt:lpstr>
      <vt:lpstr>Q2</vt:lpstr>
      <vt:lpstr>Q2</vt:lpstr>
      <vt:lpstr>Circuit switching: FDM versus TDM</vt:lpstr>
      <vt:lpstr>Q3</vt:lpstr>
      <vt:lpstr>Q4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WANG Cong</dc:creator>
  <cp:lastModifiedBy>Dr. CHEUNG Man Hon Michael</cp:lastModifiedBy>
  <cp:revision>63</cp:revision>
  <dcterms:created xsi:type="dcterms:W3CDTF">2006-08-16T00:00:00Z</dcterms:created>
  <dcterms:modified xsi:type="dcterms:W3CDTF">2021-08-31T00:47:25Z</dcterms:modified>
</cp:coreProperties>
</file>